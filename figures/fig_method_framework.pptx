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16736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137160" y="137160"/>
            <a:ext cx="3474720" cy="3977640"/>
            <a:chOff x="137160" y="137160"/>
            <a:chExt cx="3474720" cy="3977640"/>
          </a:xfrm>
        </p:grpSpPr>
        <p:sp>
          <p:nvSpPr>
            <p:cNvPr id="3" name="Rounded Rectangle 2"/>
            <p:cNvSpPr/>
            <p:nvPr/>
          </p:nvSpPr>
          <p:spPr>
            <a:xfrm>
              <a:off x="137160" y="137160"/>
              <a:ext cx="3474720" cy="3977640"/>
            </a:xfrm>
            <a:prstGeom prst="roundRect">
              <a:avLst>
                <a:gd name="adj" fmla="val 2105"/>
              </a:avLst>
            </a:prstGeom>
            <a:solidFill>
              <a:srgbClr val="F6F6F6"/>
            </a:solidFill>
            <a:ln w="12700">
              <a:solidFill>
                <a:srgbClr val="A6A6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274320" y="201168"/>
              <a:ext cx="3200400" cy="2743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50" b="1" i="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Digital twin &amp; multi-entity data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265176" y="521208"/>
              <a:ext cx="3218688" cy="1852664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6" name="Picture 5" descr="factory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4320" y="530352"/>
              <a:ext cx="3200400" cy="1834376"/>
            </a:xfrm>
            <a:prstGeom prst="rect">
              <a:avLst/>
            </a:prstGeom>
          </p:spPr>
        </p:pic>
        <p:sp>
          <p:nvSpPr>
            <p:cNvPr id="7" name="Rounded Rectangle 6"/>
            <p:cNvSpPr/>
            <p:nvPr/>
          </p:nvSpPr>
          <p:spPr>
            <a:xfrm>
              <a:off x="2395728" y="603504"/>
              <a:ext cx="1005840" cy="228600"/>
            </a:xfrm>
            <a:prstGeom prst="roundRect">
              <a:avLst>
                <a:gd name="adj" fmla="val 48000"/>
              </a:avLst>
            </a:prstGeom>
            <a:solidFill>
              <a:srgbClr val="3D6EB4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395728" y="603504"/>
              <a:ext cx="1005840" cy="2286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00" b="1" i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Contribution 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74320" y="2395728"/>
              <a:ext cx="3200400" cy="20116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5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Isaac Sim line  ·  single-axis disturbances</a:t>
              </a:r>
            </a:p>
          </p:txBody>
        </p:sp>
        <p:pic>
          <p:nvPicPr>
            <p:cNvPr id="10" name="Picture 9" descr="icon_human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9768" y="2697480"/>
              <a:ext cx="457200" cy="457200"/>
            </a:xfrm>
            <a:prstGeom prst="rect">
              <a:avLst/>
            </a:prstGeom>
          </p:spPr>
        </p:pic>
        <p:sp>
          <p:nvSpPr>
            <p:cNvPr id="11" name="Freeform 10"/>
            <p:cNvSpPr/>
            <p:nvPr/>
          </p:nvSpPr>
          <p:spPr>
            <a:xfrm>
              <a:off x="841248" y="2697480"/>
              <a:ext cx="124358" cy="186538"/>
            </a:xfrm>
            <a:custGeom>
              <a:avLst/>
              <a:gdLst/>
              <a:ahLst/>
              <a:cxnLst/>
              <a:rect l="l" t="t" r="r" b="b"/>
              <a:pathLst>
                <a:path w="124358" h="186538">
                  <a:moveTo>
                    <a:pt x="23317" y="0"/>
                  </a:moveTo>
                  <a:lnTo>
                    <a:pt x="116586" y="0"/>
                  </a:lnTo>
                  <a:lnTo>
                    <a:pt x="69952" y="69952"/>
                  </a:lnTo>
                  <a:lnTo>
                    <a:pt x="124358" y="69952"/>
                  </a:lnTo>
                  <a:lnTo>
                    <a:pt x="15545" y="186538"/>
                  </a:lnTo>
                  <a:lnTo>
                    <a:pt x="54407" y="93269"/>
                  </a:lnTo>
                  <a:lnTo>
                    <a:pt x="0" y="93269"/>
                  </a:lnTo>
                  <a:close/>
                </a:path>
              </a:pathLst>
            </a:custGeom>
            <a:solidFill>
              <a:srgbClr val="CB001C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2608" y="3163824"/>
              <a:ext cx="731520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5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Human</a:t>
              </a:r>
            </a:p>
          </p:txBody>
        </p:sp>
        <p:pic>
          <p:nvPicPr>
            <p:cNvPr id="13" name="Picture 12" descr="icon_machin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79576" y="2697480"/>
              <a:ext cx="457200" cy="457200"/>
            </a:xfrm>
            <a:prstGeom prst="rect">
              <a:avLst/>
            </a:prstGeom>
          </p:spPr>
        </p:pic>
        <p:sp>
          <p:nvSpPr>
            <p:cNvPr id="14" name="Freeform 13"/>
            <p:cNvSpPr/>
            <p:nvPr/>
          </p:nvSpPr>
          <p:spPr>
            <a:xfrm>
              <a:off x="1591056" y="2697480"/>
              <a:ext cx="124358" cy="186538"/>
            </a:xfrm>
            <a:custGeom>
              <a:avLst/>
              <a:gdLst/>
              <a:ahLst/>
              <a:cxnLst/>
              <a:rect l="l" t="t" r="r" b="b"/>
              <a:pathLst>
                <a:path w="124358" h="186538">
                  <a:moveTo>
                    <a:pt x="23317" y="0"/>
                  </a:moveTo>
                  <a:lnTo>
                    <a:pt x="116586" y="0"/>
                  </a:lnTo>
                  <a:lnTo>
                    <a:pt x="69952" y="69952"/>
                  </a:lnTo>
                  <a:lnTo>
                    <a:pt x="124358" y="69952"/>
                  </a:lnTo>
                  <a:lnTo>
                    <a:pt x="15545" y="186538"/>
                  </a:lnTo>
                  <a:lnTo>
                    <a:pt x="54407" y="93269"/>
                  </a:lnTo>
                  <a:lnTo>
                    <a:pt x="0" y="93269"/>
                  </a:lnTo>
                  <a:close/>
                </a:path>
              </a:pathLst>
            </a:custGeom>
            <a:solidFill>
              <a:srgbClr val="CB001C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042416" y="3163824"/>
              <a:ext cx="731520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5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Machine</a:t>
              </a:r>
            </a:p>
          </p:txBody>
        </p:sp>
        <p:pic>
          <p:nvPicPr>
            <p:cNvPr id="16" name="Picture 15" descr="icon_material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9768" y="3392424"/>
              <a:ext cx="457200" cy="457200"/>
            </a:xfrm>
            <a:prstGeom prst="rect">
              <a:avLst/>
            </a:prstGeom>
          </p:spPr>
        </p:pic>
        <p:sp>
          <p:nvSpPr>
            <p:cNvPr id="17" name="Freeform 16"/>
            <p:cNvSpPr/>
            <p:nvPr/>
          </p:nvSpPr>
          <p:spPr>
            <a:xfrm>
              <a:off x="841248" y="3392424"/>
              <a:ext cx="124358" cy="186538"/>
            </a:xfrm>
            <a:custGeom>
              <a:avLst/>
              <a:gdLst/>
              <a:ahLst/>
              <a:cxnLst/>
              <a:rect l="l" t="t" r="r" b="b"/>
              <a:pathLst>
                <a:path w="124358" h="186538">
                  <a:moveTo>
                    <a:pt x="23317" y="0"/>
                  </a:moveTo>
                  <a:lnTo>
                    <a:pt x="116586" y="0"/>
                  </a:lnTo>
                  <a:lnTo>
                    <a:pt x="69952" y="69952"/>
                  </a:lnTo>
                  <a:lnTo>
                    <a:pt x="124358" y="69952"/>
                  </a:lnTo>
                  <a:lnTo>
                    <a:pt x="15545" y="186538"/>
                  </a:lnTo>
                  <a:lnTo>
                    <a:pt x="54407" y="93269"/>
                  </a:lnTo>
                  <a:lnTo>
                    <a:pt x="0" y="93269"/>
                  </a:lnTo>
                  <a:close/>
                </a:path>
              </a:pathLst>
            </a:custGeom>
            <a:solidFill>
              <a:srgbClr val="CB001C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92608" y="3858768"/>
              <a:ext cx="731520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5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Material</a:t>
              </a:r>
            </a:p>
          </p:txBody>
        </p:sp>
        <p:pic>
          <p:nvPicPr>
            <p:cNvPr id="19" name="Picture 18" descr="icon_agv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79576" y="3392424"/>
              <a:ext cx="457200" cy="457200"/>
            </a:xfrm>
            <a:prstGeom prst="rect">
              <a:avLst/>
            </a:prstGeom>
          </p:spPr>
        </p:pic>
        <p:sp>
          <p:nvSpPr>
            <p:cNvPr id="20" name="Freeform 19"/>
            <p:cNvSpPr/>
            <p:nvPr/>
          </p:nvSpPr>
          <p:spPr>
            <a:xfrm>
              <a:off x="1591056" y="3392424"/>
              <a:ext cx="124358" cy="186538"/>
            </a:xfrm>
            <a:custGeom>
              <a:avLst/>
              <a:gdLst/>
              <a:ahLst/>
              <a:cxnLst/>
              <a:rect l="l" t="t" r="r" b="b"/>
              <a:pathLst>
                <a:path w="124358" h="186538">
                  <a:moveTo>
                    <a:pt x="23317" y="0"/>
                  </a:moveTo>
                  <a:lnTo>
                    <a:pt x="116586" y="0"/>
                  </a:lnTo>
                  <a:lnTo>
                    <a:pt x="69952" y="69952"/>
                  </a:lnTo>
                  <a:lnTo>
                    <a:pt x="124358" y="69952"/>
                  </a:lnTo>
                  <a:lnTo>
                    <a:pt x="15545" y="186538"/>
                  </a:lnTo>
                  <a:lnTo>
                    <a:pt x="54407" y="93269"/>
                  </a:lnTo>
                  <a:lnTo>
                    <a:pt x="0" y="93269"/>
                  </a:lnTo>
                  <a:close/>
                </a:path>
              </a:pathLst>
            </a:custGeom>
            <a:solidFill>
              <a:srgbClr val="CB001C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42416" y="3858768"/>
              <a:ext cx="731520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5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Logistics</a:t>
              </a:r>
            </a:p>
          </p:txBody>
        </p:sp>
        <p:pic>
          <p:nvPicPr>
            <p:cNvPr id="22" name="Picture 21" descr="tensor_0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03704" y="2596896"/>
              <a:ext cx="1207008" cy="914400"/>
            </a:xfrm>
            <a:prstGeom prst="rect">
              <a:avLst/>
            </a:prstGeom>
          </p:spPr>
        </p:pic>
        <p:sp>
          <p:nvSpPr>
            <p:cNvPr id="23" name="Rectangle 22"/>
            <p:cNvSpPr/>
            <p:nvPr/>
          </p:nvSpPr>
          <p:spPr>
            <a:xfrm>
              <a:off x="2203704" y="2596896"/>
              <a:ext cx="1207008" cy="914400"/>
            </a:xfrm>
            <a:prstGeom prst="rect">
              <a:avLst/>
            </a:prstGeom>
            <a:noFill/>
            <a:ln w="762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4" name="Picture 23" descr="tensor_1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130552" y="2670048"/>
              <a:ext cx="1207008" cy="91440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>
            <a:xfrm>
              <a:off x="2130552" y="2670048"/>
              <a:ext cx="1207008" cy="914400"/>
            </a:xfrm>
            <a:prstGeom prst="rect">
              <a:avLst/>
            </a:prstGeom>
            <a:noFill/>
            <a:ln w="762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6" name="Picture 25" descr="tensor_2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057400" y="2743200"/>
              <a:ext cx="1207008" cy="914400"/>
            </a:xfrm>
            <a:prstGeom prst="rect">
              <a:avLst/>
            </a:prstGeom>
          </p:spPr>
        </p:pic>
        <p:sp>
          <p:nvSpPr>
            <p:cNvPr id="27" name="Rectangle 26"/>
            <p:cNvSpPr/>
            <p:nvPr/>
          </p:nvSpPr>
          <p:spPr>
            <a:xfrm>
              <a:off x="2057400" y="2743200"/>
              <a:ext cx="1207008" cy="914400"/>
            </a:xfrm>
            <a:prstGeom prst="rect">
              <a:avLst/>
            </a:prstGeom>
            <a:noFill/>
            <a:ln w="762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947672" y="2743200"/>
              <a:ext cx="73152" cy="168442"/>
            </a:xfrm>
            <a:prstGeom prst="rect">
              <a:avLst/>
            </a:prstGeom>
            <a:solidFill>
              <a:srgbClr val="3D6EB4"/>
            </a:solidFill>
            <a:ln w="381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947672" y="2911642"/>
              <a:ext cx="73152" cy="96253"/>
            </a:xfrm>
            <a:prstGeom prst="rect">
              <a:avLst/>
            </a:prstGeom>
            <a:solidFill>
              <a:srgbClr val="5BA7D9"/>
            </a:solidFill>
            <a:ln w="381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947672" y="3007895"/>
              <a:ext cx="73152" cy="96253"/>
            </a:xfrm>
            <a:prstGeom prst="rect">
              <a:avLst/>
            </a:prstGeom>
            <a:solidFill>
              <a:srgbClr val="A6DCED"/>
            </a:solidFill>
            <a:ln w="381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47672" y="3104147"/>
              <a:ext cx="73152" cy="120316"/>
            </a:xfrm>
            <a:prstGeom prst="rect">
              <a:avLst/>
            </a:prstGeom>
            <a:solidFill>
              <a:srgbClr val="FCB84D"/>
            </a:solidFill>
            <a:ln w="381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947672" y="3224463"/>
              <a:ext cx="73152" cy="433137"/>
            </a:xfrm>
            <a:prstGeom prst="rect">
              <a:avLst/>
            </a:prstGeom>
            <a:solidFill>
              <a:srgbClr val="8C8C8C"/>
            </a:solidFill>
            <a:ln w="381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783080" y="3703320"/>
              <a:ext cx="1783080" cy="20116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050" b="0" i="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X</a:t>
              </a:r>
              <a:r>
                <a:rPr sz="1050" b="0" i="0" baseline="-2500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t</a:t>
              </a:r>
              <a:r>
                <a:rPr sz="1050" b="0" i="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050" b="0" i="0">
                  <a:solidFill>
                    <a:srgbClr val="262626"/>
                  </a:solidFill>
                  <a:latin typeface="Cambria Math"/>
                  <a:ea typeface="Cambria Math"/>
                  <a:cs typeface="Cambria Math"/>
                </a:rPr>
                <a:t>∈</a:t>
              </a:r>
              <a:r>
                <a:rPr sz="1050" b="0" i="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 ℝ</a:t>
              </a:r>
              <a:r>
                <a:rPr sz="1050" b="0" i="0" baseline="3000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30×38×27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783080" y="3886200"/>
              <a:ext cx="1783080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5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resources × minutes × features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3794760" y="137160"/>
            <a:ext cx="4572000" cy="3977640"/>
            <a:chOff x="3794760" y="137160"/>
            <a:chExt cx="4572000" cy="3977640"/>
          </a:xfrm>
        </p:grpSpPr>
        <p:sp>
          <p:nvSpPr>
            <p:cNvPr id="36" name="Rounded Rectangle 35"/>
            <p:cNvSpPr/>
            <p:nvPr/>
          </p:nvSpPr>
          <p:spPr>
            <a:xfrm>
              <a:off x="3794760" y="137160"/>
              <a:ext cx="4572000" cy="3977640"/>
            </a:xfrm>
            <a:prstGeom prst="roundRect">
              <a:avLst>
                <a:gd name="adj" fmla="val 1839"/>
              </a:avLst>
            </a:prstGeom>
            <a:solidFill>
              <a:srgbClr val="EEF5FB"/>
            </a:solidFill>
            <a:ln w="19050">
              <a:solidFill>
                <a:srgbClr val="3D6E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 Same Side Corner Rectangle 36"/>
            <p:cNvSpPr/>
            <p:nvPr/>
          </p:nvSpPr>
          <p:spPr>
            <a:xfrm>
              <a:off x="3794760" y="137160"/>
              <a:ext cx="4572000" cy="365760"/>
            </a:xfrm>
            <a:prstGeom prst="round2SameRect">
              <a:avLst>
                <a:gd name="adj1" fmla="val 25000"/>
                <a:gd name="adj2" fmla="val 0"/>
              </a:avLst>
            </a:prstGeom>
            <a:solidFill>
              <a:srgbClr val="3D6E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794760" y="137160"/>
              <a:ext cx="4572000" cy="3657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150" b="1" i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Contribution 1</a:t>
              </a:r>
              <a:r>
                <a:rPr sz="1150" b="1" i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  ·  Multi-entity heterogeneous graph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3931920" y="594360"/>
              <a:ext cx="1965960" cy="777240"/>
            </a:xfrm>
            <a:prstGeom prst="roundRect">
              <a:avLst>
                <a:gd name="adj" fmla="val 7058"/>
              </a:avLst>
            </a:prstGeom>
            <a:solidFill>
              <a:srgbClr val="F2F2F2"/>
            </a:solidFill>
            <a:ln w="9525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005072" y="621792"/>
              <a:ext cx="1874520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1" i="0">
                  <a:solidFill>
                    <a:srgbClr val="CB001C"/>
                  </a:solidFill>
                  <a:latin typeface="Segoe UI Symbol"/>
                  <a:ea typeface="Segoe UI Symbol"/>
                  <a:cs typeface="Segoe UI Symbol"/>
                </a:rPr>
                <a:t>✕ </a:t>
              </a:r>
              <a:r>
                <a:rPr sz="1000" b="1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Prior work</a:t>
              </a:r>
            </a:p>
          </p:txBody>
        </p:sp>
        <p:cxnSp>
          <p:nvCxnSpPr>
            <p:cNvPr id="41" name="Connector 40"/>
            <p:cNvCxnSpPr/>
            <p:nvPr/>
          </p:nvCxnSpPr>
          <p:spPr>
            <a:xfrm>
              <a:off x="4482389" y="992124"/>
              <a:ext cx="865022" cy="0"/>
            </a:xfrm>
            <a:prstGeom prst="line">
              <a:avLst/>
            </a:prstGeom>
            <a:ln w="15875">
              <a:solidFill>
                <a:srgbClr val="8C8C8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/>
            <p:cNvSpPr/>
            <p:nvPr/>
          </p:nvSpPr>
          <p:spPr>
            <a:xfrm>
              <a:off x="4409237" y="918972"/>
              <a:ext cx="146304" cy="146304"/>
            </a:xfrm>
            <a:prstGeom prst="ellipse">
              <a:avLst/>
            </a:prstGeom>
            <a:solidFill>
              <a:srgbClr val="A6A6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Oval 42"/>
            <p:cNvSpPr/>
            <p:nvPr/>
          </p:nvSpPr>
          <p:spPr>
            <a:xfrm>
              <a:off x="4841748" y="918972"/>
              <a:ext cx="146304" cy="146304"/>
            </a:xfrm>
            <a:prstGeom prst="ellipse">
              <a:avLst/>
            </a:prstGeom>
            <a:solidFill>
              <a:srgbClr val="A6A6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5274259" y="918972"/>
              <a:ext cx="146304" cy="146304"/>
            </a:xfrm>
            <a:prstGeom prst="ellipse">
              <a:avLst/>
            </a:prstGeom>
            <a:solidFill>
              <a:srgbClr val="A6A6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977640" y="1161288"/>
              <a:ext cx="1874520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5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machine-only nodes</a:t>
              </a:r>
            </a:p>
          </p:txBody>
        </p:sp>
        <p:cxnSp>
          <p:nvCxnSpPr>
            <p:cNvPr id="46" name="Connector 45"/>
            <p:cNvCxnSpPr/>
            <p:nvPr/>
          </p:nvCxnSpPr>
          <p:spPr>
            <a:xfrm>
              <a:off x="5943600" y="982980"/>
              <a:ext cx="201168" cy="0"/>
            </a:xfrm>
            <a:prstGeom prst="line">
              <a:avLst/>
            </a:prstGeom>
            <a:ln w="19050">
              <a:solidFill>
                <a:srgbClr val="8C8C8C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ounded Rectangle 46"/>
            <p:cNvSpPr/>
            <p:nvPr/>
          </p:nvSpPr>
          <p:spPr>
            <a:xfrm>
              <a:off x="6190488" y="594360"/>
              <a:ext cx="1965960" cy="777240"/>
            </a:xfrm>
            <a:prstGeom prst="roundRect">
              <a:avLst>
                <a:gd name="adj" fmla="val 7058"/>
              </a:avLst>
            </a:prstGeom>
            <a:solidFill>
              <a:srgbClr val="FFFFFF"/>
            </a:solidFill>
            <a:ln w="12700">
              <a:solidFill>
                <a:srgbClr val="3D6E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263640" y="621792"/>
              <a:ext cx="1874520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1" i="0">
                  <a:solidFill>
                    <a:srgbClr val="3D6EB4"/>
                  </a:solidFill>
                  <a:latin typeface="Segoe UI Symbol"/>
                  <a:ea typeface="Segoe UI Symbol"/>
                  <a:cs typeface="Segoe UI Symbol"/>
                </a:rPr>
                <a:t>✓ </a:t>
              </a:r>
              <a:r>
                <a:rPr sz="1000" b="1" i="0">
                  <a:solidFill>
                    <a:srgbClr val="3D6EB4"/>
                  </a:solidFill>
                  <a:latin typeface="Times New Roman"/>
                  <a:ea typeface="Times New Roman"/>
                  <a:cs typeface="Times New Roman"/>
                </a:rPr>
                <a:t>PHGST-DP</a:t>
              </a:r>
            </a:p>
          </p:txBody>
        </p:sp>
        <p:cxnSp>
          <p:nvCxnSpPr>
            <p:cNvPr id="49" name="Connector 48"/>
            <p:cNvCxnSpPr/>
            <p:nvPr/>
          </p:nvCxnSpPr>
          <p:spPr>
            <a:xfrm flipV="1">
              <a:off x="6590538" y="1010412"/>
              <a:ext cx="91440" cy="137160"/>
            </a:xfrm>
            <a:prstGeom prst="line">
              <a:avLst/>
            </a:prstGeom>
            <a:ln w="6350">
              <a:solidFill>
                <a:srgbClr val="8C8C8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or 49"/>
            <p:cNvCxnSpPr/>
            <p:nvPr/>
          </p:nvCxnSpPr>
          <p:spPr>
            <a:xfrm flipV="1">
              <a:off x="7082028" y="1010412"/>
              <a:ext cx="91440" cy="137160"/>
            </a:xfrm>
            <a:prstGeom prst="line">
              <a:avLst/>
            </a:prstGeom>
            <a:ln w="6350">
              <a:solidFill>
                <a:srgbClr val="8C8C8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or 50"/>
            <p:cNvCxnSpPr/>
            <p:nvPr/>
          </p:nvCxnSpPr>
          <p:spPr>
            <a:xfrm flipV="1">
              <a:off x="7573518" y="1010412"/>
              <a:ext cx="91440" cy="137160"/>
            </a:xfrm>
            <a:prstGeom prst="line">
              <a:avLst/>
            </a:prstGeom>
            <a:ln w="6350">
              <a:solidFill>
                <a:srgbClr val="8C8C8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ctor 51"/>
            <p:cNvCxnSpPr/>
            <p:nvPr/>
          </p:nvCxnSpPr>
          <p:spPr>
            <a:xfrm>
              <a:off x="6681978" y="873252"/>
              <a:ext cx="0" cy="137160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ctor 52"/>
            <p:cNvCxnSpPr/>
            <p:nvPr/>
          </p:nvCxnSpPr>
          <p:spPr>
            <a:xfrm flipV="1">
              <a:off x="7664958" y="1010412"/>
              <a:ext cx="0" cy="137160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ctor 53"/>
            <p:cNvCxnSpPr/>
            <p:nvPr/>
          </p:nvCxnSpPr>
          <p:spPr>
            <a:xfrm>
              <a:off x="6681978" y="1010412"/>
              <a:ext cx="982980" cy="0"/>
            </a:xfrm>
            <a:prstGeom prst="line">
              <a:avLst/>
            </a:prstGeom>
            <a:ln w="19050">
              <a:solidFill>
                <a:srgbClr val="3D6EB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Oval 54"/>
            <p:cNvSpPr/>
            <p:nvPr/>
          </p:nvSpPr>
          <p:spPr>
            <a:xfrm>
              <a:off x="6627114" y="818388"/>
              <a:ext cx="109728" cy="109728"/>
            </a:xfrm>
            <a:prstGeom prst="ellipse">
              <a:avLst/>
            </a:prstGeom>
            <a:solidFill>
              <a:srgbClr val="5BA7D9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7118604" y="818388"/>
              <a:ext cx="109728" cy="109728"/>
            </a:xfrm>
            <a:prstGeom prst="rect">
              <a:avLst/>
            </a:prstGeom>
            <a:solidFill>
              <a:srgbClr val="FCB84D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Oval 56"/>
            <p:cNvSpPr/>
            <p:nvPr/>
          </p:nvSpPr>
          <p:spPr>
            <a:xfrm>
              <a:off x="7610094" y="1092708"/>
              <a:ext cx="109728" cy="109728"/>
            </a:xfrm>
            <a:prstGeom prst="ellipse">
              <a:avLst/>
            </a:prstGeom>
            <a:solidFill>
              <a:srgbClr val="A6DCED"/>
            </a:solidFill>
            <a:ln w="7620">
              <a:solidFill>
                <a:srgbClr val="3D6E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Oval 57"/>
            <p:cNvSpPr/>
            <p:nvPr/>
          </p:nvSpPr>
          <p:spPr>
            <a:xfrm>
              <a:off x="6558534" y="1115568"/>
              <a:ext cx="64008" cy="64008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Oval 58"/>
            <p:cNvSpPr/>
            <p:nvPr/>
          </p:nvSpPr>
          <p:spPr>
            <a:xfrm>
              <a:off x="6613398" y="941832"/>
              <a:ext cx="137160" cy="137160"/>
            </a:xfrm>
            <a:prstGeom prst="ellipse">
              <a:avLst/>
            </a:prstGeom>
            <a:solidFill>
              <a:srgbClr val="3D6EB4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Oval 59"/>
            <p:cNvSpPr/>
            <p:nvPr/>
          </p:nvSpPr>
          <p:spPr>
            <a:xfrm>
              <a:off x="7050024" y="1115568"/>
              <a:ext cx="64008" cy="64008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val 60"/>
            <p:cNvSpPr/>
            <p:nvPr/>
          </p:nvSpPr>
          <p:spPr>
            <a:xfrm>
              <a:off x="7104888" y="941832"/>
              <a:ext cx="137160" cy="137160"/>
            </a:xfrm>
            <a:prstGeom prst="ellipse">
              <a:avLst/>
            </a:prstGeom>
            <a:solidFill>
              <a:srgbClr val="3D6EB4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Oval 61"/>
            <p:cNvSpPr/>
            <p:nvPr/>
          </p:nvSpPr>
          <p:spPr>
            <a:xfrm>
              <a:off x="7541514" y="1115568"/>
              <a:ext cx="64008" cy="64008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Oval 62"/>
            <p:cNvSpPr/>
            <p:nvPr/>
          </p:nvSpPr>
          <p:spPr>
            <a:xfrm>
              <a:off x="7596378" y="941832"/>
              <a:ext cx="137160" cy="137160"/>
            </a:xfrm>
            <a:prstGeom prst="ellipse">
              <a:avLst/>
            </a:prstGeom>
            <a:solidFill>
              <a:srgbClr val="3D6EB4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6236208" y="1161288"/>
              <a:ext cx="1874520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50" b="1" i="0">
                  <a:solidFill>
                    <a:srgbClr val="3D6EB4"/>
                  </a:solidFill>
                  <a:latin typeface="Times New Roman"/>
                  <a:ea typeface="Times New Roman"/>
                  <a:cs typeface="Times New Roman"/>
                </a:rPr>
                <a:t>5 entity types, typed edges</a:t>
              </a:r>
            </a:p>
          </p:txBody>
        </p:sp>
        <p:cxnSp>
          <p:nvCxnSpPr>
            <p:cNvPr id="65" name="Connector 64"/>
            <p:cNvCxnSpPr/>
            <p:nvPr/>
          </p:nvCxnSpPr>
          <p:spPr>
            <a:xfrm flipH="1">
              <a:off x="4206240" y="2121408"/>
              <a:ext cx="320040" cy="603504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ctor 65"/>
            <p:cNvCxnSpPr/>
            <p:nvPr/>
          </p:nvCxnSpPr>
          <p:spPr>
            <a:xfrm flipH="1" flipV="1">
              <a:off x="4206240" y="2724912"/>
              <a:ext cx="320040" cy="585216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ctor 66"/>
            <p:cNvCxnSpPr/>
            <p:nvPr/>
          </p:nvCxnSpPr>
          <p:spPr>
            <a:xfrm>
              <a:off x="4526280" y="2121408"/>
              <a:ext cx="320040" cy="603504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ctor 67"/>
            <p:cNvCxnSpPr/>
            <p:nvPr/>
          </p:nvCxnSpPr>
          <p:spPr>
            <a:xfrm flipV="1">
              <a:off x="4526280" y="2724912"/>
              <a:ext cx="320040" cy="585216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ctor 68"/>
            <p:cNvCxnSpPr/>
            <p:nvPr/>
          </p:nvCxnSpPr>
          <p:spPr>
            <a:xfrm flipH="1">
              <a:off x="5486400" y="2121408"/>
              <a:ext cx="118872" cy="603504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ctor 69"/>
            <p:cNvCxnSpPr/>
            <p:nvPr/>
          </p:nvCxnSpPr>
          <p:spPr>
            <a:xfrm flipH="1" flipV="1">
              <a:off x="5486400" y="2724912"/>
              <a:ext cx="118872" cy="585216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ctor 70"/>
            <p:cNvCxnSpPr/>
            <p:nvPr/>
          </p:nvCxnSpPr>
          <p:spPr>
            <a:xfrm>
              <a:off x="5605272" y="2121408"/>
              <a:ext cx="521208" cy="603504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ctor 71"/>
            <p:cNvCxnSpPr/>
            <p:nvPr/>
          </p:nvCxnSpPr>
          <p:spPr>
            <a:xfrm flipV="1">
              <a:off x="5605272" y="2724912"/>
              <a:ext cx="521208" cy="585216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ctor 72"/>
            <p:cNvCxnSpPr/>
            <p:nvPr/>
          </p:nvCxnSpPr>
          <p:spPr>
            <a:xfrm>
              <a:off x="6684264" y="2121408"/>
              <a:ext cx="82296" cy="603504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ctor 73"/>
            <p:cNvCxnSpPr/>
            <p:nvPr/>
          </p:nvCxnSpPr>
          <p:spPr>
            <a:xfrm flipV="1">
              <a:off x="6684264" y="2724912"/>
              <a:ext cx="82296" cy="585216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ctor 74"/>
            <p:cNvCxnSpPr/>
            <p:nvPr/>
          </p:nvCxnSpPr>
          <p:spPr>
            <a:xfrm>
              <a:off x="6684264" y="2121408"/>
              <a:ext cx="722376" cy="603504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or 75"/>
            <p:cNvCxnSpPr/>
            <p:nvPr/>
          </p:nvCxnSpPr>
          <p:spPr>
            <a:xfrm flipV="1">
              <a:off x="6684264" y="2724912"/>
              <a:ext cx="722376" cy="585216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or 76"/>
            <p:cNvCxnSpPr/>
            <p:nvPr/>
          </p:nvCxnSpPr>
          <p:spPr>
            <a:xfrm>
              <a:off x="7763256" y="2121408"/>
              <a:ext cx="283464" cy="603504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ctor 77"/>
            <p:cNvCxnSpPr/>
            <p:nvPr/>
          </p:nvCxnSpPr>
          <p:spPr>
            <a:xfrm flipV="1">
              <a:off x="7763256" y="2724912"/>
              <a:ext cx="283464" cy="585216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ctor 78"/>
            <p:cNvCxnSpPr/>
            <p:nvPr/>
          </p:nvCxnSpPr>
          <p:spPr>
            <a:xfrm>
              <a:off x="7763256" y="2121408"/>
              <a:ext cx="283464" cy="603504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ctor 79"/>
            <p:cNvCxnSpPr/>
            <p:nvPr/>
          </p:nvCxnSpPr>
          <p:spPr>
            <a:xfrm flipV="1">
              <a:off x="7763256" y="2724912"/>
              <a:ext cx="283464" cy="585216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ctor 80"/>
            <p:cNvCxnSpPr/>
            <p:nvPr/>
          </p:nvCxnSpPr>
          <p:spPr>
            <a:xfrm>
              <a:off x="4526280" y="2121408"/>
              <a:ext cx="3236976" cy="0"/>
            </a:xfrm>
            <a:prstGeom prst="line">
              <a:avLst/>
            </a:prstGeom>
            <a:ln w="9525">
              <a:solidFill>
                <a:srgbClr val="8C8C8C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ctor 81"/>
            <p:cNvCxnSpPr/>
            <p:nvPr/>
          </p:nvCxnSpPr>
          <p:spPr>
            <a:xfrm>
              <a:off x="4526280" y="3310128"/>
              <a:ext cx="3236976" cy="0"/>
            </a:xfrm>
            <a:prstGeom prst="line">
              <a:avLst/>
            </a:prstGeom>
            <a:ln w="9525">
              <a:solidFill>
                <a:srgbClr val="8C8C8C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ctor 82"/>
            <p:cNvCxnSpPr/>
            <p:nvPr/>
          </p:nvCxnSpPr>
          <p:spPr>
            <a:xfrm flipV="1">
              <a:off x="4050792" y="2724912"/>
              <a:ext cx="155448" cy="274320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ctor 83"/>
            <p:cNvCxnSpPr/>
            <p:nvPr/>
          </p:nvCxnSpPr>
          <p:spPr>
            <a:xfrm flipH="1" flipV="1">
              <a:off x="4206240" y="2724912"/>
              <a:ext cx="155448" cy="274320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 84"/>
            <p:cNvCxnSpPr/>
            <p:nvPr/>
          </p:nvCxnSpPr>
          <p:spPr>
            <a:xfrm flipV="1">
              <a:off x="4690872" y="2724912"/>
              <a:ext cx="155448" cy="274320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ctor 85"/>
            <p:cNvCxnSpPr/>
            <p:nvPr/>
          </p:nvCxnSpPr>
          <p:spPr>
            <a:xfrm flipH="1" flipV="1">
              <a:off x="4846320" y="2724912"/>
              <a:ext cx="155448" cy="274320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ctor 86"/>
            <p:cNvCxnSpPr/>
            <p:nvPr/>
          </p:nvCxnSpPr>
          <p:spPr>
            <a:xfrm flipV="1">
              <a:off x="5330952" y="2724912"/>
              <a:ext cx="155448" cy="274320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ctor 87"/>
            <p:cNvCxnSpPr/>
            <p:nvPr/>
          </p:nvCxnSpPr>
          <p:spPr>
            <a:xfrm flipH="1" flipV="1">
              <a:off x="5486400" y="2724912"/>
              <a:ext cx="155448" cy="274320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or 88"/>
            <p:cNvCxnSpPr/>
            <p:nvPr/>
          </p:nvCxnSpPr>
          <p:spPr>
            <a:xfrm flipV="1">
              <a:off x="5971032" y="2724912"/>
              <a:ext cx="155448" cy="274320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ctor 89"/>
            <p:cNvCxnSpPr/>
            <p:nvPr/>
          </p:nvCxnSpPr>
          <p:spPr>
            <a:xfrm flipH="1" flipV="1">
              <a:off x="6126480" y="2724912"/>
              <a:ext cx="155448" cy="274320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ctor 90"/>
            <p:cNvCxnSpPr/>
            <p:nvPr/>
          </p:nvCxnSpPr>
          <p:spPr>
            <a:xfrm flipV="1">
              <a:off x="6611112" y="2724912"/>
              <a:ext cx="155448" cy="274320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ctor 91"/>
            <p:cNvCxnSpPr/>
            <p:nvPr/>
          </p:nvCxnSpPr>
          <p:spPr>
            <a:xfrm flipH="1" flipV="1">
              <a:off x="6766560" y="2724912"/>
              <a:ext cx="155448" cy="274320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or 92"/>
            <p:cNvCxnSpPr/>
            <p:nvPr/>
          </p:nvCxnSpPr>
          <p:spPr>
            <a:xfrm flipV="1">
              <a:off x="7251192" y="2724912"/>
              <a:ext cx="155448" cy="274320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ctor 93"/>
            <p:cNvCxnSpPr/>
            <p:nvPr/>
          </p:nvCxnSpPr>
          <p:spPr>
            <a:xfrm flipH="1" flipV="1">
              <a:off x="7406640" y="2724912"/>
              <a:ext cx="155448" cy="274320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ctor 94"/>
            <p:cNvCxnSpPr/>
            <p:nvPr/>
          </p:nvCxnSpPr>
          <p:spPr>
            <a:xfrm flipV="1">
              <a:off x="7891272" y="2724912"/>
              <a:ext cx="155448" cy="274320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ctor 95"/>
            <p:cNvCxnSpPr/>
            <p:nvPr/>
          </p:nvCxnSpPr>
          <p:spPr>
            <a:xfrm flipH="1" flipV="1">
              <a:off x="8046720" y="2724912"/>
              <a:ext cx="155448" cy="274320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ctor 96"/>
            <p:cNvCxnSpPr/>
            <p:nvPr/>
          </p:nvCxnSpPr>
          <p:spPr>
            <a:xfrm>
              <a:off x="3931920" y="2542032"/>
              <a:ext cx="274320" cy="182880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ctor 97"/>
            <p:cNvCxnSpPr/>
            <p:nvPr/>
          </p:nvCxnSpPr>
          <p:spPr>
            <a:xfrm flipH="1">
              <a:off x="8046720" y="2542032"/>
              <a:ext cx="274320" cy="182880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ctor 98"/>
            <p:cNvCxnSpPr/>
            <p:nvPr/>
          </p:nvCxnSpPr>
          <p:spPr>
            <a:xfrm>
              <a:off x="5971032" y="2450592"/>
              <a:ext cx="155448" cy="274320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ctor 99"/>
            <p:cNvCxnSpPr/>
            <p:nvPr/>
          </p:nvCxnSpPr>
          <p:spPr>
            <a:xfrm flipH="1">
              <a:off x="6126480" y="2450592"/>
              <a:ext cx="155448" cy="274320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ctor 100"/>
            <p:cNvCxnSpPr/>
            <p:nvPr/>
          </p:nvCxnSpPr>
          <p:spPr>
            <a:xfrm>
              <a:off x="4206240" y="2724912"/>
              <a:ext cx="3840480" cy="0"/>
            </a:xfrm>
            <a:prstGeom prst="line">
              <a:avLst/>
            </a:prstGeom>
            <a:ln w="25400">
              <a:solidFill>
                <a:srgbClr val="3D6EB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Freeform 101"/>
            <p:cNvSpPr/>
            <p:nvPr/>
          </p:nvSpPr>
          <p:spPr>
            <a:xfrm>
              <a:off x="5486400" y="2587752"/>
              <a:ext cx="640080" cy="82011"/>
            </a:xfrm>
            <a:custGeom>
              <a:avLst/>
              <a:gdLst/>
              <a:ahLst/>
              <a:cxnLst/>
              <a:rect l="l" t="t" r="r" b="b"/>
              <a:pathLst>
                <a:path w="640080" h="82011">
                  <a:moveTo>
                    <a:pt x="0" y="0"/>
                  </a:moveTo>
                  <a:lnTo>
                    <a:pt x="37652" y="18225"/>
                  </a:lnTo>
                  <a:lnTo>
                    <a:pt x="75304" y="34171"/>
                  </a:lnTo>
                  <a:lnTo>
                    <a:pt x="112955" y="47840"/>
                  </a:lnTo>
                  <a:lnTo>
                    <a:pt x="150607" y="59230"/>
                  </a:lnTo>
                  <a:lnTo>
                    <a:pt x="188259" y="68343"/>
                  </a:lnTo>
                  <a:lnTo>
                    <a:pt x="225911" y="75177"/>
                  </a:lnTo>
                  <a:lnTo>
                    <a:pt x="263562" y="79733"/>
                  </a:lnTo>
                  <a:lnTo>
                    <a:pt x="301214" y="82011"/>
                  </a:lnTo>
                  <a:lnTo>
                    <a:pt x="338866" y="82011"/>
                  </a:lnTo>
                  <a:lnTo>
                    <a:pt x="376518" y="79733"/>
                  </a:lnTo>
                  <a:lnTo>
                    <a:pt x="414169" y="75177"/>
                  </a:lnTo>
                  <a:lnTo>
                    <a:pt x="451821" y="68343"/>
                  </a:lnTo>
                  <a:lnTo>
                    <a:pt x="489473" y="59230"/>
                  </a:lnTo>
                  <a:lnTo>
                    <a:pt x="527125" y="47840"/>
                  </a:lnTo>
                  <a:lnTo>
                    <a:pt x="564776" y="34171"/>
                  </a:lnTo>
                  <a:lnTo>
                    <a:pt x="602428" y="18225"/>
                  </a:lnTo>
                  <a:lnTo>
                    <a:pt x="640080" y="0"/>
                  </a:lnTo>
                </a:path>
              </a:pathLst>
            </a:custGeom>
            <a:noFill/>
            <a:ln w="11430">
              <a:solidFill>
                <a:srgbClr val="3D6E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Freeform 102"/>
            <p:cNvSpPr/>
            <p:nvPr/>
          </p:nvSpPr>
          <p:spPr>
            <a:xfrm>
              <a:off x="6766560" y="2587752"/>
              <a:ext cx="640080" cy="82011"/>
            </a:xfrm>
            <a:custGeom>
              <a:avLst/>
              <a:gdLst/>
              <a:ahLst/>
              <a:cxnLst/>
              <a:rect l="l" t="t" r="r" b="b"/>
              <a:pathLst>
                <a:path w="640080" h="82011">
                  <a:moveTo>
                    <a:pt x="0" y="0"/>
                  </a:moveTo>
                  <a:lnTo>
                    <a:pt x="37652" y="18225"/>
                  </a:lnTo>
                  <a:lnTo>
                    <a:pt x="75304" y="34171"/>
                  </a:lnTo>
                  <a:lnTo>
                    <a:pt x="112955" y="47840"/>
                  </a:lnTo>
                  <a:lnTo>
                    <a:pt x="150607" y="59230"/>
                  </a:lnTo>
                  <a:lnTo>
                    <a:pt x="188259" y="68343"/>
                  </a:lnTo>
                  <a:lnTo>
                    <a:pt x="225911" y="75177"/>
                  </a:lnTo>
                  <a:lnTo>
                    <a:pt x="263562" y="79733"/>
                  </a:lnTo>
                  <a:lnTo>
                    <a:pt x="301214" y="82011"/>
                  </a:lnTo>
                  <a:lnTo>
                    <a:pt x="338866" y="82011"/>
                  </a:lnTo>
                  <a:lnTo>
                    <a:pt x="376518" y="79733"/>
                  </a:lnTo>
                  <a:lnTo>
                    <a:pt x="414169" y="75177"/>
                  </a:lnTo>
                  <a:lnTo>
                    <a:pt x="451821" y="68343"/>
                  </a:lnTo>
                  <a:lnTo>
                    <a:pt x="489473" y="59230"/>
                  </a:lnTo>
                  <a:lnTo>
                    <a:pt x="527125" y="47840"/>
                  </a:lnTo>
                  <a:lnTo>
                    <a:pt x="564776" y="34171"/>
                  </a:lnTo>
                  <a:lnTo>
                    <a:pt x="602428" y="18225"/>
                  </a:lnTo>
                  <a:lnTo>
                    <a:pt x="640080" y="0"/>
                  </a:lnTo>
                </a:path>
              </a:pathLst>
            </a:custGeom>
            <a:noFill/>
            <a:ln w="11430">
              <a:solidFill>
                <a:srgbClr val="3D6E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5989320" y="1536192"/>
              <a:ext cx="2331720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1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M</a:t>
              </a:r>
              <a:r>
                <a:rPr sz="950" b="1" i="0" baseline="3000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G</a:t>
              </a:r>
              <a:r>
                <a:rPr sz="95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: &lt; 4-hop neighbours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5989320" y="1728216"/>
              <a:ext cx="2331720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1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M</a:t>
              </a:r>
              <a:r>
                <a:rPr sz="950" b="1" i="0" baseline="3000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S</a:t>
              </a:r>
              <a:r>
                <a:rPr sz="95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: top-5 trajectory correlation</a:t>
              </a:r>
            </a:p>
          </p:txBody>
        </p:sp>
        <p:sp>
          <p:nvSpPr>
            <p:cNvPr id="106" name="Oval 105"/>
            <p:cNvSpPr/>
            <p:nvPr/>
          </p:nvSpPr>
          <p:spPr>
            <a:xfrm>
              <a:off x="4009644" y="2958084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Oval 106"/>
            <p:cNvSpPr/>
            <p:nvPr/>
          </p:nvSpPr>
          <p:spPr>
            <a:xfrm>
              <a:off x="4320540" y="2958084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Oval 107"/>
            <p:cNvSpPr/>
            <p:nvPr/>
          </p:nvSpPr>
          <p:spPr>
            <a:xfrm>
              <a:off x="4649724" y="2958084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Oval 108"/>
            <p:cNvSpPr/>
            <p:nvPr/>
          </p:nvSpPr>
          <p:spPr>
            <a:xfrm>
              <a:off x="4960620" y="2958084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Oval 109"/>
            <p:cNvSpPr/>
            <p:nvPr/>
          </p:nvSpPr>
          <p:spPr>
            <a:xfrm>
              <a:off x="5289804" y="2958084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Oval 110"/>
            <p:cNvSpPr/>
            <p:nvPr/>
          </p:nvSpPr>
          <p:spPr>
            <a:xfrm>
              <a:off x="5600700" y="2958084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Oval 111"/>
            <p:cNvSpPr/>
            <p:nvPr/>
          </p:nvSpPr>
          <p:spPr>
            <a:xfrm>
              <a:off x="5929884" y="2958084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Oval 112"/>
            <p:cNvSpPr/>
            <p:nvPr/>
          </p:nvSpPr>
          <p:spPr>
            <a:xfrm>
              <a:off x="6240780" y="2958084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Oval 113"/>
            <p:cNvSpPr/>
            <p:nvPr/>
          </p:nvSpPr>
          <p:spPr>
            <a:xfrm>
              <a:off x="6569964" y="2958084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Oval 114"/>
            <p:cNvSpPr/>
            <p:nvPr/>
          </p:nvSpPr>
          <p:spPr>
            <a:xfrm>
              <a:off x="6880860" y="2958084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Oval 115"/>
            <p:cNvSpPr/>
            <p:nvPr/>
          </p:nvSpPr>
          <p:spPr>
            <a:xfrm>
              <a:off x="7210044" y="2958084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Oval 116"/>
            <p:cNvSpPr/>
            <p:nvPr/>
          </p:nvSpPr>
          <p:spPr>
            <a:xfrm>
              <a:off x="7520940" y="2958084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Oval 117"/>
            <p:cNvSpPr/>
            <p:nvPr/>
          </p:nvSpPr>
          <p:spPr>
            <a:xfrm>
              <a:off x="7850124" y="2958084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Oval 118"/>
            <p:cNvSpPr/>
            <p:nvPr/>
          </p:nvSpPr>
          <p:spPr>
            <a:xfrm>
              <a:off x="8161020" y="2958084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Oval 119"/>
            <p:cNvSpPr/>
            <p:nvPr/>
          </p:nvSpPr>
          <p:spPr>
            <a:xfrm>
              <a:off x="3890772" y="2500884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Oval 120"/>
            <p:cNvSpPr/>
            <p:nvPr/>
          </p:nvSpPr>
          <p:spPr>
            <a:xfrm>
              <a:off x="8279892" y="2500884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Oval 121"/>
            <p:cNvSpPr/>
            <p:nvPr/>
          </p:nvSpPr>
          <p:spPr>
            <a:xfrm>
              <a:off x="5929884" y="2409444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Oval 122"/>
            <p:cNvSpPr/>
            <p:nvPr/>
          </p:nvSpPr>
          <p:spPr>
            <a:xfrm>
              <a:off x="6240780" y="2409444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Oval 123"/>
            <p:cNvSpPr/>
            <p:nvPr/>
          </p:nvSpPr>
          <p:spPr>
            <a:xfrm>
              <a:off x="4425696" y="2020824"/>
              <a:ext cx="201168" cy="201168"/>
            </a:xfrm>
            <a:prstGeom prst="ellipse">
              <a:avLst/>
            </a:prstGeom>
            <a:solidFill>
              <a:srgbClr val="5BA7D9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Oval 124"/>
            <p:cNvSpPr/>
            <p:nvPr/>
          </p:nvSpPr>
          <p:spPr>
            <a:xfrm>
              <a:off x="4425696" y="3209544"/>
              <a:ext cx="201168" cy="201168"/>
            </a:xfrm>
            <a:prstGeom prst="ellipse">
              <a:avLst/>
            </a:prstGeom>
            <a:solidFill>
              <a:srgbClr val="A6DCED"/>
            </a:solidFill>
            <a:ln w="9525">
              <a:solidFill>
                <a:srgbClr val="3D6E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Oval 125"/>
            <p:cNvSpPr/>
            <p:nvPr/>
          </p:nvSpPr>
          <p:spPr>
            <a:xfrm>
              <a:off x="5504688" y="2020824"/>
              <a:ext cx="201168" cy="201168"/>
            </a:xfrm>
            <a:prstGeom prst="ellipse">
              <a:avLst/>
            </a:prstGeom>
            <a:solidFill>
              <a:srgbClr val="5BA7D9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Oval 126"/>
            <p:cNvSpPr/>
            <p:nvPr/>
          </p:nvSpPr>
          <p:spPr>
            <a:xfrm>
              <a:off x="5504688" y="3209544"/>
              <a:ext cx="201168" cy="201168"/>
            </a:xfrm>
            <a:prstGeom prst="ellipse">
              <a:avLst/>
            </a:prstGeom>
            <a:solidFill>
              <a:srgbClr val="A6DCED"/>
            </a:solidFill>
            <a:ln w="9525">
              <a:solidFill>
                <a:srgbClr val="3D6E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Oval 127"/>
            <p:cNvSpPr/>
            <p:nvPr/>
          </p:nvSpPr>
          <p:spPr>
            <a:xfrm>
              <a:off x="6583680" y="2020824"/>
              <a:ext cx="201168" cy="201168"/>
            </a:xfrm>
            <a:prstGeom prst="ellipse">
              <a:avLst/>
            </a:prstGeom>
            <a:solidFill>
              <a:srgbClr val="5BA7D9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Oval 128"/>
            <p:cNvSpPr/>
            <p:nvPr/>
          </p:nvSpPr>
          <p:spPr>
            <a:xfrm>
              <a:off x="6583680" y="3209544"/>
              <a:ext cx="201168" cy="201168"/>
            </a:xfrm>
            <a:prstGeom prst="ellipse">
              <a:avLst/>
            </a:prstGeom>
            <a:solidFill>
              <a:srgbClr val="A6DCED"/>
            </a:solidFill>
            <a:ln w="9525">
              <a:solidFill>
                <a:srgbClr val="3D6E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Oval 129"/>
            <p:cNvSpPr/>
            <p:nvPr/>
          </p:nvSpPr>
          <p:spPr>
            <a:xfrm>
              <a:off x="7662672" y="2020824"/>
              <a:ext cx="201168" cy="201168"/>
            </a:xfrm>
            <a:prstGeom prst="ellipse">
              <a:avLst/>
            </a:prstGeom>
            <a:solidFill>
              <a:srgbClr val="5BA7D9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Oval 130"/>
            <p:cNvSpPr/>
            <p:nvPr/>
          </p:nvSpPr>
          <p:spPr>
            <a:xfrm>
              <a:off x="7662672" y="3209544"/>
              <a:ext cx="201168" cy="201168"/>
            </a:xfrm>
            <a:prstGeom prst="ellipse">
              <a:avLst/>
            </a:prstGeom>
            <a:solidFill>
              <a:srgbClr val="A6DCED"/>
            </a:solidFill>
            <a:ln w="9525">
              <a:solidFill>
                <a:srgbClr val="3D6E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Rectangle 131"/>
            <p:cNvSpPr/>
            <p:nvPr/>
          </p:nvSpPr>
          <p:spPr>
            <a:xfrm>
              <a:off x="4265676" y="1586484"/>
              <a:ext cx="155448" cy="155448"/>
            </a:xfrm>
            <a:prstGeom prst="rect">
              <a:avLst/>
            </a:prstGeom>
            <a:solidFill>
              <a:srgbClr val="FCB84D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Rectangle 132"/>
            <p:cNvSpPr/>
            <p:nvPr/>
          </p:nvSpPr>
          <p:spPr>
            <a:xfrm>
              <a:off x="4594860" y="1586484"/>
              <a:ext cx="155448" cy="155448"/>
            </a:xfrm>
            <a:prstGeom prst="rect">
              <a:avLst/>
            </a:prstGeom>
            <a:solidFill>
              <a:srgbClr val="FCB84D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Rectangle 133"/>
            <p:cNvSpPr/>
            <p:nvPr/>
          </p:nvSpPr>
          <p:spPr>
            <a:xfrm>
              <a:off x="4924044" y="1586484"/>
              <a:ext cx="155448" cy="155448"/>
            </a:xfrm>
            <a:prstGeom prst="rect">
              <a:avLst/>
            </a:prstGeom>
            <a:solidFill>
              <a:srgbClr val="FCB84D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Rectangle 134"/>
            <p:cNvSpPr/>
            <p:nvPr/>
          </p:nvSpPr>
          <p:spPr>
            <a:xfrm>
              <a:off x="5253228" y="1586484"/>
              <a:ext cx="155448" cy="155448"/>
            </a:xfrm>
            <a:prstGeom prst="rect">
              <a:avLst/>
            </a:prstGeom>
            <a:solidFill>
              <a:srgbClr val="FCB84D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5582412" y="1586484"/>
              <a:ext cx="155448" cy="155448"/>
            </a:xfrm>
            <a:prstGeom prst="rect">
              <a:avLst/>
            </a:prstGeom>
            <a:solidFill>
              <a:srgbClr val="FCB84D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Oval 136"/>
            <p:cNvSpPr/>
            <p:nvPr/>
          </p:nvSpPr>
          <p:spPr>
            <a:xfrm>
              <a:off x="4050792" y="2569464"/>
              <a:ext cx="310896" cy="310896"/>
            </a:xfrm>
            <a:prstGeom prst="ellipse">
              <a:avLst/>
            </a:prstGeom>
            <a:solidFill>
              <a:srgbClr val="3D6EB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4050792" y="2569464"/>
              <a:ext cx="310896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50" b="1" i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M1</a:t>
              </a:r>
            </a:p>
          </p:txBody>
        </p:sp>
        <p:sp>
          <p:nvSpPr>
            <p:cNvPr id="139" name="Oval 138"/>
            <p:cNvSpPr/>
            <p:nvPr/>
          </p:nvSpPr>
          <p:spPr>
            <a:xfrm>
              <a:off x="4690872" y="2569464"/>
              <a:ext cx="310896" cy="310896"/>
            </a:xfrm>
            <a:prstGeom prst="ellipse">
              <a:avLst/>
            </a:prstGeom>
            <a:solidFill>
              <a:srgbClr val="3D6EB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4690872" y="2569464"/>
              <a:ext cx="310896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50" b="1" i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M2</a:t>
              </a:r>
            </a:p>
          </p:txBody>
        </p:sp>
        <p:sp>
          <p:nvSpPr>
            <p:cNvPr id="141" name="Oval 140"/>
            <p:cNvSpPr/>
            <p:nvPr/>
          </p:nvSpPr>
          <p:spPr>
            <a:xfrm>
              <a:off x="5330952" y="2569464"/>
              <a:ext cx="310896" cy="310896"/>
            </a:xfrm>
            <a:prstGeom prst="ellipse">
              <a:avLst/>
            </a:prstGeom>
            <a:solidFill>
              <a:srgbClr val="3D6EB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5330952" y="2569464"/>
              <a:ext cx="310896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50" b="1" i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M3</a:t>
              </a:r>
            </a:p>
          </p:txBody>
        </p:sp>
        <p:sp>
          <p:nvSpPr>
            <p:cNvPr id="143" name="Oval 142"/>
            <p:cNvSpPr/>
            <p:nvPr/>
          </p:nvSpPr>
          <p:spPr>
            <a:xfrm>
              <a:off x="5971032" y="2569464"/>
              <a:ext cx="310896" cy="310896"/>
            </a:xfrm>
            <a:prstGeom prst="ellipse">
              <a:avLst/>
            </a:prstGeom>
            <a:solidFill>
              <a:srgbClr val="3D6EB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5971032" y="2569464"/>
              <a:ext cx="310896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50" b="1" i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M4</a:t>
              </a:r>
            </a:p>
          </p:txBody>
        </p:sp>
        <p:sp>
          <p:nvSpPr>
            <p:cNvPr id="145" name="Oval 144"/>
            <p:cNvSpPr/>
            <p:nvPr/>
          </p:nvSpPr>
          <p:spPr>
            <a:xfrm>
              <a:off x="6611112" y="2569464"/>
              <a:ext cx="310896" cy="310896"/>
            </a:xfrm>
            <a:prstGeom prst="ellipse">
              <a:avLst/>
            </a:prstGeom>
            <a:solidFill>
              <a:srgbClr val="3D6EB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6611112" y="2569464"/>
              <a:ext cx="310896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50" b="1" i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M5</a:t>
              </a:r>
            </a:p>
          </p:txBody>
        </p:sp>
        <p:sp>
          <p:nvSpPr>
            <p:cNvPr id="147" name="Oval 146"/>
            <p:cNvSpPr/>
            <p:nvPr/>
          </p:nvSpPr>
          <p:spPr>
            <a:xfrm>
              <a:off x="7251192" y="2569464"/>
              <a:ext cx="310896" cy="310896"/>
            </a:xfrm>
            <a:prstGeom prst="ellipse">
              <a:avLst/>
            </a:prstGeom>
            <a:solidFill>
              <a:srgbClr val="3D6EB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7251192" y="2569464"/>
              <a:ext cx="310896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50" b="1" i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M6</a:t>
              </a:r>
            </a:p>
          </p:txBody>
        </p:sp>
        <p:sp>
          <p:nvSpPr>
            <p:cNvPr id="149" name="Oval 148"/>
            <p:cNvSpPr/>
            <p:nvPr/>
          </p:nvSpPr>
          <p:spPr>
            <a:xfrm>
              <a:off x="7891272" y="2569464"/>
              <a:ext cx="310896" cy="310896"/>
            </a:xfrm>
            <a:prstGeom prst="ellipse">
              <a:avLst/>
            </a:prstGeom>
            <a:solidFill>
              <a:srgbClr val="3D6EB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7891272" y="2569464"/>
              <a:ext cx="310896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50" b="1" i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M7</a:t>
              </a:r>
            </a:p>
          </p:txBody>
        </p:sp>
        <p:sp>
          <p:nvSpPr>
            <p:cNvPr id="151" name="Oval 150"/>
            <p:cNvSpPr/>
            <p:nvPr/>
          </p:nvSpPr>
          <p:spPr>
            <a:xfrm>
              <a:off x="3895344" y="3648456"/>
              <a:ext cx="109728" cy="109728"/>
            </a:xfrm>
            <a:prstGeom prst="ellipse">
              <a:avLst/>
            </a:prstGeom>
            <a:solidFill>
              <a:srgbClr val="3D6E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4041648" y="3611880"/>
              <a:ext cx="731520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machine</a:t>
              </a:r>
            </a:p>
          </p:txBody>
        </p:sp>
        <p:sp>
          <p:nvSpPr>
            <p:cNvPr id="153" name="Oval 152"/>
            <p:cNvSpPr/>
            <p:nvPr/>
          </p:nvSpPr>
          <p:spPr>
            <a:xfrm>
              <a:off x="4782312" y="3648456"/>
              <a:ext cx="109728" cy="109728"/>
            </a:xfrm>
            <a:prstGeom prst="ellipse">
              <a:avLst/>
            </a:prstGeom>
            <a:solidFill>
              <a:srgbClr val="5BA7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4928616" y="3611880"/>
              <a:ext cx="731520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gantry</a:t>
              </a:r>
            </a:p>
          </p:txBody>
        </p:sp>
        <p:sp>
          <p:nvSpPr>
            <p:cNvPr id="155" name="Oval 154"/>
            <p:cNvSpPr/>
            <p:nvPr/>
          </p:nvSpPr>
          <p:spPr>
            <a:xfrm>
              <a:off x="5669280" y="3648456"/>
              <a:ext cx="109728" cy="109728"/>
            </a:xfrm>
            <a:prstGeom prst="ellipse">
              <a:avLst/>
            </a:prstGeom>
            <a:solidFill>
              <a:srgbClr val="A6DCED"/>
            </a:solidFill>
            <a:ln w="7620">
              <a:solidFill>
                <a:srgbClr val="3D6E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5815584" y="3611880"/>
              <a:ext cx="731520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robot</a:t>
              </a:r>
            </a:p>
          </p:txBody>
        </p:sp>
        <p:sp>
          <p:nvSpPr>
            <p:cNvPr id="157" name="Rectangle 156"/>
            <p:cNvSpPr/>
            <p:nvPr/>
          </p:nvSpPr>
          <p:spPr>
            <a:xfrm>
              <a:off x="6556248" y="3648456"/>
              <a:ext cx="109728" cy="109728"/>
            </a:xfrm>
            <a:prstGeom prst="rect">
              <a:avLst/>
            </a:prstGeom>
            <a:solidFill>
              <a:srgbClr val="FCB8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TextBox 157"/>
            <p:cNvSpPr txBox="1"/>
            <p:nvPr/>
          </p:nvSpPr>
          <p:spPr>
            <a:xfrm>
              <a:off x="6702552" y="3611880"/>
              <a:ext cx="731520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human</a:t>
              </a:r>
            </a:p>
          </p:txBody>
        </p:sp>
        <p:sp>
          <p:nvSpPr>
            <p:cNvPr id="159" name="Oval 158"/>
            <p:cNvSpPr/>
            <p:nvPr/>
          </p:nvSpPr>
          <p:spPr>
            <a:xfrm>
              <a:off x="7456932" y="3662172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7589520" y="3611880"/>
              <a:ext cx="731520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buffer</a:t>
              </a:r>
            </a:p>
          </p:txBody>
        </p:sp>
        <p:cxnSp>
          <p:nvCxnSpPr>
            <p:cNvPr id="161" name="Connector 160"/>
            <p:cNvCxnSpPr/>
            <p:nvPr/>
          </p:nvCxnSpPr>
          <p:spPr>
            <a:xfrm>
              <a:off x="3886200" y="3931920"/>
              <a:ext cx="256032" cy="0"/>
            </a:xfrm>
            <a:prstGeom prst="line">
              <a:avLst/>
            </a:prstGeom>
            <a:ln w="25400">
              <a:solidFill>
                <a:srgbClr val="3D6EB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TextBox 161"/>
            <p:cNvSpPr txBox="1"/>
            <p:nvPr/>
          </p:nvSpPr>
          <p:spPr>
            <a:xfrm>
              <a:off x="4197096" y="3840480"/>
              <a:ext cx="822960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process</a:t>
              </a:r>
            </a:p>
          </p:txBody>
        </p:sp>
        <p:cxnSp>
          <p:nvCxnSpPr>
            <p:cNvPr id="163" name="Connector 162"/>
            <p:cNvCxnSpPr/>
            <p:nvPr/>
          </p:nvCxnSpPr>
          <p:spPr>
            <a:xfrm>
              <a:off x="4965192" y="3931920"/>
              <a:ext cx="256032" cy="0"/>
            </a:xfrm>
            <a:prstGeom prst="line">
              <a:avLst/>
            </a:prstGeom>
            <a:ln w="11430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TextBox 163"/>
            <p:cNvSpPr txBox="1"/>
            <p:nvPr/>
          </p:nvSpPr>
          <p:spPr>
            <a:xfrm>
              <a:off x="5276088" y="3840480"/>
              <a:ext cx="822960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handling</a:t>
              </a:r>
            </a:p>
          </p:txBody>
        </p:sp>
        <p:cxnSp>
          <p:nvCxnSpPr>
            <p:cNvPr id="165" name="Connector 164"/>
            <p:cNvCxnSpPr/>
            <p:nvPr/>
          </p:nvCxnSpPr>
          <p:spPr>
            <a:xfrm>
              <a:off x="6044184" y="3931920"/>
              <a:ext cx="256032" cy="0"/>
            </a:xfrm>
            <a:prstGeom prst="line">
              <a:avLst/>
            </a:prstGeom>
            <a:ln w="11430">
              <a:solidFill>
                <a:srgbClr val="8C8C8C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TextBox 165"/>
            <p:cNvSpPr txBox="1"/>
            <p:nvPr/>
          </p:nvSpPr>
          <p:spPr>
            <a:xfrm>
              <a:off x="6355080" y="3840480"/>
              <a:ext cx="822960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weak</a:t>
              </a:r>
            </a:p>
          </p:txBody>
        </p:sp>
        <p:cxnSp>
          <p:nvCxnSpPr>
            <p:cNvPr id="167" name="Connector 166"/>
            <p:cNvCxnSpPr/>
            <p:nvPr/>
          </p:nvCxnSpPr>
          <p:spPr>
            <a:xfrm>
              <a:off x="7123176" y="3931920"/>
              <a:ext cx="256032" cy="0"/>
            </a:xfrm>
            <a:prstGeom prst="line">
              <a:avLst/>
            </a:prstGeom>
            <a:ln w="1143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8" name="TextBox 167"/>
            <p:cNvSpPr txBox="1"/>
            <p:nvPr/>
          </p:nvSpPr>
          <p:spPr>
            <a:xfrm>
              <a:off x="7434072" y="3840480"/>
              <a:ext cx="822960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buffer link</a:t>
              </a:r>
            </a:p>
          </p:txBody>
        </p:sp>
      </p:grpSp>
      <p:grpSp>
        <p:nvGrpSpPr>
          <p:cNvPr id="169" name="Group 168"/>
          <p:cNvGrpSpPr/>
          <p:nvPr/>
        </p:nvGrpSpPr>
        <p:grpSpPr>
          <a:xfrm>
            <a:off x="8549640" y="137160"/>
            <a:ext cx="4480560" cy="3977640"/>
            <a:chOff x="8549640" y="137160"/>
            <a:chExt cx="4480560" cy="3977640"/>
          </a:xfrm>
        </p:grpSpPr>
        <p:sp>
          <p:nvSpPr>
            <p:cNvPr id="170" name="Rounded Rectangle 169"/>
            <p:cNvSpPr/>
            <p:nvPr/>
          </p:nvSpPr>
          <p:spPr>
            <a:xfrm>
              <a:off x="8549640" y="137160"/>
              <a:ext cx="4480560" cy="3977640"/>
            </a:xfrm>
            <a:prstGeom prst="roundRect">
              <a:avLst>
                <a:gd name="adj" fmla="val 1839"/>
              </a:avLst>
            </a:prstGeom>
            <a:solidFill>
              <a:srgbClr val="FFF9EA"/>
            </a:solidFill>
            <a:ln w="19050">
              <a:solidFill>
                <a:srgbClr val="F2612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Round Same Side Corner Rectangle 170"/>
            <p:cNvSpPr/>
            <p:nvPr/>
          </p:nvSpPr>
          <p:spPr>
            <a:xfrm>
              <a:off x="8549640" y="137160"/>
              <a:ext cx="4480560" cy="365760"/>
            </a:xfrm>
            <a:prstGeom prst="round2SameRect">
              <a:avLst>
                <a:gd name="adj1" fmla="val 25000"/>
                <a:gd name="adj2" fmla="val 0"/>
              </a:avLst>
            </a:prstGeom>
            <a:solidFill>
              <a:srgbClr val="F261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8549640" y="137160"/>
              <a:ext cx="4480560" cy="3657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150" b="1" i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Contribution 2</a:t>
              </a:r>
              <a:r>
                <a:rPr sz="1150" b="1" i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  ·  Process-informed event labels</a:t>
              </a:r>
            </a:p>
          </p:txBody>
        </p:sp>
        <p:sp>
          <p:nvSpPr>
            <p:cNvPr id="173" name="Rounded Rectangle 172"/>
            <p:cNvSpPr/>
            <p:nvPr/>
          </p:nvSpPr>
          <p:spPr>
            <a:xfrm>
              <a:off x="8686800" y="594360"/>
              <a:ext cx="1965960" cy="777240"/>
            </a:xfrm>
            <a:prstGeom prst="roundRect">
              <a:avLst>
                <a:gd name="adj" fmla="val 7058"/>
              </a:avLst>
            </a:prstGeom>
            <a:solidFill>
              <a:srgbClr val="F2F2F2"/>
            </a:solidFill>
            <a:ln w="9525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8759952" y="621792"/>
              <a:ext cx="1874520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1" i="0">
                  <a:solidFill>
                    <a:srgbClr val="CB001C"/>
                  </a:solidFill>
                  <a:latin typeface="Segoe UI Symbol"/>
                  <a:ea typeface="Segoe UI Symbol"/>
                  <a:cs typeface="Segoe UI Symbol"/>
                </a:rPr>
                <a:t>✕ </a:t>
              </a:r>
              <a:r>
                <a:rPr sz="1000" b="1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Prior work</a:t>
              </a:r>
            </a:p>
          </p:txBody>
        </p:sp>
        <p:cxnSp>
          <p:nvCxnSpPr>
            <p:cNvPr id="175" name="Connector 174"/>
            <p:cNvCxnSpPr/>
            <p:nvPr/>
          </p:nvCxnSpPr>
          <p:spPr>
            <a:xfrm>
              <a:off x="8778240" y="987552"/>
              <a:ext cx="1783080" cy="0"/>
            </a:xfrm>
            <a:prstGeom prst="line">
              <a:avLst/>
            </a:prstGeom>
            <a:ln w="11430">
              <a:solidFill>
                <a:srgbClr val="CB001C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6" name="Freeform 175"/>
            <p:cNvSpPr/>
            <p:nvPr/>
          </p:nvSpPr>
          <p:spPr>
            <a:xfrm>
              <a:off x="8823960" y="937260"/>
              <a:ext cx="1691640" cy="146304"/>
            </a:xfrm>
            <a:custGeom>
              <a:avLst/>
              <a:gdLst/>
              <a:ahLst/>
              <a:cxnLst/>
              <a:rect l="l" t="t" r="r" b="b"/>
              <a:pathLst>
                <a:path w="1691640" h="146304">
                  <a:moveTo>
                    <a:pt x="0" y="82296"/>
                  </a:moveTo>
                  <a:lnTo>
                    <a:pt x="120831" y="137160"/>
                  </a:lnTo>
                  <a:lnTo>
                    <a:pt x="241663" y="9144"/>
                  </a:lnTo>
                  <a:lnTo>
                    <a:pt x="362494" y="137160"/>
                  </a:lnTo>
                  <a:lnTo>
                    <a:pt x="483326" y="100584"/>
                  </a:lnTo>
                  <a:lnTo>
                    <a:pt x="604157" y="128016"/>
                  </a:lnTo>
                  <a:lnTo>
                    <a:pt x="724989" y="82296"/>
                  </a:lnTo>
                  <a:lnTo>
                    <a:pt x="845820" y="0"/>
                  </a:lnTo>
                  <a:lnTo>
                    <a:pt x="966651" y="146304"/>
                  </a:lnTo>
                  <a:lnTo>
                    <a:pt x="1087483" y="91440"/>
                  </a:lnTo>
                  <a:lnTo>
                    <a:pt x="1208314" y="118872"/>
                  </a:lnTo>
                  <a:lnTo>
                    <a:pt x="1329146" y="82296"/>
                  </a:lnTo>
                  <a:lnTo>
                    <a:pt x="1449977" y="18288"/>
                  </a:lnTo>
                  <a:lnTo>
                    <a:pt x="1570809" y="137160"/>
                  </a:lnTo>
                  <a:lnTo>
                    <a:pt x="1691640" y="100584"/>
                  </a:lnTo>
                </a:path>
              </a:pathLst>
            </a:custGeom>
            <a:noFill/>
            <a:ln w="12700">
              <a:solidFill>
                <a:srgbClr val="8C8C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TextBox 176"/>
            <p:cNvSpPr txBox="1"/>
            <p:nvPr/>
          </p:nvSpPr>
          <p:spPr>
            <a:xfrm>
              <a:off x="9083911" y="873252"/>
              <a:ext cx="146304" cy="10972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00" b="1" i="0">
                  <a:solidFill>
                    <a:srgbClr val="CB001C"/>
                  </a:solidFill>
                  <a:latin typeface="Times New Roman"/>
                  <a:ea typeface="Times New Roman"/>
                  <a:cs typeface="Times New Roman"/>
                </a:rPr>
                <a:t>×</a:t>
              </a:r>
            </a:p>
          </p:txBody>
        </p:sp>
        <p:sp>
          <p:nvSpPr>
            <p:cNvPr id="178" name="TextBox 177"/>
            <p:cNvSpPr txBox="1"/>
            <p:nvPr/>
          </p:nvSpPr>
          <p:spPr>
            <a:xfrm>
              <a:off x="9688068" y="864108"/>
              <a:ext cx="146304" cy="10972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00" b="1" i="0">
                  <a:solidFill>
                    <a:srgbClr val="CB001C"/>
                  </a:solidFill>
                  <a:latin typeface="Times New Roman"/>
                  <a:ea typeface="Times New Roman"/>
                  <a:cs typeface="Times New Roman"/>
                </a:rPr>
                <a:t>×</a:t>
              </a:r>
            </a:p>
          </p:txBody>
        </p:sp>
        <p:sp>
          <p:nvSpPr>
            <p:cNvPr id="179" name="TextBox 178"/>
            <p:cNvSpPr txBox="1"/>
            <p:nvPr/>
          </p:nvSpPr>
          <p:spPr>
            <a:xfrm>
              <a:off x="10292225" y="882396"/>
              <a:ext cx="146304" cy="10972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00" b="1" i="0">
                  <a:solidFill>
                    <a:srgbClr val="CB001C"/>
                  </a:solidFill>
                  <a:latin typeface="Times New Roman"/>
                  <a:ea typeface="Times New Roman"/>
                  <a:cs typeface="Times New Roman"/>
                </a:rPr>
                <a:t>×</a:t>
              </a:r>
            </a:p>
          </p:txBody>
        </p:sp>
        <p:sp>
          <p:nvSpPr>
            <p:cNvPr id="180" name="TextBox 179"/>
            <p:cNvSpPr txBox="1"/>
            <p:nvPr/>
          </p:nvSpPr>
          <p:spPr>
            <a:xfrm>
              <a:off x="8732520" y="1161288"/>
              <a:ext cx="1874520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5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threshold spikes ≠ bottleneck</a:t>
              </a:r>
            </a:p>
          </p:txBody>
        </p:sp>
        <p:cxnSp>
          <p:nvCxnSpPr>
            <p:cNvPr id="181" name="Connector 180"/>
            <p:cNvCxnSpPr/>
            <p:nvPr/>
          </p:nvCxnSpPr>
          <p:spPr>
            <a:xfrm>
              <a:off x="10698480" y="982980"/>
              <a:ext cx="201168" cy="0"/>
            </a:xfrm>
            <a:prstGeom prst="line">
              <a:avLst/>
            </a:prstGeom>
            <a:ln w="19050">
              <a:solidFill>
                <a:srgbClr val="8C8C8C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Rounded Rectangle 181"/>
            <p:cNvSpPr/>
            <p:nvPr/>
          </p:nvSpPr>
          <p:spPr>
            <a:xfrm>
              <a:off x="10945368" y="594360"/>
              <a:ext cx="1920240" cy="777240"/>
            </a:xfrm>
            <a:prstGeom prst="roundRect">
              <a:avLst>
                <a:gd name="adj" fmla="val 7058"/>
              </a:avLst>
            </a:prstGeom>
            <a:solidFill>
              <a:srgbClr val="FFFFFF"/>
            </a:solidFill>
            <a:ln w="12700">
              <a:solidFill>
                <a:srgbClr val="F2612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11018520" y="621792"/>
              <a:ext cx="1828800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1" i="0">
                  <a:solidFill>
                    <a:srgbClr val="F26121"/>
                  </a:solidFill>
                  <a:latin typeface="Segoe UI Symbol"/>
                  <a:ea typeface="Segoe UI Symbol"/>
                  <a:cs typeface="Segoe UI Symbol"/>
                </a:rPr>
                <a:t>✓ </a:t>
              </a:r>
              <a:r>
                <a:rPr sz="1000" b="1" i="0">
                  <a:solidFill>
                    <a:srgbClr val="F26121"/>
                  </a:solidFill>
                  <a:latin typeface="Times New Roman"/>
                  <a:ea typeface="Times New Roman"/>
                  <a:cs typeface="Times New Roman"/>
                </a:rPr>
                <a:t>PHGST-DP</a:t>
              </a:r>
            </a:p>
          </p:txBody>
        </p:sp>
        <p:sp>
          <p:nvSpPr>
            <p:cNvPr id="184" name="Rectangle 183"/>
            <p:cNvSpPr/>
            <p:nvPr/>
          </p:nvSpPr>
          <p:spPr>
            <a:xfrm>
              <a:off x="11082528" y="946404"/>
              <a:ext cx="117566" cy="12801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5" name="Rectangle 184"/>
            <p:cNvSpPr/>
            <p:nvPr/>
          </p:nvSpPr>
          <p:spPr>
            <a:xfrm>
              <a:off x="11200094" y="946404"/>
              <a:ext cx="117566" cy="12801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6" name="Rectangle 185"/>
            <p:cNvSpPr/>
            <p:nvPr/>
          </p:nvSpPr>
          <p:spPr>
            <a:xfrm>
              <a:off x="11317659" y="946404"/>
              <a:ext cx="117566" cy="12801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7" name="Rectangle 186"/>
            <p:cNvSpPr/>
            <p:nvPr/>
          </p:nvSpPr>
          <p:spPr>
            <a:xfrm>
              <a:off x="11435225" y="946404"/>
              <a:ext cx="117566" cy="128016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8" name="Rectangle 187"/>
            <p:cNvSpPr/>
            <p:nvPr/>
          </p:nvSpPr>
          <p:spPr>
            <a:xfrm>
              <a:off x="11552791" y="946404"/>
              <a:ext cx="117566" cy="128016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9" name="Rectangle 188"/>
            <p:cNvSpPr/>
            <p:nvPr/>
          </p:nvSpPr>
          <p:spPr>
            <a:xfrm>
              <a:off x="11670357" y="946404"/>
              <a:ext cx="117566" cy="128016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0" name="Rectangle 189"/>
            <p:cNvSpPr/>
            <p:nvPr/>
          </p:nvSpPr>
          <p:spPr>
            <a:xfrm>
              <a:off x="11787922" y="946404"/>
              <a:ext cx="117566" cy="128016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1" name="Rectangle 190"/>
            <p:cNvSpPr/>
            <p:nvPr/>
          </p:nvSpPr>
          <p:spPr>
            <a:xfrm>
              <a:off x="11905488" y="946404"/>
              <a:ext cx="117566" cy="128016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2" name="Rectangle 191"/>
            <p:cNvSpPr/>
            <p:nvPr/>
          </p:nvSpPr>
          <p:spPr>
            <a:xfrm>
              <a:off x="12023054" y="946404"/>
              <a:ext cx="117566" cy="128016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3" name="Rectangle 192"/>
            <p:cNvSpPr/>
            <p:nvPr/>
          </p:nvSpPr>
          <p:spPr>
            <a:xfrm>
              <a:off x="12140619" y="946404"/>
              <a:ext cx="117566" cy="128016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Rectangle 193"/>
            <p:cNvSpPr/>
            <p:nvPr/>
          </p:nvSpPr>
          <p:spPr>
            <a:xfrm>
              <a:off x="12258185" y="946404"/>
              <a:ext cx="117566" cy="128016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Rectangle 194"/>
            <p:cNvSpPr/>
            <p:nvPr/>
          </p:nvSpPr>
          <p:spPr>
            <a:xfrm>
              <a:off x="12375751" y="946404"/>
              <a:ext cx="117566" cy="12801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6" name="Rectangle 195"/>
            <p:cNvSpPr/>
            <p:nvPr/>
          </p:nvSpPr>
          <p:spPr>
            <a:xfrm>
              <a:off x="12493317" y="946404"/>
              <a:ext cx="117566" cy="12801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Rectangle 196"/>
            <p:cNvSpPr/>
            <p:nvPr/>
          </p:nvSpPr>
          <p:spPr>
            <a:xfrm>
              <a:off x="12610882" y="946404"/>
              <a:ext cx="117566" cy="12801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8" name="TextBox 197"/>
            <p:cNvSpPr txBox="1"/>
            <p:nvPr/>
          </p:nvSpPr>
          <p:spPr>
            <a:xfrm>
              <a:off x="10991088" y="1161288"/>
              <a:ext cx="1828800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50" b="1" i="0">
                  <a:solidFill>
                    <a:srgbClr val="F26121"/>
                  </a:solidFill>
                  <a:latin typeface="Times New Roman"/>
                  <a:ea typeface="Times New Roman"/>
                  <a:cs typeface="Times New Roman"/>
                </a:rPr>
                <a:t>sustained events, 8-min rule</a:t>
              </a:r>
            </a:p>
          </p:txBody>
        </p:sp>
        <p:sp>
          <p:nvSpPr>
            <p:cNvPr id="199" name="Rounded Rectangle 198"/>
            <p:cNvSpPr/>
            <p:nvPr/>
          </p:nvSpPr>
          <p:spPr>
            <a:xfrm>
              <a:off x="8686800" y="1481328"/>
              <a:ext cx="1463040" cy="2176272"/>
            </a:xfrm>
            <a:prstGeom prst="roundRect">
              <a:avLst>
                <a:gd name="adj" fmla="val 3750"/>
              </a:avLst>
            </a:prstGeom>
            <a:solidFill>
              <a:srgbClr val="FFFFFF"/>
            </a:solidFill>
            <a:ln w="12700">
              <a:solidFill>
                <a:srgbClr val="FCB84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TextBox 199"/>
            <p:cNvSpPr txBox="1"/>
            <p:nvPr/>
          </p:nvSpPr>
          <p:spPr>
            <a:xfrm>
              <a:off x="8686800" y="1527048"/>
              <a:ext cx="1463040" cy="3657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1" i="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Short-pattern</a:t>
              </a:r>
            </a:p>
            <a:p>
              <a:pPr algn="ctr"/>
              <a:r>
                <a:rPr sz="1000" b="1" i="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clustering</a:t>
              </a:r>
            </a:p>
          </p:txBody>
        </p:sp>
        <p:sp>
          <p:nvSpPr>
            <p:cNvPr id="201" name="Oval 200"/>
            <p:cNvSpPr/>
            <p:nvPr/>
          </p:nvSpPr>
          <p:spPr>
            <a:xfrm>
              <a:off x="9215947" y="1979667"/>
              <a:ext cx="45720" cy="45720"/>
            </a:xfrm>
            <a:prstGeom prst="ellipse">
              <a:avLst/>
            </a:prstGeom>
            <a:solidFill>
              <a:srgbClr val="3D6E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2" name="Oval 201"/>
            <p:cNvSpPr/>
            <p:nvPr/>
          </p:nvSpPr>
          <p:spPr>
            <a:xfrm>
              <a:off x="9082396" y="2143263"/>
              <a:ext cx="45720" cy="45720"/>
            </a:xfrm>
            <a:prstGeom prst="ellipse">
              <a:avLst/>
            </a:prstGeom>
            <a:solidFill>
              <a:srgbClr val="3D6E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Oval 202"/>
            <p:cNvSpPr/>
            <p:nvPr/>
          </p:nvSpPr>
          <p:spPr>
            <a:xfrm>
              <a:off x="9010737" y="2172245"/>
              <a:ext cx="45720" cy="45720"/>
            </a:xfrm>
            <a:prstGeom prst="ellipse">
              <a:avLst/>
            </a:prstGeom>
            <a:solidFill>
              <a:srgbClr val="3D6E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4" name="Oval 203"/>
            <p:cNvSpPr/>
            <p:nvPr/>
          </p:nvSpPr>
          <p:spPr>
            <a:xfrm>
              <a:off x="8881751" y="2170901"/>
              <a:ext cx="45720" cy="45720"/>
            </a:xfrm>
            <a:prstGeom prst="ellipse">
              <a:avLst/>
            </a:prstGeom>
            <a:solidFill>
              <a:srgbClr val="3D6E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Oval 204"/>
            <p:cNvSpPr/>
            <p:nvPr/>
          </p:nvSpPr>
          <p:spPr>
            <a:xfrm>
              <a:off x="8976784" y="2463458"/>
              <a:ext cx="45720" cy="45720"/>
            </a:xfrm>
            <a:prstGeom prst="ellipse">
              <a:avLst/>
            </a:prstGeom>
            <a:solidFill>
              <a:srgbClr val="3D6E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Oval 205"/>
            <p:cNvSpPr/>
            <p:nvPr/>
          </p:nvSpPr>
          <p:spPr>
            <a:xfrm>
              <a:off x="9066569" y="2160968"/>
              <a:ext cx="45720" cy="45720"/>
            </a:xfrm>
            <a:prstGeom prst="ellipse">
              <a:avLst/>
            </a:prstGeom>
            <a:solidFill>
              <a:srgbClr val="3D6E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Oval 206"/>
            <p:cNvSpPr/>
            <p:nvPr/>
          </p:nvSpPr>
          <p:spPr>
            <a:xfrm>
              <a:off x="9024839" y="2135010"/>
              <a:ext cx="45720" cy="45720"/>
            </a:xfrm>
            <a:prstGeom prst="ellipse">
              <a:avLst/>
            </a:prstGeom>
            <a:solidFill>
              <a:srgbClr val="3D6E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Oval 207"/>
            <p:cNvSpPr/>
            <p:nvPr/>
          </p:nvSpPr>
          <p:spPr>
            <a:xfrm>
              <a:off x="8961153" y="2157827"/>
              <a:ext cx="45720" cy="45720"/>
            </a:xfrm>
            <a:prstGeom prst="ellipse">
              <a:avLst/>
            </a:prstGeom>
            <a:solidFill>
              <a:srgbClr val="3D6E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Oval 208"/>
            <p:cNvSpPr/>
            <p:nvPr/>
          </p:nvSpPr>
          <p:spPr>
            <a:xfrm>
              <a:off x="9087650" y="2170356"/>
              <a:ext cx="45720" cy="45720"/>
            </a:xfrm>
            <a:prstGeom prst="ellipse">
              <a:avLst/>
            </a:prstGeom>
            <a:solidFill>
              <a:srgbClr val="3D6E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0" name="Oval 209"/>
            <p:cNvSpPr/>
            <p:nvPr/>
          </p:nvSpPr>
          <p:spPr>
            <a:xfrm>
              <a:off x="9126808" y="2173545"/>
              <a:ext cx="45720" cy="45720"/>
            </a:xfrm>
            <a:prstGeom prst="ellipse">
              <a:avLst/>
            </a:prstGeom>
            <a:solidFill>
              <a:srgbClr val="3D6E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1" name="5-Point Star 210"/>
            <p:cNvSpPr/>
            <p:nvPr/>
          </p:nvSpPr>
          <p:spPr>
            <a:xfrm>
              <a:off x="9011412" y="2153412"/>
              <a:ext cx="118872" cy="118872"/>
            </a:xfrm>
            <a:prstGeom prst="star5">
              <a:avLst/>
            </a:prstGeom>
            <a:solidFill>
              <a:srgbClr val="3D6EB4"/>
            </a:solidFill>
            <a:ln w="6350">
              <a:solidFill>
                <a:srgbClr val="26262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2" name="Oval 211"/>
            <p:cNvSpPr/>
            <p:nvPr/>
          </p:nvSpPr>
          <p:spPr>
            <a:xfrm>
              <a:off x="9744928" y="2280627"/>
              <a:ext cx="45720" cy="45720"/>
            </a:xfrm>
            <a:prstGeom prst="ellipse">
              <a:avLst/>
            </a:prstGeom>
            <a:solidFill>
              <a:srgbClr val="5BA7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3" name="Oval 212"/>
            <p:cNvSpPr/>
            <p:nvPr/>
          </p:nvSpPr>
          <p:spPr>
            <a:xfrm>
              <a:off x="9787792" y="2111834"/>
              <a:ext cx="45720" cy="45720"/>
            </a:xfrm>
            <a:prstGeom prst="ellipse">
              <a:avLst/>
            </a:prstGeom>
            <a:solidFill>
              <a:srgbClr val="5BA7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4" name="Oval 213"/>
            <p:cNvSpPr/>
            <p:nvPr/>
          </p:nvSpPr>
          <p:spPr>
            <a:xfrm>
              <a:off x="9727885" y="2197895"/>
              <a:ext cx="45720" cy="45720"/>
            </a:xfrm>
            <a:prstGeom prst="ellipse">
              <a:avLst/>
            </a:prstGeom>
            <a:solidFill>
              <a:srgbClr val="5BA7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5" name="Oval 214"/>
            <p:cNvSpPr/>
            <p:nvPr/>
          </p:nvSpPr>
          <p:spPr>
            <a:xfrm>
              <a:off x="9902182" y="2131223"/>
              <a:ext cx="45720" cy="45720"/>
            </a:xfrm>
            <a:prstGeom prst="ellipse">
              <a:avLst/>
            </a:prstGeom>
            <a:solidFill>
              <a:srgbClr val="5BA7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6" name="Oval 215"/>
            <p:cNvSpPr/>
            <p:nvPr/>
          </p:nvSpPr>
          <p:spPr>
            <a:xfrm>
              <a:off x="9722888" y="2235898"/>
              <a:ext cx="45720" cy="45720"/>
            </a:xfrm>
            <a:prstGeom prst="ellipse">
              <a:avLst/>
            </a:prstGeom>
            <a:solidFill>
              <a:srgbClr val="5BA7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7" name="Oval 216"/>
            <p:cNvSpPr/>
            <p:nvPr/>
          </p:nvSpPr>
          <p:spPr>
            <a:xfrm>
              <a:off x="9669980" y="2129405"/>
              <a:ext cx="45720" cy="45720"/>
            </a:xfrm>
            <a:prstGeom prst="ellipse">
              <a:avLst/>
            </a:prstGeom>
            <a:solidFill>
              <a:srgbClr val="5BA7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8" name="Oval 217"/>
            <p:cNvSpPr/>
            <p:nvPr/>
          </p:nvSpPr>
          <p:spPr>
            <a:xfrm>
              <a:off x="9815561" y="2201172"/>
              <a:ext cx="45720" cy="45720"/>
            </a:xfrm>
            <a:prstGeom prst="ellipse">
              <a:avLst/>
            </a:prstGeom>
            <a:solidFill>
              <a:srgbClr val="5BA7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9" name="Oval 218"/>
            <p:cNvSpPr/>
            <p:nvPr/>
          </p:nvSpPr>
          <p:spPr>
            <a:xfrm>
              <a:off x="9750463" y="2208559"/>
              <a:ext cx="45720" cy="45720"/>
            </a:xfrm>
            <a:prstGeom prst="ellipse">
              <a:avLst/>
            </a:prstGeom>
            <a:solidFill>
              <a:srgbClr val="5BA7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0" name="Oval 219"/>
            <p:cNvSpPr/>
            <p:nvPr/>
          </p:nvSpPr>
          <p:spPr>
            <a:xfrm>
              <a:off x="9510186" y="2237461"/>
              <a:ext cx="45720" cy="45720"/>
            </a:xfrm>
            <a:prstGeom prst="ellipse">
              <a:avLst/>
            </a:prstGeom>
            <a:solidFill>
              <a:srgbClr val="5BA7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1" name="Oval 220"/>
            <p:cNvSpPr/>
            <p:nvPr/>
          </p:nvSpPr>
          <p:spPr>
            <a:xfrm>
              <a:off x="9663957" y="2016091"/>
              <a:ext cx="45720" cy="45720"/>
            </a:xfrm>
            <a:prstGeom prst="ellipse">
              <a:avLst/>
            </a:prstGeom>
            <a:solidFill>
              <a:srgbClr val="5BA7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2" name="5-Point Star 221"/>
            <p:cNvSpPr/>
            <p:nvPr/>
          </p:nvSpPr>
          <p:spPr>
            <a:xfrm>
              <a:off x="9706356" y="2116836"/>
              <a:ext cx="118872" cy="118872"/>
            </a:xfrm>
            <a:prstGeom prst="star5">
              <a:avLst/>
            </a:prstGeom>
            <a:solidFill>
              <a:srgbClr val="5BA7D9"/>
            </a:solidFill>
            <a:ln w="6350">
              <a:solidFill>
                <a:srgbClr val="26262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3" name="Oval 222"/>
            <p:cNvSpPr/>
            <p:nvPr/>
          </p:nvSpPr>
          <p:spPr>
            <a:xfrm>
              <a:off x="9125602" y="2851144"/>
              <a:ext cx="45720" cy="45720"/>
            </a:xfrm>
            <a:prstGeom prst="ellipse">
              <a:avLst/>
            </a:prstGeom>
            <a:solidFill>
              <a:srgbClr val="FCB8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4" name="Oval 223"/>
            <p:cNvSpPr/>
            <p:nvPr/>
          </p:nvSpPr>
          <p:spPr>
            <a:xfrm>
              <a:off x="9066249" y="2704908"/>
              <a:ext cx="45720" cy="45720"/>
            </a:xfrm>
            <a:prstGeom prst="ellipse">
              <a:avLst/>
            </a:prstGeom>
            <a:solidFill>
              <a:srgbClr val="FCB8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5" name="Oval 224"/>
            <p:cNvSpPr/>
            <p:nvPr/>
          </p:nvSpPr>
          <p:spPr>
            <a:xfrm>
              <a:off x="9105002" y="2789151"/>
              <a:ext cx="45720" cy="45720"/>
            </a:xfrm>
            <a:prstGeom prst="ellipse">
              <a:avLst/>
            </a:prstGeom>
            <a:solidFill>
              <a:srgbClr val="FCB8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6" name="Oval 225"/>
            <p:cNvSpPr/>
            <p:nvPr/>
          </p:nvSpPr>
          <p:spPr>
            <a:xfrm>
              <a:off x="9218527" y="2855001"/>
              <a:ext cx="45720" cy="45720"/>
            </a:xfrm>
            <a:prstGeom prst="ellipse">
              <a:avLst/>
            </a:prstGeom>
            <a:solidFill>
              <a:srgbClr val="FCB8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7" name="Oval 226"/>
            <p:cNvSpPr/>
            <p:nvPr/>
          </p:nvSpPr>
          <p:spPr>
            <a:xfrm>
              <a:off x="9118802" y="2884975"/>
              <a:ext cx="45720" cy="45720"/>
            </a:xfrm>
            <a:prstGeom prst="ellipse">
              <a:avLst/>
            </a:prstGeom>
            <a:solidFill>
              <a:srgbClr val="FCB8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8" name="Oval 227"/>
            <p:cNvSpPr/>
            <p:nvPr/>
          </p:nvSpPr>
          <p:spPr>
            <a:xfrm>
              <a:off x="9085938" y="2717294"/>
              <a:ext cx="45720" cy="45720"/>
            </a:xfrm>
            <a:prstGeom prst="ellipse">
              <a:avLst/>
            </a:prstGeom>
            <a:solidFill>
              <a:srgbClr val="FCB8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9" name="Oval 228"/>
            <p:cNvSpPr/>
            <p:nvPr/>
          </p:nvSpPr>
          <p:spPr>
            <a:xfrm>
              <a:off x="9150918" y="2841433"/>
              <a:ext cx="45720" cy="45720"/>
            </a:xfrm>
            <a:prstGeom prst="ellipse">
              <a:avLst/>
            </a:prstGeom>
            <a:solidFill>
              <a:srgbClr val="FCB8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0" name="Oval 229"/>
            <p:cNvSpPr/>
            <p:nvPr/>
          </p:nvSpPr>
          <p:spPr>
            <a:xfrm>
              <a:off x="9085172" y="2729070"/>
              <a:ext cx="45720" cy="45720"/>
            </a:xfrm>
            <a:prstGeom prst="ellipse">
              <a:avLst/>
            </a:prstGeom>
            <a:solidFill>
              <a:srgbClr val="FCB8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1" name="Oval 230"/>
            <p:cNvSpPr/>
            <p:nvPr/>
          </p:nvSpPr>
          <p:spPr>
            <a:xfrm>
              <a:off x="9121710" y="2588254"/>
              <a:ext cx="45720" cy="45720"/>
            </a:xfrm>
            <a:prstGeom prst="ellipse">
              <a:avLst/>
            </a:prstGeom>
            <a:solidFill>
              <a:srgbClr val="FCB8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2" name="Oval 231"/>
            <p:cNvSpPr/>
            <p:nvPr/>
          </p:nvSpPr>
          <p:spPr>
            <a:xfrm>
              <a:off x="9159647" y="2833930"/>
              <a:ext cx="45720" cy="45720"/>
            </a:xfrm>
            <a:prstGeom prst="ellipse">
              <a:avLst/>
            </a:prstGeom>
            <a:solidFill>
              <a:srgbClr val="FCB8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3" name="5-Point Star 232"/>
            <p:cNvSpPr/>
            <p:nvPr/>
          </p:nvSpPr>
          <p:spPr>
            <a:xfrm>
              <a:off x="9066276" y="2756916"/>
              <a:ext cx="118872" cy="118872"/>
            </a:xfrm>
            <a:prstGeom prst="star5">
              <a:avLst/>
            </a:prstGeom>
            <a:solidFill>
              <a:srgbClr val="FCB84D"/>
            </a:solidFill>
            <a:ln w="6350">
              <a:solidFill>
                <a:srgbClr val="26262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4" name="Oval 233"/>
            <p:cNvSpPr/>
            <p:nvPr/>
          </p:nvSpPr>
          <p:spPr>
            <a:xfrm>
              <a:off x="9626349" y="2835117"/>
              <a:ext cx="45720" cy="45720"/>
            </a:xfrm>
            <a:prstGeom prst="ellipse">
              <a:avLst/>
            </a:prstGeom>
            <a:solidFill>
              <a:srgbClr val="F261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5" name="Oval 234"/>
            <p:cNvSpPr/>
            <p:nvPr/>
          </p:nvSpPr>
          <p:spPr>
            <a:xfrm>
              <a:off x="9681878" y="2892384"/>
              <a:ext cx="45720" cy="45720"/>
            </a:xfrm>
            <a:prstGeom prst="ellipse">
              <a:avLst/>
            </a:prstGeom>
            <a:solidFill>
              <a:srgbClr val="F261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6" name="Oval 235"/>
            <p:cNvSpPr/>
            <p:nvPr/>
          </p:nvSpPr>
          <p:spPr>
            <a:xfrm>
              <a:off x="9593816" y="2754809"/>
              <a:ext cx="45720" cy="45720"/>
            </a:xfrm>
            <a:prstGeom prst="ellipse">
              <a:avLst/>
            </a:prstGeom>
            <a:solidFill>
              <a:srgbClr val="F261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7" name="Oval 236"/>
            <p:cNvSpPr/>
            <p:nvPr/>
          </p:nvSpPr>
          <p:spPr>
            <a:xfrm>
              <a:off x="9819616" y="2925235"/>
              <a:ext cx="45720" cy="45720"/>
            </a:xfrm>
            <a:prstGeom prst="ellipse">
              <a:avLst/>
            </a:prstGeom>
            <a:solidFill>
              <a:srgbClr val="F261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8" name="Oval 237"/>
            <p:cNvSpPr/>
            <p:nvPr/>
          </p:nvSpPr>
          <p:spPr>
            <a:xfrm>
              <a:off x="9583625" y="2789081"/>
              <a:ext cx="45720" cy="45720"/>
            </a:xfrm>
            <a:prstGeom prst="ellipse">
              <a:avLst/>
            </a:prstGeom>
            <a:solidFill>
              <a:srgbClr val="F261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9" name="Oval 238"/>
            <p:cNvSpPr/>
            <p:nvPr/>
          </p:nvSpPr>
          <p:spPr>
            <a:xfrm>
              <a:off x="9788215" y="2779932"/>
              <a:ext cx="45720" cy="45720"/>
            </a:xfrm>
            <a:prstGeom prst="ellipse">
              <a:avLst/>
            </a:prstGeom>
            <a:solidFill>
              <a:srgbClr val="F261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0" name="Oval 239"/>
            <p:cNvSpPr/>
            <p:nvPr/>
          </p:nvSpPr>
          <p:spPr>
            <a:xfrm>
              <a:off x="9892123" y="2732035"/>
              <a:ext cx="45720" cy="45720"/>
            </a:xfrm>
            <a:prstGeom prst="ellipse">
              <a:avLst/>
            </a:prstGeom>
            <a:solidFill>
              <a:srgbClr val="F261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1" name="Oval 240"/>
            <p:cNvSpPr/>
            <p:nvPr/>
          </p:nvSpPr>
          <p:spPr>
            <a:xfrm>
              <a:off x="9790397" y="2743788"/>
              <a:ext cx="45720" cy="45720"/>
            </a:xfrm>
            <a:prstGeom prst="ellipse">
              <a:avLst/>
            </a:prstGeom>
            <a:solidFill>
              <a:srgbClr val="F261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2" name="Oval 241"/>
            <p:cNvSpPr/>
            <p:nvPr/>
          </p:nvSpPr>
          <p:spPr>
            <a:xfrm>
              <a:off x="9876925" y="2828286"/>
              <a:ext cx="45720" cy="45720"/>
            </a:xfrm>
            <a:prstGeom prst="ellipse">
              <a:avLst/>
            </a:prstGeom>
            <a:solidFill>
              <a:srgbClr val="F261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3" name="Oval 242"/>
            <p:cNvSpPr/>
            <p:nvPr/>
          </p:nvSpPr>
          <p:spPr>
            <a:xfrm>
              <a:off x="9730585" y="2688668"/>
              <a:ext cx="45720" cy="45720"/>
            </a:xfrm>
            <a:prstGeom prst="ellipse">
              <a:avLst/>
            </a:prstGeom>
            <a:solidFill>
              <a:srgbClr val="F261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4" name="5-Point Star 243"/>
            <p:cNvSpPr/>
            <p:nvPr/>
          </p:nvSpPr>
          <p:spPr>
            <a:xfrm>
              <a:off x="9724644" y="2793492"/>
              <a:ext cx="118872" cy="118872"/>
            </a:xfrm>
            <a:prstGeom prst="star5">
              <a:avLst/>
            </a:prstGeom>
            <a:solidFill>
              <a:srgbClr val="F26121"/>
            </a:solidFill>
            <a:ln w="6350">
              <a:solidFill>
                <a:srgbClr val="26262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5" name="TextBox 244"/>
            <p:cNvSpPr txBox="1"/>
            <p:nvPr/>
          </p:nvSpPr>
          <p:spPr>
            <a:xfrm>
              <a:off x="8686800" y="3127248"/>
              <a:ext cx="1463040" cy="20116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50" b="0" i="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16 pattern keys K</a:t>
              </a:r>
              <a:r>
                <a:rPr sz="950" b="0" i="0" baseline="3000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P</a:t>
              </a:r>
            </a:p>
          </p:txBody>
        </p:sp>
        <p:sp>
          <p:nvSpPr>
            <p:cNvPr id="246" name="TextBox 245"/>
            <p:cNvSpPr txBox="1"/>
            <p:nvPr/>
          </p:nvSpPr>
          <p:spPr>
            <a:xfrm>
              <a:off x="8686800" y="3328416"/>
              <a:ext cx="1463040" cy="20116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00" b="0" i="1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regimes, not labels</a:t>
              </a:r>
            </a:p>
          </p:txBody>
        </p:sp>
        <p:sp>
          <p:nvSpPr>
            <p:cNvPr id="247" name="TextBox 246"/>
            <p:cNvSpPr txBox="1"/>
            <p:nvPr/>
          </p:nvSpPr>
          <p:spPr>
            <a:xfrm>
              <a:off x="10332720" y="1463040"/>
              <a:ext cx="2560320" cy="20116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1" i="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Type-specific rule </a:t>
              </a:r>
              <a:r>
                <a:rPr sz="1000" b="0" i="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b</a:t>
              </a:r>
              <a:r>
                <a:rPr sz="1000" b="0" i="0" baseline="3000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raw</a:t>
              </a:r>
            </a:p>
          </p:txBody>
        </p:sp>
        <p:sp>
          <p:nvSpPr>
            <p:cNvPr id="248" name="Rectangle 247"/>
            <p:cNvSpPr/>
            <p:nvPr/>
          </p:nvSpPr>
          <p:spPr>
            <a:xfrm>
              <a:off x="10332720" y="1700784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9" name="Rectangle 248"/>
            <p:cNvSpPr/>
            <p:nvPr/>
          </p:nvSpPr>
          <p:spPr>
            <a:xfrm>
              <a:off x="10460736" y="1700784"/>
              <a:ext cx="128016" cy="137160"/>
            </a:xfrm>
            <a:prstGeom prst="rect">
              <a:avLst/>
            </a:prstGeom>
            <a:solidFill>
              <a:srgbClr val="FCB84D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0" name="Rectangle 249"/>
            <p:cNvSpPr/>
            <p:nvPr/>
          </p:nvSpPr>
          <p:spPr>
            <a:xfrm>
              <a:off x="10588752" y="1700784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1" name="Rectangle 250"/>
            <p:cNvSpPr/>
            <p:nvPr/>
          </p:nvSpPr>
          <p:spPr>
            <a:xfrm>
              <a:off x="10716768" y="1700784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2" name="Rectangle 251"/>
            <p:cNvSpPr/>
            <p:nvPr/>
          </p:nvSpPr>
          <p:spPr>
            <a:xfrm>
              <a:off x="10844784" y="1700784"/>
              <a:ext cx="128016" cy="137160"/>
            </a:xfrm>
            <a:prstGeom prst="rect">
              <a:avLst/>
            </a:prstGeom>
            <a:solidFill>
              <a:srgbClr val="FCB84D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3" name="Rectangle 252"/>
            <p:cNvSpPr/>
            <p:nvPr/>
          </p:nvSpPr>
          <p:spPr>
            <a:xfrm>
              <a:off x="10972800" y="1700784"/>
              <a:ext cx="128016" cy="137160"/>
            </a:xfrm>
            <a:prstGeom prst="rect">
              <a:avLst/>
            </a:prstGeom>
            <a:solidFill>
              <a:srgbClr val="FCB84D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4" name="Rectangle 253"/>
            <p:cNvSpPr/>
            <p:nvPr/>
          </p:nvSpPr>
          <p:spPr>
            <a:xfrm>
              <a:off x="11100816" y="1700784"/>
              <a:ext cx="128016" cy="137160"/>
            </a:xfrm>
            <a:prstGeom prst="rect">
              <a:avLst/>
            </a:prstGeom>
            <a:solidFill>
              <a:srgbClr val="FCB84D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5" name="Rectangle 254"/>
            <p:cNvSpPr/>
            <p:nvPr/>
          </p:nvSpPr>
          <p:spPr>
            <a:xfrm>
              <a:off x="11228832" y="1700784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6" name="Rectangle 255"/>
            <p:cNvSpPr/>
            <p:nvPr/>
          </p:nvSpPr>
          <p:spPr>
            <a:xfrm>
              <a:off x="11356848" y="1700784"/>
              <a:ext cx="128016" cy="137160"/>
            </a:xfrm>
            <a:prstGeom prst="rect">
              <a:avLst/>
            </a:prstGeom>
            <a:solidFill>
              <a:srgbClr val="FCB84D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7" name="Rectangle 256"/>
            <p:cNvSpPr/>
            <p:nvPr/>
          </p:nvSpPr>
          <p:spPr>
            <a:xfrm>
              <a:off x="11484864" y="1700784"/>
              <a:ext cx="128016" cy="137160"/>
            </a:xfrm>
            <a:prstGeom prst="rect">
              <a:avLst/>
            </a:prstGeom>
            <a:solidFill>
              <a:srgbClr val="FCB84D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8" name="Rectangle 257"/>
            <p:cNvSpPr/>
            <p:nvPr/>
          </p:nvSpPr>
          <p:spPr>
            <a:xfrm>
              <a:off x="11612880" y="1700784"/>
              <a:ext cx="128016" cy="137160"/>
            </a:xfrm>
            <a:prstGeom prst="rect">
              <a:avLst/>
            </a:prstGeom>
            <a:solidFill>
              <a:srgbClr val="FCB84D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9" name="Rectangle 258"/>
            <p:cNvSpPr/>
            <p:nvPr/>
          </p:nvSpPr>
          <p:spPr>
            <a:xfrm>
              <a:off x="11740896" y="1700784"/>
              <a:ext cx="128016" cy="137160"/>
            </a:xfrm>
            <a:prstGeom prst="rect">
              <a:avLst/>
            </a:prstGeom>
            <a:solidFill>
              <a:srgbClr val="FCB84D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0" name="Rectangle 259"/>
            <p:cNvSpPr/>
            <p:nvPr/>
          </p:nvSpPr>
          <p:spPr>
            <a:xfrm>
              <a:off x="11868912" y="1700784"/>
              <a:ext cx="128016" cy="137160"/>
            </a:xfrm>
            <a:prstGeom prst="rect">
              <a:avLst/>
            </a:prstGeom>
            <a:solidFill>
              <a:srgbClr val="FCB84D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1" name="Rectangle 260"/>
            <p:cNvSpPr/>
            <p:nvPr/>
          </p:nvSpPr>
          <p:spPr>
            <a:xfrm>
              <a:off x="11996928" y="1700784"/>
              <a:ext cx="128016" cy="137160"/>
            </a:xfrm>
            <a:prstGeom prst="rect">
              <a:avLst/>
            </a:prstGeom>
            <a:solidFill>
              <a:srgbClr val="FCB84D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2" name="Rectangle 261"/>
            <p:cNvSpPr/>
            <p:nvPr/>
          </p:nvSpPr>
          <p:spPr>
            <a:xfrm>
              <a:off x="12124944" y="1700784"/>
              <a:ext cx="128016" cy="137160"/>
            </a:xfrm>
            <a:prstGeom prst="rect">
              <a:avLst/>
            </a:prstGeom>
            <a:solidFill>
              <a:srgbClr val="FCB84D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3" name="Rectangle 262"/>
            <p:cNvSpPr/>
            <p:nvPr/>
          </p:nvSpPr>
          <p:spPr>
            <a:xfrm>
              <a:off x="12252960" y="1700784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4" name="Rectangle 263"/>
            <p:cNvSpPr/>
            <p:nvPr/>
          </p:nvSpPr>
          <p:spPr>
            <a:xfrm>
              <a:off x="12380976" y="1700784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5" name="Rectangle 264"/>
            <p:cNvSpPr/>
            <p:nvPr/>
          </p:nvSpPr>
          <p:spPr>
            <a:xfrm>
              <a:off x="12508992" y="1700784"/>
              <a:ext cx="128016" cy="137160"/>
            </a:xfrm>
            <a:prstGeom prst="rect">
              <a:avLst/>
            </a:prstGeom>
            <a:solidFill>
              <a:srgbClr val="FCB84D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6" name="Rectangle 265"/>
            <p:cNvSpPr/>
            <p:nvPr/>
          </p:nvSpPr>
          <p:spPr>
            <a:xfrm>
              <a:off x="12637008" y="1700784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7" name="Rectangle 266"/>
            <p:cNvSpPr/>
            <p:nvPr/>
          </p:nvSpPr>
          <p:spPr>
            <a:xfrm>
              <a:off x="12765024" y="1700784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68" name="Connector 267"/>
            <p:cNvCxnSpPr/>
            <p:nvPr/>
          </p:nvCxnSpPr>
          <p:spPr>
            <a:xfrm>
              <a:off x="11612880" y="1865376"/>
              <a:ext cx="0" cy="201168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9" name="TextBox 268"/>
            <p:cNvSpPr txBox="1"/>
            <p:nvPr/>
          </p:nvSpPr>
          <p:spPr>
            <a:xfrm>
              <a:off x="10332720" y="1874520"/>
              <a:ext cx="1207008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95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persistence</a:t>
              </a:r>
            </a:p>
          </p:txBody>
        </p:sp>
        <p:sp>
          <p:nvSpPr>
            <p:cNvPr id="270" name="TextBox 269"/>
            <p:cNvSpPr txBox="1"/>
            <p:nvPr/>
          </p:nvSpPr>
          <p:spPr>
            <a:xfrm>
              <a:off x="11704320" y="1874520"/>
              <a:ext cx="1188720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m = 8,  g = 1</a:t>
              </a:r>
            </a:p>
          </p:txBody>
        </p:sp>
        <p:sp>
          <p:nvSpPr>
            <p:cNvPr id="271" name="Rectangle 270"/>
            <p:cNvSpPr/>
            <p:nvPr/>
          </p:nvSpPr>
          <p:spPr>
            <a:xfrm>
              <a:off x="10332720" y="2093976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2" name="Rectangle 271"/>
            <p:cNvSpPr/>
            <p:nvPr/>
          </p:nvSpPr>
          <p:spPr>
            <a:xfrm>
              <a:off x="10460736" y="2093976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3" name="Rectangle 272"/>
            <p:cNvSpPr/>
            <p:nvPr/>
          </p:nvSpPr>
          <p:spPr>
            <a:xfrm>
              <a:off x="10588752" y="2093976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4" name="Rectangle 273"/>
            <p:cNvSpPr/>
            <p:nvPr/>
          </p:nvSpPr>
          <p:spPr>
            <a:xfrm>
              <a:off x="10716768" y="2093976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5" name="Rectangle 274"/>
            <p:cNvSpPr/>
            <p:nvPr/>
          </p:nvSpPr>
          <p:spPr>
            <a:xfrm>
              <a:off x="10844784" y="2093976"/>
              <a:ext cx="128016" cy="137160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6" name="Rectangle 275"/>
            <p:cNvSpPr/>
            <p:nvPr/>
          </p:nvSpPr>
          <p:spPr>
            <a:xfrm>
              <a:off x="10972800" y="2093976"/>
              <a:ext cx="128016" cy="137160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7" name="Rectangle 276"/>
            <p:cNvSpPr/>
            <p:nvPr/>
          </p:nvSpPr>
          <p:spPr>
            <a:xfrm>
              <a:off x="11100816" y="2093976"/>
              <a:ext cx="128016" cy="137160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8" name="Rectangle 277"/>
            <p:cNvSpPr/>
            <p:nvPr/>
          </p:nvSpPr>
          <p:spPr>
            <a:xfrm>
              <a:off x="11228832" y="2093976"/>
              <a:ext cx="128016" cy="137160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9" name="Rectangle 278"/>
            <p:cNvSpPr/>
            <p:nvPr/>
          </p:nvSpPr>
          <p:spPr>
            <a:xfrm>
              <a:off x="11356848" y="2093976"/>
              <a:ext cx="128016" cy="137160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0" name="Rectangle 279"/>
            <p:cNvSpPr/>
            <p:nvPr/>
          </p:nvSpPr>
          <p:spPr>
            <a:xfrm>
              <a:off x="11484864" y="2093976"/>
              <a:ext cx="128016" cy="137160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1" name="Rectangle 280"/>
            <p:cNvSpPr/>
            <p:nvPr/>
          </p:nvSpPr>
          <p:spPr>
            <a:xfrm>
              <a:off x="11612880" y="2093976"/>
              <a:ext cx="128016" cy="137160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2" name="Rectangle 281"/>
            <p:cNvSpPr/>
            <p:nvPr/>
          </p:nvSpPr>
          <p:spPr>
            <a:xfrm>
              <a:off x="11740896" y="2093976"/>
              <a:ext cx="128016" cy="137160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3" name="Rectangle 282"/>
            <p:cNvSpPr/>
            <p:nvPr/>
          </p:nvSpPr>
          <p:spPr>
            <a:xfrm>
              <a:off x="11868912" y="2093976"/>
              <a:ext cx="128016" cy="137160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4" name="Rectangle 283"/>
            <p:cNvSpPr/>
            <p:nvPr/>
          </p:nvSpPr>
          <p:spPr>
            <a:xfrm>
              <a:off x="11996928" y="2093976"/>
              <a:ext cx="128016" cy="137160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5" name="Rectangle 284"/>
            <p:cNvSpPr/>
            <p:nvPr/>
          </p:nvSpPr>
          <p:spPr>
            <a:xfrm>
              <a:off x="12124944" y="2093976"/>
              <a:ext cx="128016" cy="137160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6" name="Rectangle 285"/>
            <p:cNvSpPr/>
            <p:nvPr/>
          </p:nvSpPr>
          <p:spPr>
            <a:xfrm>
              <a:off x="12252960" y="2093976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7" name="Rectangle 286"/>
            <p:cNvSpPr/>
            <p:nvPr/>
          </p:nvSpPr>
          <p:spPr>
            <a:xfrm>
              <a:off x="12380976" y="2093976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8" name="Rectangle 287"/>
            <p:cNvSpPr/>
            <p:nvPr/>
          </p:nvSpPr>
          <p:spPr>
            <a:xfrm>
              <a:off x="12508992" y="2093976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9" name="Rectangle 288"/>
            <p:cNvSpPr/>
            <p:nvPr/>
          </p:nvSpPr>
          <p:spPr>
            <a:xfrm>
              <a:off x="12637008" y="2093976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0" name="Rectangle 289"/>
            <p:cNvSpPr/>
            <p:nvPr/>
          </p:nvSpPr>
          <p:spPr>
            <a:xfrm>
              <a:off x="12765024" y="2093976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1" name="TextBox 290"/>
            <p:cNvSpPr txBox="1"/>
            <p:nvPr/>
          </p:nvSpPr>
          <p:spPr>
            <a:xfrm>
              <a:off x="10332720" y="2313432"/>
              <a:ext cx="2560320" cy="20116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1" i="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Event target </a:t>
              </a:r>
              <a:r>
                <a:rPr sz="1000" b="0" i="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(w, s, d)</a:t>
              </a:r>
            </a:p>
          </p:txBody>
        </p:sp>
        <p:sp>
          <p:nvSpPr>
            <p:cNvPr id="292" name="Rectangle 291"/>
            <p:cNvSpPr/>
            <p:nvPr/>
          </p:nvSpPr>
          <p:spPr>
            <a:xfrm>
              <a:off x="10332720" y="2551176"/>
              <a:ext cx="128016" cy="137160"/>
            </a:xfrm>
            <a:prstGeom prst="rect">
              <a:avLst/>
            </a:prstGeom>
            <a:solidFill>
              <a:srgbClr val="E6E6E6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3" name="Rectangle 292"/>
            <p:cNvSpPr/>
            <p:nvPr/>
          </p:nvSpPr>
          <p:spPr>
            <a:xfrm>
              <a:off x="10460736" y="2551176"/>
              <a:ext cx="128016" cy="137160"/>
            </a:xfrm>
            <a:prstGeom prst="rect">
              <a:avLst/>
            </a:prstGeom>
            <a:solidFill>
              <a:srgbClr val="E6E6E6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4" name="Rectangle 293"/>
            <p:cNvSpPr/>
            <p:nvPr/>
          </p:nvSpPr>
          <p:spPr>
            <a:xfrm>
              <a:off x="10588752" y="2551176"/>
              <a:ext cx="128016" cy="137160"/>
            </a:xfrm>
            <a:prstGeom prst="rect">
              <a:avLst/>
            </a:prstGeom>
            <a:solidFill>
              <a:srgbClr val="E6E6E6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5" name="Rectangle 294"/>
            <p:cNvSpPr/>
            <p:nvPr/>
          </p:nvSpPr>
          <p:spPr>
            <a:xfrm>
              <a:off x="10716768" y="2551176"/>
              <a:ext cx="128016" cy="137160"/>
            </a:xfrm>
            <a:prstGeom prst="rect">
              <a:avLst/>
            </a:prstGeom>
            <a:solidFill>
              <a:srgbClr val="E6E6E6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6" name="Rectangle 295"/>
            <p:cNvSpPr/>
            <p:nvPr/>
          </p:nvSpPr>
          <p:spPr>
            <a:xfrm>
              <a:off x="10844784" y="2551176"/>
              <a:ext cx="128016" cy="137160"/>
            </a:xfrm>
            <a:prstGeom prst="rect">
              <a:avLst/>
            </a:prstGeom>
            <a:solidFill>
              <a:srgbClr val="E6E6E6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7" name="Rectangle 296"/>
            <p:cNvSpPr/>
            <p:nvPr/>
          </p:nvSpPr>
          <p:spPr>
            <a:xfrm>
              <a:off x="10972800" y="2551176"/>
              <a:ext cx="128016" cy="137160"/>
            </a:xfrm>
            <a:prstGeom prst="rect">
              <a:avLst/>
            </a:prstGeom>
            <a:solidFill>
              <a:srgbClr val="E6E6E6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8" name="Rectangle 297"/>
            <p:cNvSpPr/>
            <p:nvPr/>
          </p:nvSpPr>
          <p:spPr>
            <a:xfrm>
              <a:off x="11100816" y="2551176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9" name="Rectangle 298"/>
            <p:cNvSpPr/>
            <p:nvPr/>
          </p:nvSpPr>
          <p:spPr>
            <a:xfrm>
              <a:off x="11228832" y="2551176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0" name="Rectangle 299"/>
            <p:cNvSpPr/>
            <p:nvPr/>
          </p:nvSpPr>
          <p:spPr>
            <a:xfrm>
              <a:off x="11356848" y="2551176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1" name="Rectangle 300"/>
            <p:cNvSpPr/>
            <p:nvPr/>
          </p:nvSpPr>
          <p:spPr>
            <a:xfrm>
              <a:off x="11484864" y="2551176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2" name="Rectangle 301"/>
            <p:cNvSpPr/>
            <p:nvPr/>
          </p:nvSpPr>
          <p:spPr>
            <a:xfrm>
              <a:off x="11612880" y="2551176"/>
              <a:ext cx="128016" cy="137160"/>
            </a:xfrm>
            <a:prstGeom prst="rect">
              <a:avLst/>
            </a:prstGeom>
            <a:solidFill>
              <a:srgbClr val="CB001C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3" name="Rectangle 302"/>
            <p:cNvSpPr/>
            <p:nvPr/>
          </p:nvSpPr>
          <p:spPr>
            <a:xfrm>
              <a:off x="11740896" y="2551176"/>
              <a:ext cx="128016" cy="137160"/>
            </a:xfrm>
            <a:prstGeom prst="rect">
              <a:avLst/>
            </a:prstGeom>
            <a:solidFill>
              <a:srgbClr val="CB001C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4" name="Rectangle 303"/>
            <p:cNvSpPr/>
            <p:nvPr/>
          </p:nvSpPr>
          <p:spPr>
            <a:xfrm>
              <a:off x="11868912" y="2551176"/>
              <a:ext cx="128016" cy="137160"/>
            </a:xfrm>
            <a:prstGeom prst="rect">
              <a:avLst/>
            </a:prstGeom>
            <a:solidFill>
              <a:srgbClr val="CB001C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5" name="Rectangle 304"/>
            <p:cNvSpPr/>
            <p:nvPr/>
          </p:nvSpPr>
          <p:spPr>
            <a:xfrm>
              <a:off x="11996928" y="2551176"/>
              <a:ext cx="128016" cy="137160"/>
            </a:xfrm>
            <a:prstGeom prst="rect">
              <a:avLst/>
            </a:prstGeom>
            <a:solidFill>
              <a:srgbClr val="CB001C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6" name="Rectangle 305"/>
            <p:cNvSpPr/>
            <p:nvPr/>
          </p:nvSpPr>
          <p:spPr>
            <a:xfrm>
              <a:off x="12124944" y="2551176"/>
              <a:ext cx="128016" cy="137160"/>
            </a:xfrm>
            <a:prstGeom prst="rect">
              <a:avLst/>
            </a:prstGeom>
            <a:solidFill>
              <a:srgbClr val="CB001C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7" name="Rectangle 306"/>
            <p:cNvSpPr/>
            <p:nvPr/>
          </p:nvSpPr>
          <p:spPr>
            <a:xfrm>
              <a:off x="12252960" y="2551176"/>
              <a:ext cx="128016" cy="137160"/>
            </a:xfrm>
            <a:prstGeom prst="rect">
              <a:avLst/>
            </a:prstGeom>
            <a:solidFill>
              <a:srgbClr val="CB001C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8" name="Rectangle 307"/>
            <p:cNvSpPr/>
            <p:nvPr/>
          </p:nvSpPr>
          <p:spPr>
            <a:xfrm>
              <a:off x="12380976" y="2551176"/>
              <a:ext cx="128016" cy="137160"/>
            </a:xfrm>
            <a:prstGeom prst="rect">
              <a:avLst/>
            </a:prstGeom>
            <a:solidFill>
              <a:srgbClr val="CB001C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9" name="Rectangle 308"/>
            <p:cNvSpPr/>
            <p:nvPr/>
          </p:nvSpPr>
          <p:spPr>
            <a:xfrm>
              <a:off x="12508992" y="2551176"/>
              <a:ext cx="128016" cy="137160"/>
            </a:xfrm>
            <a:prstGeom prst="rect">
              <a:avLst/>
            </a:prstGeom>
            <a:solidFill>
              <a:srgbClr val="CB001C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0" name="Rectangle 309"/>
            <p:cNvSpPr/>
            <p:nvPr/>
          </p:nvSpPr>
          <p:spPr>
            <a:xfrm>
              <a:off x="12637008" y="2551176"/>
              <a:ext cx="128016" cy="137160"/>
            </a:xfrm>
            <a:prstGeom prst="rect">
              <a:avLst/>
            </a:prstGeom>
            <a:solidFill>
              <a:srgbClr val="CB001C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1" name="Rectangle 310"/>
            <p:cNvSpPr/>
            <p:nvPr/>
          </p:nvSpPr>
          <p:spPr>
            <a:xfrm>
              <a:off x="12765024" y="2551176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12" name="Connector 311"/>
            <p:cNvCxnSpPr/>
            <p:nvPr/>
          </p:nvCxnSpPr>
          <p:spPr>
            <a:xfrm>
              <a:off x="11100816" y="2496312"/>
              <a:ext cx="0" cy="246888"/>
            </a:xfrm>
            <a:prstGeom prst="line">
              <a:avLst/>
            </a:prstGeom>
            <a:ln w="12700">
              <a:solidFill>
                <a:srgbClr val="26262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3" name="TextBox 312"/>
            <p:cNvSpPr txBox="1"/>
            <p:nvPr/>
          </p:nvSpPr>
          <p:spPr>
            <a:xfrm>
              <a:off x="10332720" y="2724912"/>
              <a:ext cx="768096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5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history</a:t>
              </a:r>
            </a:p>
          </p:txBody>
        </p:sp>
        <p:sp>
          <p:nvSpPr>
            <p:cNvPr id="314" name="Freeform 313"/>
            <p:cNvSpPr/>
            <p:nvPr/>
          </p:nvSpPr>
          <p:spPr>
            <a:xfrm>
              <a:off x="11100816" y="2743200"/>
              <a:ext cx="512064" cy="36576"/>
            </a:xfrm>
            <a:custGeom>
              <a:avLst/>
              <a:gdLst/>
              <a:ahLst/>
              <a:cxnLst/>
              <a:rect l="l" t="t" r="r" b="b"/>
              <a:pathLst>
                <a:path w="512064" h="36576">
                  <a:moveTo>
                    <a:pt x="0" y="0"/>
                  </a:moveTo>
                  <a:lnTo>
                    <a:pt x="0" y="36576"/>
                  </a:lnTo>
                  <a:lnTo>
                    <a:pt x="512064" y="36576"/>
                  </a:lnTo>
                  <a:lnTo>
                    <a:pt x="512064" y="0"/>
                  </a:lnTo>
                </a:path>
              </a:pathLst>
            </a:custGeom>
            <a:noFill/>
            <a:ln w="11430">
              <a:solidFill>
                <a:srgbClr val="CB00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5" name="TextBox 314"/>
            <p:cNvSpPr txBox="1"/>
            <p:nvPr/>
          </p:nvSpPr>
          <p:spPr>
            <a:xfrm>
              <a:off x="11100816" y="2788920"/>
              <a:ext cx="512064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000" b="1" i="0">
                  <a:solidFill>
                    <a:srgbClr val="CB001C"/>
                  </a:solidFill>
                  <a:latin typeface="Times New Roman"/>
                  <a:ea typeface="Times New Roman"/>
                  <a:cs typeface="Times New Roman"/>
                </a:rPr>
                <a:t>s</a:t>
              </a:r>
            </a:p>
          </p:txBody>
        </p:sp>
        <p:sp>
          <p:nvSpPr>
            <p:cNvPr id="316" name="Freeform 315"/>
            <p:cNvSpPr/>
            <p:nvPr/>
          </p:nvSpPr>
          <p:spPr>
            <a:xfrm>
              <a:off x="11612880" y="2743200"/>
              <a:ext cx="1152144" cy="36576"/>
            </a:xfrm>
            <a:custGeom>
              <a:avLst/>
              <a:gdLst/>
              <a:ahLst/>
              <a:cxnLst/>
              <a:rect l="l" t="t" r="r" b="b"/>
              <a:pathLst>
                <a:path w="1152144" h="36576">
                  <a:moveTo>
                    <a:pt x="0" y="0"/>
                  </a:moveTo>
                  <a:lnTo>
                    <a:pt x="0" y="36576"/>
                  </a:lnTo>
                  <a:lnTo>
                    <a:pt x="1152144" y="36576"/>
                  </a:lnTo>
                  <a:lnTo>
                    <a:pt x="1152144" y="0"/>
                  </a:lnTo>
                </a:path>
              </a:pathLst>
            </a:custGeom>
            <a:noFill/>
            <a:ln w="11430">
              <a:solidFill>
                <a:srgbClr val="CB00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7" name="TextBox 316"/>
            <p:cNvSpPr txBox="1"/>
            <p:nvPr/>
          </p:nvSpPr>
          <p:spPr>
            <a:xfrm>
              <a:off x="11612880" y="2788920"/>
              <a:ext cx="1152144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000" b="1" i="0">
                  <a:solidFill>
                    <a:srgbClr val="CB001C"/>
                  </a:solidFill>
                  <a:latin typeface="Times New Roman"/>
                  <a:ea typeface="Times New Roman"/>
                  <a:cs typeface="Times New Roman"/>
                </a:rPr>
                <a:t>d</a:t>
              </a:r>
            </a:p>
          </p:txBody>
        </p:sp>
        <p:sp>
          <p:nvSpPr>
            <p:cNvPr id="318" name="TextBox 317"/>
            <p:cNvSpPr txBox="1"/>
            <p:nvPr/>
          </p:nvSpPr>
          <p:spPr>
            <a:xfrm>
              <a:off x="10332720" y="3044952"/>
              <a:ext cx="2560320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ongoing: hot at history end</a:t>
              </a:r>
            </a:p>
          </p:txBody>
        </p:sp>
        <p:sp>
          <p:nvSpPr>
            <p:cNvPr id="319" name="TextBox 318"/>
            <p:cNvSpPr txBox="1"/>
            <p:nvPr/>
          </p:nvSpPr>
          <p:spPr>
            <a:xfrm>
              <a:off x="10332720" y="3227832"/>
              <a:ext cx="2560320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upcoming: s &gt; 0,  d ≥ 8 min</a:t>
              </a:r>
            </a:p>
          </p:txBody>
        </p:sp>
        <p:sp>
          <p:nvSpPr>
            <p:cNvPr id="320" name="TextBox 319"/>
            <p:cNvSpPr txBox="1"/>
            <p:nvPr/>
          </p:nvSpPr>
          <p:spPr>
            <a:xfrm>
              <a:off x="10332720" y="3456432"/>
              <a:ext cx="2560320" cy="384048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5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+ cause: transport · shortage ·</a:t>
              </a:r>
            </a:p>
            <a:p>
              <a:pPr algn="l"/>
              <a:r>
                <a:rPr sz="95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   starvation · queue buildup</a:t>
              </a:r>
            </a:p>
          </p:txBody>
        </p:sp>
      </p:grpSp>
      <p:grpSp>
        <p:nvGrpSpPr>
          <p:cNvPr id="321" name="Group 320"/>
          <p:cNvGrpSpPr/>
          <p:nvPr/>
        </p:nvGrpSpPr>
        <p:grpSpPr>
          <a:xfrm>
            <a:off x="137160" y="4480560"/>
            <a:ext cx="10332720" cy="3611880"/>
            <a:chOff x="137160" y="4480560"/>
            <a:chExt cx="10332720" cy="3611880"/>
          </a:xfrm>
        </p:grpSpPr>
        <p:sp>
          <p:nvSpPr>
            <p:cNvPr id="322" name="Rounded Rectangle 321"/>
            <p:cNvSpPr/>
            <p:nvPr/>
          </p:nvSpPr>
          <p:spPr>
            <a:xfrm>
              <a:off x="137160" y="4480560"/>
              <a:ext cx="10332720" cy="3611880"/>
            </a:xfrm>
            <a:prstGeom prst="roundRect">
              <a:avLst>
                <a:gd name="adj" fmla="val 2025"/>
              </a:avLst>
            </a:prstGeom>
            <a:solidFill>
              <a:srgbClr val="F3F8FC"/>
            </a:solidFill>
            <a:ln w="15875">
              <a:solidFill>
                <a:srgbClr val="5BA7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3" name="TextBox 322"/>
            <p:cNvSpPr txBox="1"/>
            <p:nvPr/>
          </p:nvSpPr>
          <p:spPr>
            <a:xfrm>
              <a:off x="274320" y="4535424"/>
              <a:ext cx="1828800" cy="2743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300" b="1" i="0">
                  <a:solidFill>
                    <a:srgbClr val="3D6EB4"/>
                  </a:solidFill>
                  <a:latin typeface="Times New Roman"/>
                  <a:ea typeface="Times New Roman"/>
                  <a:cs typeface="Times New Roman"/>
                </a:rPr>
                <a:t>PHGST-DP</a:t>
              </a:r>
            </a:p>
          </p:txBody>
        </p:sp>
        <p:sp>
          <p:nvSpPr>
            <p:cNvPr id="324" name="Rounded Rectangle 323"/>
            <p:cNvSpPr/>
            <p:nvPr/>
          </p:nvSpPr>
          <p:spPr>
            <a:xfrm>
              <a:off x="274320" y="4892040"/>
              <a:ext cx="2148840" cy="3063240"/>
            </a:xfrm>
            <a:prstGeom prst="roundRect">
              <a:avLst>
                <a:gd name="adj" fmla="val 2553"/>
              </a:avLst>
            </a:prstGeom>
            <a:solidFill>
              <a:srgbClr val="FFFFFF"/>
            </a:solidFill>
            <a:ln w="12700">
              <a:solidFill>
                <a:srgbClr val="5BA7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5" name="TextBox 324"/>
            <p:cNvSpPr txBox="1"/>
            <p:nvPr/>
          </p:nvSpPr>
          <p:spPr>
            <a:xfrm>
              <a:off x="274320" y="4956048"/>
              <a:ext cx="2148840" cy="2286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100" b="1" i="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Grouped embedding</a:t>
              </a:r>
            </a:p>
          </p:txBody>
        </p:sp>
        <p:sp>
          <p:nvSpPr>
            <p:cNvPr id="326" name="Rounded Rectangle 325"/>
            <p:cNvSpPr/>
            <p:nvPr/>
          </p:nvSpPr>
          <p:spPr>
            <a:xfrm>
              <a:off x="777240" y="5221224"/>
              <a:ext cx="1143000" cy="210312"/>
            </a:xfrm>
            <a:prstGeom prst="roundRect">
              <a:avLst>
                <a:gd name="adj" fmla="val 47826"/>
              </a:avLst>
            </a:prstGeom>
            <a:solidFill>
              <a:srgbClr val="3D6E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7" name="TextBox 326"/>
            <p:cNvSpPr txBox="1"/>
            <p:nvPr/>
          </p:nvSpPr>
          <p:spPr>
            <a:xfrm>
              <a:off x="777240" y="5221224"/>
              <a:ext cx="1143000" cy="21031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00" b="1" i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Contribution 1</a:t>
              </a:r>
            </a:p>
          </p:txBody>
        </p:sp>
        <p:cxnSp>
          <p:nvCxnSpPr>
            <p:cNvPr id="328" name="Connector 327"/>
            <p:cNvCxnSpPr/>
            <p:nvPr/>
          </p:nvCxnSpPr>
          <p:spPr>
            <a:xfrm>
              <a:off x="1600200" y="5628132"/>
              <a:ext cx="310896" cy="726948"/>
            </a:xfrm>
            <a:prstGeom prst="line">
              <a:avLst/>
            </a:prstGeom>
            <a:ln w="9525">
              <a:solidFill>
                <a:srgbClr val="A6DCE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9" name="Rounded Rectangle 328"/>
            <p:cNvSpPr/>
            <p:nvPr/>
          </p:nvSpPr>
          <p:spPr>
            <a:xfrm>
              <a:off x="411480" y="5513832"/>
              <a:ext cx="1188720" cy="228600"/>
            </a:xfrm>
            <a:prstGeom prst="roundRect">
              <a:avLst>
                <a:gd name="adj" fmla="val 20000"/>
              </a:avLst>
            </a:prstGeom>
            <a:solidFill>
              <a:srgbClr val="E9F4FA"/>
            </a:solidFill>
            <a:ln w="9525">
              <a:solidFill>
                <a:srgbClr val="A6DC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0" name="TextBox 329"/>
            <p:cNvSpPr txBox="1"/>
            <p:nvPr/>
          </p:nvSpPr>
          <p:spPr>
            <a:xfrm>
              <a:off x="475488" y="5513832"/>
              <a:ext cx="822960" cy="2286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Queue</a:t>
              </a:r>
            </a:p>
          </p:txBody>
        </p:sp>
        <p:sp>
          <p:nvSpPr>
            <p:cNvPr id="331" name="TextBox 330"/>
            <p:cNvSpPr txBox="1"/>
            <p:nvPr/>
          </p:nvSpPr>
          <p:spPr>
            <a:xfrm>
              <a:off x="1188720" y="5513832"/>
              <a:ext cx="347472" cy="2286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95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4</a:t>
              </a:r>
            </a:p>
          </p:txBody>
        </p:sp>
        <p:cxnSp>
          <p:nvCxnSpPr>
            <p:cNvPr id="332" name="Connector 331"/>
            <p:cNvCxnSpPr/>
            <p:nvPr/>
          </p:nvCxnSpPr>
          <p:spPr>
            <a:xfrm>
              <a:off x="1600200" y="5920740"/>
              <a:ext cx="310896" cy="434340"/>
            </a:xfrm>
            <a:prstGeom prst="line">
              <a:avLst/>
            </a:prstGeom>
            <a:ln w="9525">
              <a:solidFill>
                <a:srgbClr val="A6DCE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3" name="Rounded Rectangle 332"/>
            <p:cNvSpPr/>
            <p:nvPr/>
          </p:nvSpPr>
          <p:spPr>
            <a:xfrm>
              <a:off x="411480" y="5806440"/>
              <a:ext cx="1188720" cy="228600"/>
            </a:xfrm>
            <a:prstGeom prst="roundRect">
              <a:avLst>
                <a:gd name="adj" fmla="val 20000"/>
              </a:avLst>
            </a:prstGeom>
            <a:solidFill>
              <a:srgbClr val="E9F4FA"/>
            </a:solidFill>
            <a:ln w="9525">
              <a:solidFill>
                <a:srgbClr val="A6DC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4" name="TextBox 333"/>
            <p:cNvSpPr txBox="1"/>
            <p:nvPr/>
          </p:nvSpPr>
          <p:spPr>
            <a:xfrm>
              <a:off x="475488" y="5806440"/>
              <a:ext cx="822960" cy="2286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Stall</a:t>
              </a:r>
            </a:p>
          </p:txBody>
        </p:sp>
        <p:sp>
          <p:nvSpPr>
            <p:cNvPr id="335" name="TextBox 334"/>
            <p:cNvSpPr txBox="1"/>
            <p:nvPr/>
          </p:nvSpPr>
          <p:spPr>
            <a:xfrm>
              <a:off x="1188720" y="5806440"/>
              <a:ext cx="347472" cy="2286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95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6</a:t>
              </a:r>
            </a:p>
          </p:txBody>
        </p:sp>
        <p:cxnSp>
          <p:nvCxnSpPr>
            <p:cNvPr id="336" name="Connector 335"/>
            <p:cNvCxnSpPr/>
            <p:nvPr/>
          </p:nvCxnSpPr>
          <p:spPr>
            <a:xfrm>
              <a:off x="1600200" y="6213348"/>
              <a:ext cx="310896" cy="141732"/>
            </a:xfrm>
            <a:prstGeom prst="line">
              <a:avLst/>
            </a:prstGeom>
            <a:ln w="9525">
              <a:solidFill>
                <a:srgbClr val="A6DCE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7" name="Rounded Rectangle 336"/>
            <p:cNvSpPr/>
            <p:nvPr/>
          </p:nvSpPr>
          <p:spPr>
            <a:xfrm>
              <a:off x="411480" y="6099048"/>
              <a:ext cx="1188720" cy="228600"/>
            </a:xfrm>
            <a:prstGeom prst="roundRect">
              <a:avLst>
                <a:gd name="adj" fmla="val 20000"/>
              </a:avLst>
            </a:prstGeom>
            <a:solidFill>
              <a:srgbClr val="E9F4FA"/>
            </a:solidFill>
            <a:ln w="9525">
              <a:solidFill>
                <a:srgbClr val="A6DC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8" name="TextBox 337"/>
            <p:cNvSpPr txBox="1"/>
            <p:nvPr/>
          </p:nvSpPr>
          <p:spPr>
            <a:xfrm>
              <a:off x="475488" y="6099048"/>
              <a:ext cx="822960" cy="2286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Logistics</a:t>
              </a:r>
            </a:p>
          </p:txBody>
        </p:sp>
        <p:sp>
          <p:nvSpPr>
            <p:cNvPr id="339" name="TextBox 338"/>
            <p:cNvSpPr txBox="1"/>
            <p:nvPr/>
          </p:nvSpPr>
          <p:spPr>
            <a:xfrm>
              <a:off x="1188720" y="6099048"/>
              <a:ext cx="347472" cy="2286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95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4</a:t>
              </a:r>
            </a:p>
          </p:txBody>
        </p:sp>
        <p:cxnSp>
          <p:nvCxnSpPr>
            <p:cNvPr id="340" name="Connector 339"/>
            <p:cNvCxnSpPr/>
            <p:nvPr/>
          </p:nvCxnSpPr>
          <p:spPr>
            <a:xfrm flipV="1">
              <a:off x="1600200" y="6355080"/>
              <a:ext cx="310896" cy="150876"/>
            </a:xfrm>
            <a:prstGeom prst="line">
              <a:avLst/>
            </a:prstGeom>
            <a:ln w="9525">
              <a:solidFill>
                <a:srgbClr val="A6DCE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1" name="Rounded Rectangle 340"/>
            <p:cNvSpPr/>
            <p:nvPr/>
          </p:nvSpPr>
          <p:spPr>
            <a:xfrm>
              <a:off x="411480" y="6391656"/>
              <a:ext cx="1188720" cy="228600"/>
            </a:xfrm>
            <a:prstGeom prst="roundRect">
              <a:avLst>
                <a:gd name="adj" fmla="val 20000"/>
              </a:avLst>
            </a:prstGeom>
            <a:solidFill>
              <a:srgbClr val="E9F4FA"/>
            </a:solidFill>
            <a:ln w="9525">
              <a:solidFill>
                <a:srgbClr val="A6DC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2" name="TextBox 341"/>
            <p:cNvSpPr txBox="1"/>
            <p:nvPr/>
          </p:nvSpPr>
          <p:spPr>
            <a:xfrm>
              <a:off x="475488" y="6391656"/>
              <a:ext cx="822960" cy="2286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Shortage</a:t>
              </a:r>
            </a:p>
          </p:txBody>
        </p:sp>
        <p:sp>
          <p:nvSpPr>
            <p:cNvPr id="343" name="TextBox 342"/>
            <p:cNvSpPr txBox="1"/>
            <p:nvPr/>
          </p:nvSpPr>
          <p:spPr>
            <a:xfrm>
              <a:off x="1188720" y="6391656"/>
              <a:ext cx="347472" cy="2286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95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1</a:t>
              </a:r>
            </a:p>
          </p:txBody>
        </p:sp>
        <p:cxnSp>
          <p:nvCxnSpPr>
            <p:cNvPr id="344" name="Connector 343"/>
            <p:cNvCxnSpPr/>
            <p:nvPr/>
          </p:nvCxnSpPr>
          <p:spPr>
            <a:xfrm flipV="1">
              <a:off x="1600200" y="6355080"/>
              <a:ext cx="310896" cy="443484"/>
            </a:xfrm>
            <a:prstGeom prst="line">
              <a:avLst/>
            </a:prstGeom>
            <a:ln w="9525">
              <a:solidFill>
                <a:srgbClr val="A6DCE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5" name="Rounded Rectangle 344"/>
            <p:cNvSpPr/>
            <p:nvPr/>
          </p:nvSpPr>
          <p:spPr>
            <a:xfrm>
              <a:off x="411480" y="6684264"/>
              <a:ext cx="1188720" cy="228600"/>
            </a:xfrm>
            <a:prstGeom prst="roundRect">
              <a:avLst>
                <a:gd name="adj" fmla="val 20000"/>
              </a:avLst>
            </a:prstGeom>
            <a:solidFill>
              <a:srgbClr val="E9F4FA"/>
            </a:solidFill>
            <a:ln w="9525">
              <a:solidFill>
                <a:srgbClr val="A6DC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6" name="TextBox 345"/>
            <p:cNvSpPr txBox="1"/>
            <p:nvPr/>
          </p:nvSpPr>
          <p:spPr>
            <a:xfrm>
              <a:off x="475488" y="6684264"/>
              <a:ext cx="822960" cy="2286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Context</a:t>
              </a:r>
            </a:p>
          </p:txBody>
        </p:sp>
        <p:sp>
          <p:nvSpPr>
            <p:cNvPr id="347" name="TextBox 346"/>
            <p:cNvSpPr txBox="1"/>
            <p:nvPr/>
          </p:nvSpPr>
          <p:spPr>
            <a:xfrm>
              <a:off x="1188720" y="6684264"/>
              <a:ext cx="347472" cy="2286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95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7</a:t>
              </a:r>
            </a:p>
          </p:txBody>
        </p:sp>
        <p:cxnSp>
          <p:nvCxnSpPr>
            <p:cNvPr id="348" name="Connector 347"/>
            <p:cNvCxnSpPr/>
            <p:nvPr/>
          </p:nvCxnSpPr>
          <p:spPr>
            <a:xfrm flipV="1">
              <a:off x="1600200" y="6355080"/>
              <a:ext cx="310896" cy="736092"/>
            </a:xfrm>
            <a:prstGeom prst="line">
              <a:avLst/>
            </a:prstGeom>
            <a:ln w="9525">
              <a:solidFill>
                <a:srgbClr val="A6DCE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9" name="Rounded Rectangle 348"/>
            <p:cNvSpPr/>
            <p:nvPr/>
          </p:nvSpPr>
          <p:spPr>
            <a:xfrm>
              <a:off x="411480" y="6976872"/>
              <a:ext cx="1188720" cy="228600"/>
            </a:xfrm>
            <a:prstGeom prst="roundRect">
              <a:avLst>
                <a:gd name="adj" fmla="val 20000"/>
              </a:avLst>
            </a:prstGeom>
            <a:solidFill>
              <a:srgbClr val="E9F4FA"/>
            </a:solidFill>
            <a:ln w="9525">
              <a:solidFill>
                <a:srgbClr val="A6DC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0" name="TextBox 349"/>
            <p:cNvSpPr txBox="1"/>
            <p:nvPr/>
          </p:nvSpPr>
          <p:spPr>
            <a:xfrm>
              <a:off x="475488" y="6976872"/>
              <a:ext cx="822960" cy="2286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Type</a:t>
              </a:r>
            </a:p>
          </p:txBody>
        </p:sp>
        <p:sp>
          <p:nvSpPr>
            <p:cNvPr id="351" name="TextBox 350"/>
            <p:cNvSpPr txBox="1"/>
            <p:nvPr/>
          </p:nvSpPr>
          <p:spPr>
            <a:xfrm>
              <a:off x="1188720" y="6976872"/>
              <a:ext cx="347472" cy="2286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95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5</a:t>
              </a:r>
            </a:p>
          </p:txBody>
        </p:sp>
        <p:sp>
          <p:nvSpPr>
            <p:cNvPr id="352" name="Oval 351"/>
            <p:cNvSpPr/>
            <p:nvPr/>
          </p:nvSpPr>
          <p:spPr>
            <a:xfrm>
              <a:off x="1901952" y="6199632"/>
              <a:ext cx="310896" cy="3108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5BA7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3" name="TextBox 352"/>
            <p:cNvSpPr txBox="1"/>
            <p:nvPr/>
          </p:nvSpPr>
          <p:spPr>
            <a:xfrm>
              <a:off x="1901952" y="6199632"/>
              <a:ext cx="310896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0" b="0" i="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mean</a:t>
              </a:r>
            </a:p>
          </p:txBody>
        </p:sp>
        <p:sp>
          <p:nvSpPr>
            <p:cNvPr id="354" name="TextBox 353"/>
            <p:cNvSpPr txBox="1"/>
            <p:nvPr/>
          </p:nvSpPr>
          <p:spPr>
            <a:xfrm>
              <a:off x="274320" y="7315200"/>
              <a:ext cx="2148840" cy="20116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50" b="0" i="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+ E</a:t>
              </a:r>
              <a:r>
                <a:rPr sz="950" b="0" i="0" baseline="-2500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time</a:t>
              </a:r>
              <a:r>
                <a:rPr sz="950" b="0" i="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 + E</a:t>
              </a:r>
              <a:r>
                <a:rPr sz="950" b="0" i="0" baseline="-2500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lap</a:t>
              </a:r>
              <a:r>
                <a:rPr sz="950" b="0" i="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 + E</a:t>
              </a:r>
              <a:r>
                <a:rPr sz="950" b="0" i="0" baseline="-2500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node</a:t>
              </a:r>
            </a:p>
          </p:txBody>
        </p:sp>
        <p:sp>
          <p:nvSpPr>
            <p:cNvPr id="355" name="TextBox 354"/>
            <p:cNvSpPr txBox="1"/>
            <p:nvPr/>
          </p:nvSpPr>
          <p:spPr>
            <a:xfrm>
              <a:off x="274320" y="7543800"/>
              <a:ext cx="2148840" cy="20116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000" b="0" i="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→ H</a:t>
              </a:r>
              <a:r>
                <a:rPr sz="1000" b="0" i="0" baseline="3000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(0)</a:t>
              </a:r>
            </a:p>
          </p:txBody>
        </p:sp>
        <p:sp>
          <p:nvSpPr>
            <p:cNvPr id="356" name="Rounded Rectangle 355"/>
            <p:cNvSpPr/>
            <p:nvPr/>
          </p:nvSpPr>
          <p:spPr>
            <a:xfrm>
              <a:off x="2697480" y="4892040"/>
              <a:ext cx="5303520" cy="3063240"/>
            </a:xfrm>
            <a:prstGeom prst="roundRect">
              <a:avLst>
                <a:gd name="adj" fmla="val 1791"/>
              </a:avLst>
            </a:prstGeom>
            <a:solidFill>
              <a:srgbClr val="FFFFFF"/>
            </a:solidFill>
            <a:ln w="15875">
              <a:solidFill>
                <a:srgbClr val="3D6EB4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7" name="TextBox 356"/>
            <p:cNvSpPr txBox="1"/>
            <p:nvPr/>
          </p:nvSpPr>
          <p:spPr>
            <a:xfrm>
              <a:off x="2834640" y="4937760"/>
              <a:ext cx="2743200" cy="2286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50" b="1" i="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Encoder block × 5   (d = 80)</a:t>
              </a:r>
            </a:p>
          </p:txBody>
        </p:sp>
        <p:sp>
          <p:nvSpPr>
            <p:cNvPr id="358" name="Rounded Rectangle 357"/>
            <p:cNvSpPr/>
            <p:nvPr/>
          </p:nvSpPr>
          <p:spPr>
            <a:xfrm>
              <a:off x="2834640" y="5193792"/>
              <a:ext cx="5029200" cy="1133856"/>
            </a:xfrm>
            <a:prstGeom prst="roundRect">
              <a:avLst>
                <a:gd name="adj" fmla="val 4838"/>
              </a:avLst>
            </a:prstGeom>
            <a:solidFill>
              <a:srgbClr val="FDECEE"/>
            </a:solidFill>
            <a:ln w="19050">
              <a:solidFill>
                <a:srgbClr val="CB00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9" name="Round Same Side Corner Rectangle 358"/>
            <p:cNvSpPr/>
            <p:nvPr/>
          </p:nvSpPr>
          <p:spPr>
            <a:xfrm>
              <a:off x="2834640" y="5193792"/>
              <a:ext cx="5029200" cy="365760"/>
            </a:xfrm>
            <a:prstGeom prst="round2SameRect">
              <a:avLst>
                <a:gd name="adj1" fmla="val 25000"/>
                <a:gd name="adj2" fmla="val 0"/>
              </a:avLst>
            </a:prstGeom>
            <a:solidFill>
              <a:srgbClr val="CB001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0" name="TextBox 359"/>
            <p:cNvSpPr txBox="1"/>
            <p:nvPr/>
          </p:nvSpPr>
          <p:spPr>
            <a:xfrm>
              <a:off x="2834640" y="5193792"/>
              <a:ext cx="5029200" cy="3657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100" b="1" i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Contribution 3</a:t>
              </a:r>
              <a:r>
                <a:rPr sz="1100" b="1" i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  ·  Delay-propagation module</a:t>
              </a:r>
            </a:p>
          </p:txBody>
        </p:sp>
        <p:sp>
          <p:nvSpPr>
            <p:cNvPr id="361" name="Rounded Rectangle 360"/>
            <p:cNvSpPr/>
            <p:nvPr/>
          </p:nvSpPr>
          <p:spPr>
            <a:xfrm>
              <a:off x="2926080" y="5577840"/>
              <a:ext cx="1417320" cy="713232"/>
            </a:xfrm>
            <a:prstGeom prst="roundRect">
              <a:avLst>
                <a:gd name="adj" fmla="val 7692"/>
              </a:avLst>
            </a:prstGeom>
            <a:solidFill>
              <a:srgbClr val="F2F2F2"/>
            </a:solidFill>
            <a:ln w="9525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2" name="TextBox 361"/>
            <p:cNvSpPr txBox="1"/>
            <p:nvPr/>
          </p:nvSpPr>
          <p:spPr>
            <a:xfrm>
              <a:off x="2999232" y="5605272"/>
              <a:ext cx="1325880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1" i="0">
                  <a:solidFill>
                    <a:srgbClr val="CB001C"/>
                  </a:solidFill>
                  <a:latin typeface="Segoe UI Symbol"/>
                  <a:ea typeface="Segoe UI Symbol"/>
                  <a:cs typeface="Segoe UI Symbol"/>
                </a:rPr>
                <a:t>✕ </a:t>
              </a:r>
              <a:r>
                <a:rPr sz="1000" b="1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Prior work</a:t>
              </a:r>
            </a:p>
          </p:txBody>
        </p:sp>
        <p:cxnSp>
          <p:nvCxnSpPr>
            <p:cNvPr id="363" name="Connector 362"/>
            <p:cNvCxnSpPr/>
            <p:nvPr/>
          </p:nvCxnSpPr>
          <p:spPr>
            <a:xfrm>
              <a:off x="3337560" y="5943600"/>
              <a:ext cx="594360" cy="0"/>
            </a:xfrm>
            <a:prstGeom prst="line">
              <a:avLst/>
            </a:prstGeom>
            <a:ln w="15875">
              <a:solidFill>
                <a:srgbClr val="8C8C8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4" name="Oval 363"/>
            <p:cNvSpPr/>
            <p:nvPr/>
          </p:nvSpPr>
          <p:spPr>
            <a:xfrm>
              <a:off x="3264408" y="5870448"/>
              <a:ext cx="146304" cy="146304"/>
            </a:xfrm>
            <a:prstGeom prst="ellipse">
              <a:avLst/>
            </a:prstGeom>
            <a:solidFill>
              <a:srgbClr val="A6A6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5" name="TextBox 364"/>
            <p:cNvSpPr txBox="1"/>
            <p:nvPr/>
          </p:nvSpPr>
          <p:spPr>
            <a:xfrm>
              <a:off x="3264408" y="5870448"/>
              <a:ext cx="146304" cy="14630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0" b="1" i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i</a:t>
              </a:r>
            </a:p>
          </p:txBody>
        </p:sp>
        <p:sp>
          <p:nvSpPr>
            <p:cNvPr id="366" name="Oval 365"/>
            <p:cNvSpPr/>
            <p:nvPr/>
          </p:nvSpPr>
          <p:spPr>
            <a:xfrm>
              <a:off x="3858768" y="5870448"/>
              <a:ext cx="146304" cy="146304"/>
            </a:xfrm>
            <a:prstGeom prst="ellipse">
              <a:avLst/>
            </a:prstGeom>
            <a:solidFill>
              <a:srgbClr val="A6A6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7" name="TextBox 366"/>
            <p:cNvSpPr txBox="1"/>
            <p:nvPr/>
          </p:nvSpPr>
          <p:spPr>
            <a:xfrm>
              <a:off x="3858768" y="5870448"/>
              <a:ext cx="146304" cy="14630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0" b="1" i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j</a:t>
              </a:r>
            </a:p>
          </p:txBody>
        </p:sp>
        <p:sp>
          <p:nvSpPr>
            <p:cNvPr id="368" name="TextBox 367"/>
            <p:cNvSpPr txBox="1"/>
            <p:nvPr/>
          </p:nvSpPr>
          <p:spPr>
            <a:xfrm>
              <a:off x="3044952" y="5870448"/>
              <a:ext cx="201168" cy="14630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85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t</a:t>
              </a:r>
            </a:p>
          </p:txBody>
        </p:sp>
        <p:sp>
          <p:nvSpPr>
            <p:cNvPr id="369" name="TextBox 368"/>
            <p:cNvSpPr txBox="1"/>
            <p:nvPr/>
          </p:nvSpPr>
          <p:spPr>
            <a:xfrm>
              <a:off x="4023360" y="5870448"/>
              <a:ext cx="201168" cy="14630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85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t</a:t>
              </a:r>
            </a:p>
          </p:txBody>
        </p:sp>
        <p:sp>
          <p:nvSpPr>
            <p:cNvPr id="370" name="TextBox 369"/>
            <p:cNvSpPr txBox="1"/>
            <p:nvPr/>
          </p:nvSpPr>
          <p:spPr>
            <a:xfrm>
              <a:off x="2971800" y="6080760"/>
              <a:ext cx="1325880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5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same-time links</a:t>
              </a:r>
            </a:p>
          </p:txBody>
        </p:sp>
        <p:cxnSp>
          <p:nvCxnSpPr>
            <p:cNvPr id="371" name="Connector 370"/>
            <p:cNvCxnSpPr/>
            <p:nvPr/>
          </p:nvCxnSpPr>
          <p:spPr>
            <a:xfrm>
              <a:off x="4389120" y="5934456"/>
              <a:ext cx="201168" cy="0"/>
            </a:xfrm>
            <a:prstGeom prst="line">
              <a:avLst/>
            </a:prstGeom>
            <a:ln w="19050">
              <a:solidFill>
                <a:srgbClr val="8C8C8C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2" name="Rounded Rectangle 371"/>
            <p:cNvSpPr/>
            <p:nvPr/>
          </p:nvSpPr>
          <p:spPr>
            <a:xfrm>
              <a:off x="4636008" y="5577840"/>
              <a:ext cx="1463040" cy="713232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2700">
              <a:solidFill>
                <a:srgbClr val="CB00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3" name="TextBox 372"/>
            <p:cNvSpPr txBox="1"/>
            <p:nvPr/>
          </p:nvSpPr>
          <p:spPr>
            <a:xfrm>
              <a:off x="4709160" y="5605272"/>
              <a:ext cx="1371600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1" i="0">
                  <a:solidFill>
                    <a:srgbClr val="CB001C"/>
                  </a:solidFill>
                  <a:latin typeface="Segoe UI Symbol"/>
                  <a:ea typeface="Segoe UI Symbol"/>
                  <a:cs typeface="Segoe UI Symbol"/>
                </a:rPr>
                <a:t>✓ </a:t>
              </a:r>
              <a:r>
                <a:rPr sz="1000" b="1" i="0">
                  <a:solidFill>
                    <a:srgbClr val="CB001C"/>
                  </a:solidFill>
                  <a:latin typeface="Times New Roman"/>
                  <a:ea typeface="Times New Roman"/>
                  <a:cs typeface="Times New Roman"/>
                </a:rPr>
                <a:t>PHGST-DP</a:t>
              </a:r>
            </a:p>
          </p:txBody>
        </p:sp>
        <p:sp>
          <p:nvSpPr>
            <p:cNvPr id="374" name="Freeform 373"/>
            <p:cNvSpPr/>
            <p:nvPr/>
          </p:nvSpPr>
          <p:spPr>
            <a:xfrm>
              <a:off x="5148072" y="5888894"/>
              <a:ext cx="502920" cy="45562"/>
            </a:xfrm>
            <a:custGeom>
              <a:avLst/>
              <a:gdLst/>
              <a:ahLst/>
              <a:cxnLst/>
              <a:rect l="l" t="t" r="r" b="b"/>
              <a:pathLst>
                <a:path w="502920" h="45562">
                  <a:moveTo>
                    <a:pt x="0" y="45562"/>
                  </a:moveTo>
                  <a:lnTo>
                    <a:pt x="29584" y="35437"/>
                  </a:lnTo>
                  <a:lnTo>
                    <a:pt x="59167" y="26578"/>
                  </a:lnTo>
                  <a:lnTo>
                    <a:pt x="88751" y="18984"/>
                  </a:lnTo>
                  <a:lnTo>
                    <a:pt x="118334" y="12656"/>
                  </a:lnTo>
                  <a:lnTo>
                    <a:pt x="147918" y="7594"/>
                  </a:lnTo>
                  <a:lnTo>
                    <a:pt x="177501" y="3797"/>
                  </a:lnTo>
                  <a:lnTo>
                    <a:pt x="207085" y="1266"/>
                  </a:lnTo>
                  <a:lnTo>
                    <a:pt x="236668" y="0"/>
                  </a:lnTo>
                  <a:lnTo>
                    <a:pt x="266252" y="0"/>
                  </a:lnTo>
                  <a:lnTo>
                    <a:pt x="295835" y="1266"/>
                  </a:lnTo>
                  <a:lnTo>
                    <a:pt x="325419" y="3797"/>
                  </a:lnTo>
                  <a:lnTo>
                    <a:pt x="355002" y="7594"/>
                  </a:lnTo>
                  <a:lnTo>
                    <a:pt x="384586" y="12656"/>
                  </a:lnTo>
                  <a:lnTo>
                    <a:pt x="414169" y="18984"/>
                  </a:lnTo>
                  <a:lnTo>
                    <a:pt x="443753" y="26578"/>
                  </a:lnTo>
                  <a:lnTo>
                    <a:pt x="473336" y="35437"/>
                  </a:lnTo>
                  <a:lnTo>
                    <a:pt x="502920" y="45562"/>
                  </a:lnTo>
                </a:path>
              </a:pathLst>
            </a:custGeom>
            <a:noFill/>
            <a:ln w="15875">
              <a:solidFill>
                <a:srgbClr val="CB001C"/>
              </a:solidFill>
              <a:tailEnd type="triangle" w="med" len="me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5" name="Oval 374"/>
            <p:cNvSpPr/>
            <p:nvPr/>
          </p:nvSpPr>
          <p:spPr>
            <a:xfrm>
              <a:off x="5001768" y="5888736"/>
              <a:ext cx="146304" cy="146304"/>
            </a:xfrm>
            <a:prstGeom prst="ellipse">
              <a:avLst/>
            </a:prstGeom>
            <a:solidFill>
              <a:srgbClr val="5BA7D9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6" name="Oval 375"/>
            <p:cNvSpPr/>
            <p:nvPr/>
          </p:nvSpPr>
          <p:spPr>
            <a:xfrm>
              <a:off x="5660136" y="5888736"/>
              <a:ext cx="146304" cy="146304"/>
            </a:xfrm>
            <a:prstGeom prst="ellipse">
              <a:avLst/>
            </a:prstGeom>
            <a:solidFill>
              <a:srgbClr val="CB001C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7" name="TextBox 376"/>
            <p:cNvSpPr txBox="1"/>
            <p:nvPr/>
          </p:nvSpPr>
          <p:spPr>
            <a:xfrm>
              <a:off x="5001768" y="5888736"/>
              <a:ext cx="146304" cy="14630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0" b="1" i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i</a:t>
              </a:r>
            </a:p>
          </p:txBody>
        </p:sp>
        <p:sp>
          <p:nvSpPr>
            <p:cNvPr id="378" name="TextBox 377"/>
            <p:cNvSpPr txBox="1"/>
            <p:nvPr/>
          </p:nvSpPr>
          <p:spPr>
            <a:xfrm>
              <a:off x="5660136" y="5888736"/>
              <a:ext cx="146304" cy="14630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0" b="1" i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j</a:t>
              </a:r>
            </a:p>
          </p:txBody>
        </p:sp>
        <p:sp>
          <p:nvSpPr>
            <p:cNvPr id="379" name="TextBox 378"/>
            <p:cNvSpPr txBox="1"/>
            <p:nvPr/>
          </p:nvSpPr>
          <p:spPr>
            <a:xfrm>
              <a:off x="4654296" y="5888736"/>
              <a:ext cx="329184" cy="14630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85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t−τ</a:t>
              </a:r>
            </a:p>
          </p:txBody>
        </p:sp>
        <p:sp>
          <p:nvSpPr>
            <p:cNvPr id="380" name="TextBox 379"/>
            <p:cNvSpPr txBox="1"/>
            <p:nvPr/>
          </p:nvSpPr>
          <p:spPr>
            <a:xfrm>
              <a:off x="5824728" y="5888736"/>
              <a:ext cx="201168" cy="14630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85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t</a:t>
              </a:r>
            </a:p>
          </p:txBody>
        </p:sp>
        <p:sp>
          <p:nvSpPr>
            <p:cNvPr id="381" name="TextBox 380"/>
            <p:cNvSpPr txBox="1"/>
            <p:nvPr/>
          </p:nvSpPr>
          <p:spPr>
            <a:xfrm>
              <a:off x="4681728" y="6080760"/>
              <a:ext cx="1371600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50" b="1" i="0">
                  <a:solidFill>
                    <a:srgbClr val="CB001C"/>
                  </a:solidFill>
                  <a:latin typeface="Times New Roman"/>
                  <a:ea typeface="Times New Roman"/>
                  <a:cs typeface="Times New Roman"/>
                </a:rPr>
                <a:t>lagged precursors</a:t>
              </a:r>
            </a:p>
          </p:txBody>
        </p:sp>
        <p:sp>
          <p:nvSpPr>
            <p:cNvPr id="382" name="TextBox 381"/>
            <p:cNvSpPr txBox="1"/>
            <p:nvPr/>
          </p:nvSpPr>
          <p:spPr>
            <a:xfrm>
              <a:off x="6172200" y="5605272"/>
              <a:ext cx="1691640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1" i="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Pattern attention</a:t>
              </a:r>
            </a:p>
          </p:txBody>
        </p:sp>
        <p:sp>
          <p:nvSpPr>
            <p:cNvPr id="383" name="TextBox 382"/>
            <p:cNvSpPr txBox="1"/>
            <p:nvPr/>
          </p:nvSpPr>
          <p:spPr>
            <a:xfrm>
              <a:off x="6172200" y="5788152"/>
              <a:ext cx="1691640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queue patch P</a:t>
              </a:r>
              <a:r>
                <a:rPr sz="950" b="0" i="0" baseline="-2500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t,n</a:t>
              </a:r>
            </a:p>
          </p:txBody>
        </p:sp>
        <p:sp>
          <p:nvSpPr>
            <p:cNvPr id="384" name="TextBox 383"/>
            <p:cNvSpPr txBox="1"/>
            <p:nvPr/>
          </p:nvSpPr>
          <p:spPr>
            <a:xfrm>
              <a:off x="6172200" y="5961888"/>
              <a:ext cx="1691640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× 16 keys K</a:t>
              </a:r>
              <a:r>
                <a:rPr sz="950" b="0" i="0" baseline="3000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P</a:t>
              </a:r>
              <a:r>
                <a:rPr sz="95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 → C</a:t>
              </a:r>
              <a:r>
                <a:rPr sz="950" b="0" i="0" baseline="3000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P</a:t>
              </a:r>
            </a:p>
          </p:txBody>
        </p:sp>
        <p:sp>
          <p:nvSpPr>
            <p:cNvPr id="385" name="TextBox 384"/>
            <p:cNvSpPr txBox="1"/>
            <p:nvPr/>
          </p:nvSpPr>
          <p:spPr>
            <a:xfrm>
              <a:off x="6172200" y="6135624"/>
              <a:ext cx="1691640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1" i="0">
                  <a:solidFill>
                    <a:srgbClr val="CB001C"/>
                  </a:solidFill>
                  <a:latin typeface="Times New Roman"/>
                  <a:ea typeface="Times New Roman"/>
                  <a:cs typeface="Times New Roman"/>
                </a:rPr>
                <a:t>C</a:t>
              </a:r>
              <a:r>
                <a:rPr sz="950" b="1" i="0" baseline="30000">
                  <a:solidFill>
                    <a:srgbClr val="CB001C"/>
                  </a:solidFill>
                  <a:latin typeface="Times New Roman"/>
                  <a:ea typeface="Times New Roman"/>
                  <a:cs typeface="Times New Roman"/>
                </a:rPr>
                <a:t>P</a:t>
              </a:r>
              <a:r>
                <a:rPr sz="950" b="1" i="0">
                  <a:solidFill>
                    <a:srgbClr val="CB001C"/>
                  </a:solidFill>
                  <a:latin typeface="Times New Roman"/>
                  <a:ea typeface="Times New Roman"/>
                  <a:cs typeface="Times New Roman"/>
                </a:rPr>
                <a:t> added to geo. keys</a:t>
              </a:r>
            </a:p>
          </p:txBody>
        </p:sp>
        <p:cxnSp>
          <p:nvCxnSpPr>
            <p:cNvPr id="386" name="Connector 385"/>
            <p:cNvCxnSpPr/>
            <p:nvPr/>
          </p:nvCxnSpPr>
          <p:spPr>
            <a:xfrm>
              <a:off x="2907792" y="6675120"/>
              <a:ext cx="0" cy="804672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Connector 386"/>
            <p:cNvCxnSpPr/>
            <p:nvPr/>
          </p:nvCxnSpPr>
          <p:spPr>
            <a:xfrm>
              <a:off x="6473952" y="6675120"/>
              <a:ext cx="0" cy="804672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8" name="Rounded Rectangle 387"/>
            <p:cNvSpPr/>
            <p:nvPr/>
          </p:nvSpPr>
          <p:spPr>
            <a:xfrm>
              <a:off x="3017520" y="6510528"/>
              <a:ext cx="3383280" cy="329184"/>
            </a:xfrm>
            <a:prstGeom prst="roundRect">
              <a:avLst>
                <a:gd name="adj" fmla="val 13888"/>
              </a:avLst>
            </a:prstGeom>
            <a:solidFill>
              <a:srgbClr val="FFFFFF"/>
            </a:solidFill>
            <a:ln w="15875">
              <a:solidFill>
                <a:srgbClr val="3D6E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9" name="Rectangle 388"/>
            <p:cNvSpPr/>
            <p:nvPr/>
          </p:nvSpPr>
          <p:spPr>
            <a:xfrm>
              <a:off x="3017520" y="6510528"/>
              <a:ext cx="64008" cy="329184"/>
            </a:xfrm>
            <a:prstGeom prst="rect">
              <a:avLst/>
            </a:prstGeom>
            <a:solidFill>
              <a:srgbClr val="3D6E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0" name="TextBox 389"/>
            <p:cNvSpPr txBox="1"/>
            <p:nvPr/>
          </p:nvSpPr>
          <p:spPr>
            <a:xfrm>
              <a:off x="3154680" y="6510528"/>
              <a:ext cx="3200400" cy="32918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1" i="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Geographic attn ×2</a:t>
              </a:r>
              <a:r>
                <a:rPr sz="95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  mask M</a:t>
              </a:r>
              <a:r>
                <a:rPr sz="950" b="0" i="0" baseline="3000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G</a:t>
              </a:r>
              <a:r>
                <a:rPr sz="95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, keys + C</a:t>
              </a:r>
              <a:r>
                <a:rPr sz="950" b="0" i="0" baseline="3000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P</a:t>
              </a:r>
            </a:p>
          </p:txBody>
        </p:sp>
        <p:cxnSp>
          <p:nvCxnSpPr>
            <p:cNvPr id="391" name="Connector 390"/>
            <p:cNvCxnSpPr/>
            <p:nvPr/>
          </p:nvCxnSpPr>
          <p:spPr>
            <a:xfrm>
              <a:off x="2907792" y="6675120"/>
              <a:ext cx="109728" cy="0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Connector 391"/>
            <p:cNvCxnSpPr/>
            <p:nvPr/>
          </p:nvCxnSpPr>
          <p:spPr>
            <a:xfrm>
              <a:off x="6400800" y="6675120"/>
              <a:ext cx="73152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3" name="Rounded Rectangle 392"/>
            <p:cNvSpPr/>
            <p:nvPr/>
          </p:nvSpPr>
          <p:spPr>
            <a:xfrm>
              <a:off x="3017520" y="6912864"/>
              <a:ext cx="3383280" cy="329184"/>
            </a:xfrm>
            <a:prstGeom prst="roundRect">
              <a:avLst>
                <a:gd name="adj" fmla="val 13888"/>
              </a:avLst>
            </a:prstGeom>
            <a:solidFill>
              <a:srgbClr val="FFFFFF"/>
            </a:solidFill>
            <a:ln w="15875">
              <a:solidFill>
                <a:srgbClr val="5BA7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4" name="Rectangle 393"/>
            <p:cNvSpPr/>
            <p:nvPr/>
          </p:nvSpPr>
          <p:spPr>
            <a:xfrm>
              <a:off x="3017520" y="6912864"/>
              <a:ext cx="64008" cy="329184"/>
            </a:xfrm>
            <a:prstGeom prst="rect">
              <a:avLst/>
            </a:prstGeom>
            <a:solidFill>
              <a:srgbClr val="5BA7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5" name="TextBox 394"/>
            <p:cNvSpPr txBox="1"/>
            <p:nvPr/>
          </p:nvSpPr>
          <p:spPr>
            <a:xfrm>
              <a:off x="3154680" y="6912864"/>
              <a:ext cx="3200400" cy="32918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1" i="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Temporal attn ×4</a:t>
              </a:r>
              <a:r>
                <a:rPr sz="95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  per resource, 30 windows</a:t>
              </a:r>
            </a:p>
          </p:txBody>
        </p:sp>
        <p:cxnSp>
          <p:nvCxnSpPr>
            <p:cNvPr id="396" name="Connector 395"/>
            <p:cNvCxnSpPr/>
            <p:nvPr/>
          </p:nvCxnSpPr>
          <p:spPr>
            <a:xfrm>
              <a:off x="2907792" y="7077456"/>
              <a:ext cx="109728" cy="0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Connector 396"/>
            <p:cNvCxnSpPr/>
            <p:nvPr/>
          </p:nvCxnSpPr>
          <p:spPr>
            <a:xfrm>
              <a:off x="6400800" y="7077456"/>
              <a:ext cx="73152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Rounded Rectangle 397"/>
            <p:cNvSpPr/>
            <p:nvPr/>
          </p:nvSpPr>
          <p:spPr>
            <a:xfrm>
              <a:off x="3017520" y="7315200"/>
              <a:ext cx="3383280" cy="329184"/>
            </a:xfrm>
            <a:prstGeom prst="roundRect">
              <a:avLst>
                <a:gd name="adj" fmla="val 13888"/>
              </a:avLst>
            </a:prstGeom>
            <a:solidFill>
              <a:srgbClr val="FFFFFF"/>
            </a:solidFill>
            <a:ln w="15875">
              <a:solidFill>
                <a:srgbClr val="A6DC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9" name="Rectangle 398"/>
            <p:cNvSpPr/>
            <p:nvPr/>
          </p:nvSpPr>
          <p:spPr>
            <a:xfrm>
              <a:off x="3017520" y="7315200"/>
              <a:ext cx="64008" cy="329184"/>
            </a:xfrm>
            <a:prstGeom prst="rect">
              <a:avLst/>
            </a:prstGeom>
            <a:solidFill>
              <a:srgbClr val="A6DC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0" name="TextBox 399"/>
            <p:cNvSpPr txBox="1"/>
            <p:nvPr/>
          </p:nvSpPr>
          <p:spPr>
            <a:xfrm>
              <a:off x="3154680" y="7315200"/>
              <a:ext cx="3200400" cy="32918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1" i="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Semantic attn ×2</a:t>
              </a:r>
              <a:r>
                <a:rPr sz="95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  mask M</a:t>
              </a:r>
              <a:r>
                <a:rPr sz="950" b="0" i="0" baseline="3000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S</a:t>
              </a:r>
              <a:r>
                <a:rPr sz="95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, similar resources</a:t>
              </a:r>
            </a:p>
          </p:txBody>
        </p:sp>
        <p:cxnSp>
          <p:nvCxnSpPr>
            <p:cNvPr id="401" name="Connector 400"/>
            <p:cNvCxnSpPr/>
            <p:nvPr/>
          </p:nvCxnSpPr>
          <p:spPr>
            <a:xfrm>
              <a:off x="2907792" y="7479792"/>
              <a:ext cx="109728" cy="0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Connector 401"/>
            <p:cNvCxnSpPr/>
            <p:nvPr/>
          </p:nvCxnSpPr>
          <p:spPr>
            <a:xfrm>
              <a:off x="6400800" y="7479792"/>
              <a:ext cx="73152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Connector 402"/>
            <p:cNvCxnSpPr/>
            <p:nvPr/>
          </p:nvCxnSpPr>
          <p:spPr>
            <a:xfrm>
              <a:off x="5394960" y="6327648"/>
              <a:ext cx="0" cy="182880"/>
            </a:xfrm>
            <a:prstGeom prst="line">
              <a:avLst/>
            </a:prstGeom>
            <a:ln w="19050">
              <a:solidFill>
                <a:srgbClr val="CB001C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4" name="Rounded Rectangle 403"/>
            <p:cNvSpPr/>
            <p:nvPr/>
          </p:nvSpPr>
          <p:spPr>
            <a:xfrm>
              <a:off x="6583680" y="6510528"/>
              <a:ext cx="128016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3D6E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5" name="TextBox 404"/>
            <p:cNvSpPr txBox="1"/>
            <p:nvPr/>
          </p:nvSpPr>
          <p:spPr>
            <a:xfrm>
              <a:off x="6583680" y="6510528"/>
              <a:ext cx="1280160" cy="4572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50" b="1" i="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Concat +</a:t>
              </a:r>
            </a:p>
            <a:p>
              <a:pPr algn="ctr"/>
              <a:r>
                <a:rPr sz="950" b="1" i="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project</a:t>
              </a:r>
            </a:p>
          </p:txBody>
        </p:sp>
        <p:sp>
          <p:nvSpPr>
            <p:cNvPr id="406" name="Rounded Rectangle 405"/>
            <p:cNvSpPr/>
            <p:nvPr/>
          </p:nvSpPr>
          <p:spPr>
            <a:xfrm>
              <a:off x="6583680" y="7187184"/>
              <a:ext cx="128016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3D6E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7" name="TextBox 406"/>
            <p:cNvSpPr txBox="1"/>
            <p:nvPr/>
          </p:nvSpPr>
          <p:spPr>
            <a:xfrm>
              <a:off x="6583680" y="7187184"/>
              <a:ext cx="1280160" cy="4572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50" b="1" i="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Add &amp; Norm</a:t>
              </a:r>
            </a:p>
            <a:p>
              <a:pPr algn="ctr"/>
              <a:r>
                <a:rPr sz="950" b="1" i="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+ FFN</a:t>
              </a:r>
            </a:p>
          </p:txBody>
        </p:sp>
        <p:cxnSp>
          <p:nvCxnSpPr>
            <p:cNvPr id="408" name="Connector 407"/>
            <p:cNvCxnSpPr/>
            <p:nvPr/>
          </p:nvCxnSpPr>
          <p:spPr>
            <a:xfrm>
              <a:off x="6473952" y="6739128"/>
              <a:ext cx="109728" cy="0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Connector 408"/>
            <p:cNvCxnSpPr/>
            <p:nvPr/>
          </p:nvCxnSpPr>
          <p:spPr>
            <a:xfrm>
              <a:off x="7223760" y="6967728"/>
              <a:ext cx="0" cy="219456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Connector 409"/>
            <p:cNvCxnSpPr/>
            <p:nvPr/>
          </p:nvCxnSpPr>
          <p:spPr>
            <a:xfrm>
              <a:off x="2423160" y="7077456"/>
              <a:ext cx="484632" cy="0"/>
            </a:xfrm>
            <a:prstGeom prst="line">
              <a:avLst/>
            </a:prstGeom>
            <a:ln w="15875">
              <a:solidFill>
                <a:srgbClr val="59595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1" name="Rounded Rectangle 410"/>
            <p:cNvSpPr/>
            <p:nvPr/>
          </p:nvSpPr>
          <p:spPr>
            <a:xfrm>
              <a:off x="8183880" y="4892040"/>
              <a:ext cx="2148840" cy="3063240"/>
            </a:xfrm>
            <a:prstGeom prst="roundRect">
              <a:avLst>
                <a:gd name="adj" fmla="val 2553"/>
              </a:avLst>
            </a:prstGeom>
            <a:solidFill>
              <a:srgbClr val="FFFFFF"/>
            </a:solidFill>
            <a:ln w="12700">
              <a:solidFill>
                <a:srgbClr val="5BA7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2" name="TextBox 411"/>
            <p:cNvSpPr txBox="1"/>
            <p:nvPr/>
          </p:nvSpPr>
          <p:spPr>
            <a:xfrm>
              <a:off x="8183880" y="4956048"/>
              <a:ext cx="2148840" cy="2286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100" b="1" i="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Multi-task heads</a:t>
              </a:r>
            </a:p>
          </p:txBody>
        </p:sp>
        <p:sp>
          <p:nvSpPr>
            <p:cNvPr id="413" name="Rounded Rectangle 412"/>
            <p:cNvSpPr/>
            <p:nvPr/>
          </p:nvSpPr>
          <p:spPr>
            <a:xfrm>
              <a:off x="8302752" y="5230368"/>
              <a:ext cx="1911096" cy="493776"/>
            </a:xfrm>
            <a:prstGeom prst="roundRect">
              <a:avLst>
                <a:gd name="adj" fmla="val 9259"/>
              </a:avLst>
            </a:prstGeom>
            <a:solidFill>
              <a:srgbClr val="E9F4FA"/>
            </a:solidFill>
            <a:ln w="9525">
              <a:solidFill>
                <a:srgbClr val="A6DC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4" name="TextBox 413"/>
            <p:cNvSpPr txBox="1"/>
            <p:nvPr/>
          </p:nvSpPr>
          <p:spPr>
            <a:xfrm>
              <a:off x="8375904" y="5266944"/>
              <a:ext cx="1828800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1" i="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Occurrence p</a:t>
              </a:r>
              <a:r>
                <a:rPr sz="950" b="1" i="0" baseline="3000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cont</a:t>
              </a:r>
              <a:r>
                <a:rPr sz="950" b="1" i="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 / p</a:t>
              </a:r>
              <a:r>
                <a:rPr sz="950" b="1" i="0" baseline="3000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onset</a:t>
              </a:r>
            </a:p>
          </p:txBody>
        </p:sp>
        <p:sp>
          <p:nvSpPr>
            <p:cNvPr id="415" name="TextBox 414"/>
            <p:cNvSpPr txBox="1"/>
            <p:nvPr/>
          </p:nvSpPr>
          <p:spPr>
            <a:xfrm>
              <a:off x="8375904" y="5477256"/>
              <a:ext cx="1828800" cy="20116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0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station event</a:t>
              </a:r>
            </a:p>
          </p:txBody>
        </p:sp>
        <p:sp>
          <p:nvSpPr>
            <p:cNvPr id="416" name="Rounded Rectangle 415"/>
            <p:cNvSpPr/>
            <p:nvPr/>
          </p:nvSpPr>
          <p:spPr>
            <a:xfrm>
              <a:off x="8302752" y="5797296"/>
              <a:ext cx="1911096" cy="493776"/>
            </a:xfrm>
            <a:prstGeom prst="roundRect">
              <a:avLst>
                <a:gd name="adj" fmla="val 9259"/>
              </a:avLst>
            </a:prstGeom>
            <a:solidFill>
              <a:srgbClr val="E9F4FA"/>
            </a:solidFill>
            <a:ln w="9525">
              <a:solidFill>
                <a:srgbClr val="A6DC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7" name="TextBox 416"/>
            <p:cNvSpPr txBox="1"/>
            <p:nvPr/>
          </p:nvSpPr>
          <p:spPr>
            <a:xfrm>
              <a:off x="8375904" y="5833872"/>
              <a:ext cx="1828800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1" i="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Start π</a:t>
              </a:r>
              <a:r>
                <a:rPr sz="950" b="1" i="0" baseline="3000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s</a:t>
              </a:r>
              <a:r>
                <a:rPr sz="950" b="1" i="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  ·  duration d̂</a:t>
              </a:r>
            </a:p>
          </p:txBody>
        </p:sp>
        <p:sp>
          <p:nvSpPr>
            <p:cNvPr id="418" name="TextBox 417"/>
            <p:cNvSpPr txBox="1"/>
            <p:nvPr/>
          </p:nvSpPr>
          <p:spPr>
            <a:xfrm>
              <a:off x="8375904" y="6044184"/>
              <a:ext cx="1828800" cy="20116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0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when and how long</a:t>
              </a:r>
            </a:p>
          </p:txBody>
        </p:sp>
        <p:sp>
          <p:nvSpPr>
            <p:cNvPr id="419" name="Rounded Rectangle 418"/>
            <p:cNvSpPr/>
            <p:nvPr/>
          </p:nvSpPr>
          <p:spPr>
            <a:xfrm>
              <a:off x="8302752" y="6364224"/>
              <a:ext cx="1911096" cy="493776"/>
            </a:xfrm>
            <a:prstGeom prst="roundRect">
              <a:avLst>
                <a:gd name="adj" fmla="val 9259"/>
              </a:avLst>
            </a:prstGeom>
            <a:solidFill>
              <a:srgbClr val="E9F4FA"/>
            </a:solidFill>
            <a:ln w="9525">
              <a:solidFill>
                <a:srgbClr val="A6DC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0" name="TextBox 419"/>
            <p:cNvSpPr txBox="1"/>
            <p:nvPr/>
          </p:nvSpPr>
          <p:spPr>
            <a:xfrm>
              <a:off x="8375904" y="6400800"/>
              <a:ext cx="1828800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1" i="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Prefix p̂  ·  occupancy Ô</a:t>
              </a:r>
            </a:p>
          </p:txBody>
        </p:sp>
        <p:sp>
          <p:nvSpPr>
            <p:cNvPr id="421" name="TextBox 420"/>
            <p:cNvSpPr txBox="1"/>
            <p:nvPr/>
          </p:nvSpPr>
          <p:spPr>
            <a:xfrm>
              <a:off x="8375904" y="6611112"/>
              <a:ext cx="1828800" cy="20116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0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dense future grid</a:t>
              </a:r>
            </a:p>
          </p:txBody>
        </p:sp>
        <p:sp>
          <p:nvSpPr>
            <p:cNvPr id="422" name="Rounded Rectangle 421"/>
            <p:cNvSpPr/>
            <p:nvPr/>
          </p:nvSpPr>
          <p:spPr>
            <a:xfrm>
              <a:off x="8302752" y="6931152"/>
              <a:ext cx="1911096" cy="493776"/>
            </a:xfrm>
            <a:prstGeom prst="roundRect">
              <a:avLst>
                <a:gd name="adj" fmla="val 9259"/>
              </a:avLst>
            </a:prstGeom>
            <a:solidFill>
              <a:srgbClr val="E9F4FA"/>
            </a:solidFill>
            <a:ln w="9525">
              <a:solidFill>
                <a:srgbClr val="A6DC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3" name="TextBox 422"/>
            <p:cNvSpPr txBox="1"/>
            <p:nvPr/>
          </p:nvSpPr>
          <p:spPr>
            <a:xfrm>
              <a:off x="8375904" y="6967728"/>
              <a:ext cx="1828800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1" i="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Cause ĉ  ·  remaining ℓ̂</a:t>
              </a:r>
            </a:p>
          </p:txBody>
        </p:sp>
        <p:sp>
          <p:nvSpPr>
            <p:cNvPr id="424" name="TextBox 423"/>
            <p:cNvSpPr txBox="1"/>
            <p:nvPr/>
          </p:nvSpPr>
          <p:spPr>
            <a:xfrm>
              <a:off x="8375904" y="7178040"/>
              <a:ext cx="1828800" cy="20116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0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graph-level pooling</a:t>
              </a:r>
            </a:p>
          </p:txBody>
        </p:sp>
        <p:sp>
          <p:nvSpPr>
            <p:cNvPr id="425" name="Rounded Rectangle 424"/>
            <p:cNvSpPr/>
            <p:nvPr/>
          </p:nvSpPr>
          <p:spPr>
            <a:xfrm>
              <a:off x="8302752" y="7498080"/>
              <a:ext cx="1911096" cy="329184"/>
            </a:xfrm>
            <a:prstGeom prst="roundRect">
              <a:avLst>
                <a:gd name="adj" fmla="val 13888"/>
              </a:avLst>
            </a:prstGeom>
            <a:solidFill>
              <a:srgbClr val="F6F6F6"/>
            </a:solidFill>
            <a:ln w="9525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6" name="TextBox 425"/>
            <p:cNvSpPr txBox="1"/>
            <p:nvPr/>
          </p:nvSpPr>
          <p:spPr>
            <a:xfrm>
              <a:off x="8302752" y="7498080"/>
              <a:ext cx="1911096" cy="32918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0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validation-controlled decoding</a:t>
              </a:r>
            </a:p>
          </p:txBody>
        </p:sp>
        <p:cxnSp>
          <p:nvCxnSpPr>
            <p:cNvPr id="427" name="Connector 426"/>
            <p:cNvCxnSpPr/>
            <p:nvPr/>
          </p:nvCxnSpPr>
          <p:spPr>
            <a:xfrm>
              <a:off x="7863840" y="7415784"/>
              <a:ext cx="320040" cy="0"/>
            </a:xfrm>
            <a:prstGeom prst="line">
              <a:avLst/>
            </a:prstGeom>
            <a:ln w="15875">
              <a:solidFill>
                <a:srgbClr val="59595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8" name="Group 427"/>
          <p:cNvGrpSpPr/>
          <p:nvPr/>
        </p:nvGrpSpPr>
        <p:grpSpPr>
          <a:xfrm>
            <a:off x="10652760" y="4480560"/>
            <a:ext cx="2377440" cy="3611880"/>
            <a:chOff x="10652760" y="4480560"/>
            <a:chExt cx="2377440" cy="3611880"/>
          </a:xfrm>
        </p:grpSpPr>
        <p:sp>
          <p:nvSpPr>
            <p:cNvPr id="429" name="Rounded Rectangle 428"/>
            <p:cNvSpPr/>
            <p:nvPr/>
          </p:nvSpPr>
          <p:spPr>
            <a:xfrm>
              <a:off x="10652760" y="4480560"/>
              <a:ext cx="2377440" cy="3611880"/>
            </a:xfrm>
            <a:prstGeom prst="roundRect">
              <a:avLst>
                <a:gd name="adj" fmla="val 3076"/>
              </a:avLst>
            </a:prstGeom>
            <a:solidFill>
              <a:srgbClr val="F6F6F6"/>
            </a:solidFill>
            <a:ln w="12700">
              <a:solidFill>
                <a:srgbClr val="A6A6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0" name="TextBox 429"/>
            <p:cNvSpPr txBox="1"/>
            <p:nvPr/>
          </p:nvSpPr>
          <p:spPr>
            <a:xfrm>
              <a:off x="10789920" y="4535424"/>
              <a:ext cx="2103120" cy="2743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50" b="1" i="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Bottleneck report</a:t>
              </a:r>
            </a:p>
          </p:txBody>
        </p:sp>
        <p:sp>
          <p:nvSpPr>
            <p:cNvPr id="431" name="Rectangle 430"/>
            <p:cNvSpPr/>
            <p:nvPr/>
          </p:nvSpPr>
          <p:spPr>
            <a:xfrm>
              <a:off x="11475720" y="4937760"/>
              <a:ext cx="236220" cy="932688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2" name="TextBox 431"/>
            <p:cNvSpPr txBox="1"/>
            <p:nvPr/>
          </p:nvSpPr>
          <p:spPr>
            <a:xfrm>
              <a:off x="10789920" y="4956048"/>
              <a:ext cx="685800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Weld-2</a:t>
              </a:r>
            </a:p>
          </p:txBody>
        </p:sp>
        <p:cxnSp>
          <p:nvCxnSpPr>
            <p:cNvPr id="433" name="Connector 432"/>
            <p:cNvCxnSpPr/>
            <p:nvPr/>
          </p:nvCxnSpPr>
          <p:spPr>
            <a:xfrm>
              <a:off x="11475720" y="5047488"/>
              <a:ext cx="1417320" cy="0"/>
            </a:xfrm>
            <a:prstGeom prst="line">
              <a:avLst/>
            </a:prstGeom>
            <a:ln w="635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4" name="Rectangle 433"/>
            <p:cNvSpPr/>
            <p:nvPr/>
          </p:nvSpPr>
          <p:spPr>
            <a:xfrm>
              <a:off x="11711940" y="4974336"/>
              <a:ext cx="354330" cy="146304"/>
            </a:xfrm>
            <a:prstGeom prst="rect">
              <a:avLst/>
            </a:prstGeom>
            <a:solidFill>
              <a:srgbClr val="CB001C"/>
            </a:solidFill>
            <a:ln w="9525">
              <a:solidFill>
                <a:srgbClr val="CB00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5" name="TextBox 434"/>
            <p:cNvSpPr txBox="1"/>
            <p:nvPr/>
          </p:nvSpPr>
          <p:spPr>
            <a:xfrm>
              <a:off x="10789920" y="5230368"/>
              <a:ext cx="685800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Gantry-1</a:t>
              </a:r>
            </a:p>
          </p:txBody>
        </p:sp>
        <p:cxnSp>
          <p:nvCxnSpPr>
            <p:cNvPr id="436" name="Connector 435"/>
            <p:cNvCxnSpPr/>
            <p:nvPr/>
          </p:nvCxnSpPr>
          <p:spPr>
            <a:xfrm>
              <a:off x="11475720" y="5321808"/>
              <a:ext cx="1417320" cy="0"/>
            </a:xfrm>
            <a:prstGeom prst="line">
              <a:avLst/>
            </a:prstGeom>
            <a:ln w="635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7" name="Rectangle 436"/>
            <p:cNvSpPr/>
            <p:nvPr/>
          </p:nvSpPr>
          <p:spPr>
            <a:xfrm>
              <a:off x="12125325" y="5248656"/>
              <a:ext cx="472440" cy="146304"/>
            </a:xfrm>
            <a:prstGeom prst="rect">
              <a:avLst/>
            </a:prstGeom>
            <a:solidFill>
              <a:srgbClr val="FCB84D"/>
            </a:solidFill>
            <a:ln w="9525">
              <a:solidFill>
                <a:srgbClr val="F2612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8" name="TextBox 437"/>
            <p:cNvSpPr txBox="1"/>
            <p:nvPr/>
          </p:nvSpPr>
          <p:spPr>
            <a:xfrm>
              <a:off x="10789920" y="5669280"/>
              <a:ext cx="685800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AGV-3</a:t>
              </a:r>
            </a:p>
          </p:txBody>
        </p:sp>
        <p:cxnSp>
          <p:nvCxnSpPr>
            <p:cNvPr id="439" name="Connector 438"/>
            <p:cNvCxnSpPr/>
            <p:nvPr/>
          </p:nvCxnSpPr>
          <p:spPr>
            <a:xfrm>
              <a:off x="11475720" y="5760720"/>
              <a:ext cx="1417320" cy="0"/>
            </a:xfrm>
            <a:prstGeom prst="line">
              <a:avLst/>
            </a:prstGeom>
            <a:ln w="635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Connector 439"/>
            <p:cNvCxnSpPr/>
            <p:nvPr/>
          </p:nvCxnSpPr>
          <p:spPr>
            <a:xfrm>
              <a:off x="11711940" y="4937760"/>
              <a:ext cx="0" cy="932688"/>
            </a:xfrm>
            <a:prstGeom prst="line">
              <a:avLst/>
            </a:prstGeom>
            <a:ln w="15875">
              <a:solidFill>
                <a:srgbClr val="26262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1" name="TextBox 440"/>
            <p:cNvSpPr txBox="1"/>
            <p:nvPr/>
          </p:nvSpPr>
          <p:spPr>
            <a:xfrm>
              <a:off x="11483340" y="4800600"/>
              <a:ext cx="457200" cy="1371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50" b="0" i="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now</a:t>
              </a:r>
            </a:p>
          </p:txBody>
        </p:sp>
        <p:sp>
          <p:nvSpPr>
            <p:cNvPr id="442" name="Freeform 441"/>
            <p:cNvSpPr/>
            <p:nvPr/>
          </p:nvSpPr>
          <p:spPr>
            <a:xfrm>
              <a:off x="11711940" y="5468112"/>
              <a:ext cx="413385" cy="36576"/>
            </a:xfrm>
            <a:custGeom>
              <a:avLst/>
              <a:gdLst/>
              <a:ahLst/>
              <a:cxnLst/>
              <a:rect l="l" t="t" r="r" b="b"/>
              <a:pathLst>
                <a:path w="413385" h="36576">
                  <a:moveTo>
                    <a:pt x="0" y="0"/>
                  </a:moveTo>
                  <a:lnTo>
                    <a:pt x="0" y="36576"/>
                  </a:lnTo>
                  <a:lnTo>
                    <a:pt x="413385" y="36576"/>
                  </a:lnTo>
                  <a:lnTo>
                    <a:pt x="413385" y="0"/>
                  </a:lnTo>
                </a:path>
              </a:pathLst>
            </a:custGeom>
            <a:noFill/>
            <a:ln w="11430">
              <a:solidFill>
                <a:srgbClr val="CB00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3" name="TextBox 442"/>
            <p:cNvSpPr txBox="1"/>
            <p:nvPr/>
          </p:nvSpPr>
          <p:spPr>
            <a:xfrm>
              <a:off x="11711940" y="5513832"/>
              <a:ext cx="413385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50" b="1" i="0">
                  <a:solidFill>
                    <a:srgbClr val="CB001C"/>
                  </a:solidFill>
                  <a:latin typeface="Times New Roman"/>
                  <a:ea typeface="Times New Roman"/>
                  <a:cs typeface="Times New Roman"/>
                </a:rPr>
                <a:t>ŝ</a:t>
              </a:r>
            </a:p>
          </p:txBody>
        </p:sp>
        <p:sp>
          <p:nvSpPr>
            <p:cNvPr id="444" name="Freeform 443"/>
            <p:cNvSpPr/>
            <p:nvPr/>
          </p:nvSpPr>
          <p:spPr>
            <a:xfrm>
              <a:off x="12125325" y="5468112"/>
              <a:ext cx="472440" cy="36576"/>
            </a:xfrm>
            <a:custGeom>
              <a:avLst/>
              <a:gdLst/>
              <a:ahLst/>
              <a:cxnLst/>
              <a:rect l="l" t="t" r="r" b="b"/>
              <a:pathLst>
                <a:path w="472440" h="36576">
                  <a:moveTo>
                    <a:pt x="0" y="0"/>
                  </a:moveTo>
                  <a:lnTo>
                    <a:pt x="0" y="36576"/>
                  </a:lnTo>
                  <a:lnTo>
                    <a:pt x="472440" y="36576"/>
                  </a:lnTo>
                  <a:lnTo>
                    <a:pt x="472440" y="0"/>
                  </a:lnTo>
                </a:path>
              </a:pathLst>
            </a:custGeom>
            <a:noFill/>
            <a:ln w="11430">
              <a:solidFill>
                <a:srgbClr val="CB00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5" name="TextBox 444"/>
            <p:cNvSpPr txBox="1"/>
            <p:nvPr/>
          </p:nvSpPr>
          <p:spPr>
            <a:xfrm>
              <a:off x="12125325" y="5513832"/>
              <a:ext cx="472440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50" b="1" i="0">
                  <a:solidFill>
                    <a:srgbClr val="CB001C"/>
                  </a:solidFill>
                  <a:latin typeface="Times New Roman"/>
                  <a:ea typeface="Times New Roman"/>
                  <a:cs typeface="Times New Roman"/>
                </a:rPr>
                <a:t>d̂</a:t>
              </a:r>
            </a:p>
          </p:txBody>
        </p:sp>
        <p:sp>
          <p:nvSpPr>
            <p:cNvPr id="446" name="TextBox 445"/>
            <p:cNvSpPr txBox="1"/>
            <p:nvPr/>
          </p:nvSpPr>
          <p:spPr>
            <a:xfrm>
              <a:off x="10789920" y="5897880"/>
              <a:ext cx="21031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5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future minutes (cap 5/10/15)</a:t>
              </a:r>
            </a:p>
          </p:txBody>
        </p:sp>
        <p:sp>
          <p:nvSpPr>
            <p:cNvPr id="447" name="TextBox 446"/>
            <p:cNvSpPr txBox="1"/>
            <p:nvPr/>
          </p:nvSpPr>
          <p:spPr>
            <a:xfrm>
              <a:off x="10789920" y="6126480"/>
              <a:ext cx="2103120" cy="20116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1" i="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Process cause ĉ</a:t>
              </a:r>
            </a:p>
          </p:txBody>
        </p:sp>
        <p:sp>
          <p:nvSpPr>
            <p:cNvPr id="448" name="TextBox 447"/>
            <p:cNvSpPr txBox="1"/>
            <p:nvPr/>
          </p:nvSpPr>
          <p:spPr>
            <a:xfrm>
              <a:off x="10789920" y="6336792"/>
              <a:ext cx="777240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0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Transport</a:t>
              </a:r>
            </a:p>
          </p:txBody>
        </p:sp>
        <p:sp>
          <p:nvSpPr>
            <p:cNvPr id="449" name="Rectangle 448"/>
            <p:cNvSpPr/>
            <p:nvPr/>
          </p:nvSpPr>
          <p:spPr>
            <a:xfrm>
              <a:off x="11567160" y="6355080"/>
              <a:ext cx="1325880" cy="14630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0" name="Rectangle 449"/>
            <p:cNvSpPr/>
            <p:nvPr/>
          </p:nvSpPr>
          <p:spPr>
            <a:xfrm>
              <a:off x="11567160" y="6355080"/>
              <a:ext cx="159106" cy="146304"/>
            </a:xfrm>
            <a:prstGeom prst="rect">
              <a:avLst/>
            </a:prstGeom>
            <a:solidFill>
              <a:srgbClr val="A6DC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1" name="TextBox 450"/>
            <p:cNvSpPr txBox="1"/>
            <p:nvPr/>
          </p:nvSpPr>
          <p:spPr>
            <a:xfrm>
              <a:off x="10789920" y="6565392"/>
              <a:ext cx="777240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0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Shortage</a:t>
              </a:r>
            </a:p>
          </p:txBody>
        </p:sp>
        <p:sp>
          <p:nvSpPr>
            <p:cNvPr id="452" name="Rectangle 451"/>
            <p:cNvSpPr/>
            <p:nvPr/>
          </p:nvSpPr>
          <p:spPr>
            <a:xfrm>
              <a:off x="11567160" y="6583680"/>
              <a:ext cx="1325880" cy="14630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3" name="Rectangle 452"/>
            <p:cNvSpPr/>
            <p:nvPr/>
          </p:nvSpPr>
          <p:spPr>
            <a:xfrm>
              <a:off x="11567160" y="6583680"/>
              <a:ext cx="92812" cy="146304"/>
            </a:xfrm>
            <a:prstGeom prst="rect">
              <a:avLst/>
            </a:prstGeom>
            <a:solidFill>
              <a:srgbClr val="A6DC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4" name="TextBox 453"/>
            <p:cNvSpPr txBox="1"/>
            <p:nvPr/>
          </p:nvSpPr>
          <p:spPr>
            <a:xfrm>
              <a:off x="10789920" y="6793992"/>
              <a:ext cx="777240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0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Starvation</a:t>
              </a:r>
            </a:p>
          </p:txBody>
        </p:sp>
        <p:sp>
          <p:nvSpPr>
            <p:cNvPr id="455" name="Rectangle 454"/>
            <p:cNvSpPr/>
            <p:nvPr/>
          </p:nvSpPr>
          <p:spPr>
            <a:xfrm>
              <a:off x="11567160" y="6812280"/>
              <a:ext cx="1325880" cy="14630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6" name="Rectangle 455"/>
            <p:cNvSpPr/>
            <p:nvPr/>
          </p:nvSpPr>
          <p:spPr>
            <a:xfrm>
              <a:off x="11567160" y="6812280"/>
              <a:ext cx="119329" cy="146304"/>
            </a:xfrm>
            <a:prstGeom prst="rect">
              <a:avLst/>
            </a:prstGeom>
            <a:solidFill>
              <a:srgbClr val="A6DC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7" name="TextBox 456"/>
            <p:cNvSpPr txBox="1"/>
            <p:nvPr/>
          </p:nvSpPr>
          <p:spPr>
            <a:xfrm>
              <a:off x="10789920" y="7022592"/>
              <a:ext cx="777240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00" b="0" i="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</a:rPr>
                <a:t>Queue</a:t>
              </a:r>
            </a:p>
          </p:txBody>
        </p:sp>
        <p:sp>
          <p:nvSpPr>
            <p:cNvPr id="458" name="Rectangle 457"/>
            <p:cNvSpPr/>
            <p:nvPr/>
          </p:nvSpPr>
          <p:spPr>
            <a:xfrm>
              <a:off x="11567160" y="7040880"/>
              <a:ext cx="1325880" cy="14630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9" name="Rectangle 458"/>
            <p:cNvSpPr/>
            <p:nvPr/>
          </p:nvSpPr>
          <p:spPr>
            <a:xfrm>
              <a:off x="11567160" y="7040880"/>
              <a:ext cx="954634" cy="146304"/>
            </a:xfrm>
            <a:prstGeom prst="rect">
              <a:avLst/>
            </a:prstGeom>
            <a:solidFill>
              <a:srgbClr val="3D6E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0" name="TextBox 459"/>
            <p:cNvSpPr txBox="1"/>
            <p:nvPr/>
          </p:nvSpPr>
          <p:spPr>
            <a:xfrm>
              <a:off x="10789920" y="7370064"/>
              <a:ext cx="2103120" cy="20116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1" i="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Remaining order time ℓ̂</a:t>
              </a:r>
            </a:p>
          </p:txBody>
        </p:sp>
        <p:sp>
          <p:nvSpPr>
            <p:cNvPr id="461" name="Rectangle 460"/>
            <p:cNvSpPr/>
            <p:nvPr/>
          </p:nvSpPr>
          <p:spPr>
            <a:xfrm>
              <a:off x="10789920" y="7635240"/>
              <a:ext cx="2103120" cy="16459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2" name="Rectangle 461"/>
            <p:cNvSpPr/>
            <p:nvPr/>
          </p:nvSpPr>
          <p:spPr>
            <a:xfrm>
              <a:off x="10789920" y="7635240"/>
              <a:ext cx="1261872" cy="164592"/>
            </a:xfrm>
            <a:prstGeom prst="rect">
              <a:avLst/>
            </a:prstGeom>
            <a:solidFill>
              <a:srgbClr val="5BA7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3" name="TextBox 462"/>
            <p:cNvSpPr txBox="1"/>
            <p:nvPr/>
          </p:nvSpPr>
          <p:spPr>
            <a:xfrm>
              <a:off x="12097512" y="7626096"/>
              <a:ext cx="822960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00" b="0" i="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</a:rPr>
                <a:t>12 min left</a:t>
              </a:r>
            </a:p>
          </p:txBody>
        </p:sp>
      </p:grpSp>
      <p:cxnSp>
        <p:nvCxnSpPr>
          <p:cNvPr id="464" name="Connector 463"/>
          <p:cNvCxnSpPr/>
          <p:nvPr/>
        </p:nvCxnSpPr>
        <p:spPr>
          <a:xfrm>
            <a:off x="3611880" y="2194560"/>
            <a:ext cx="18288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>
            <a:off x="2011680" y="4114800"/>
            <a:ext cx="0" cy="77724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6" name="TextBox 465"/>
          <p:cNvSpPr txBox="1"/>
          <p:nvPr/>
        </p:nvSpPr>
        <p:spPr>
          <a:xfrm>
            <a:off x="2084832" y="4544568"/>
            <a:ext cx="54864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00" b="1" i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rPr>
              <a:t>X</a:t>
            </a:r>
            <a:r>
              <a:rPr sz="1000" b="1" i="0" baseline="-250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cxnSp>
        <p:nvCxnSpPr>
          <p:cNvPr id="467" name="Connector 466"/>
          <p:cNvCxnSpPr/>
          <p:nvPr/>
        </p:nvCxnSpPr>
        <p:spPr>
          <a:xfrm>
            <a:off x="4937760" y="4114800"/>
            <a:ext cx="0" cy="777240"/>
          </a:xfrm>
          <a:prstGeom prst="line">
            <a:avLst/>
          </a:prstGeom>
          <a:ln w="19050">
            <a:solidFill>
              <a:srgbClr val="3D6E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8" name="TextBox 467"/>
          <p:cNvSpPr txBox="1"/>
          <p:nvPr/>
        </p:nvSpPr>
        <p:spPr>
          <a:xfrm>
            <a:off x="5010912" y="4544568"/>
            <a:ext cx="146304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00" b="1" i="0">
                <a:solidFill>
                  <a:srgbClr val="3D6EB4"/>
                </a:solidFill>
                <a:latin typeface="Times New Roman"/>
                <a:ea typeface="Times New Roman"/>
                <a:cs typeface="Times New Roman"/>
              </a:rPr>
              <a:t>G,  M</a:t>
            </a:r>
            <a:r>
              <a:rPr sz="1000" b="1" i="0" baseline="30000">
                <a:solidFill>
                  <a:srgbClr val="3D6EB4"/>
                </a:solidFill>
                <a:latin typeface="Times New Roman"/>
                <a:ea typeface="Times New Roman"/>
                <a:cs typeface="Times New Roman"/>
              </a:rPr>
              <a:t>G</a:t>
            </a:r>
            <a:r>
              <a:rPr sz="1000" b="1" i="0">
                <a:solidFill>
                  <a:srgbClr val="3D6EB4"/>
                </a:solidFill>
                <a:latin typeface="Times New Roman"/>
                <a:ea typeface="Times New Roman"/>
                <a:cs typeface="Times New Roman"/>
              </a:rPr>
              <a:t>,  M</a:t>
            </a:r>
            <a:r>
              <a:rPr sz="1000" b="1" i="0" baseline="30000">
                <a:solidFill>
                  <a:srgbClr val="3D6EB4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469" name="Freeform 468"/>
          <p:cNvSpPr/>
          <p:nvPr/>
        </p:nvSpPr>
        <p:spPr>
          <a:xfrm>
            <a:off x="6949440" y="3657600"/>
            <a:ext cx="2468880" cy="1536192"/>
          </a:xfrm>
          <a:custGeom>
            <a:avLst/>
            <a:gdLst/>
            <a:ahLst/>
            <a:cxnLst/>
            <a:rect l="l" t="t" r="r" b="b"/>
            <a:pathLst>
              <a:path w="2468880" h="1536192">
                <a:moveTo>
                  <a:pt x="2468880" y="0"/>
                </a:moveTo>
                <a:lnTo>
                  <a:pt x="2468880" y="566928"/>
                </a:lnTo>
                <a:lnTo>
                  <a:pt x="0" y="566928"/>
                </a:lnTo>
                <a:lnTo>
                  <a:pt x="0" y="1536192"/>
                </a:lnTo>
              </a:path>
            </a:pathLst>
          </a:custGeom>
          <a:noFill/>
          <a:ln w="19050">
            <a:solidFill>
              <a:srgbClr val="F26121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TextBox 469"/>
          <p:cNvSpPr txBox="1"/>
          <p:nvPr/>
        </p:nvSpPr>
        <p:spPr>
          <a:xfrm>
            <a:off x="7040880" y="4242816"/>
            <a:ext cx="219456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1" i="0">
                <a:solidFill>
                  <a:srgbClr val="F26121"/>
                </a:solidFill>
                <a:latin typeface="Times New Roman"/>
                <a:ea typeface="Times New Roman"/>
                <a:cs typeface="Times New Roman"/>
              </a:rPr>
              <a:t>pattern keys K</a:t>
            </a:r>
            <a:r>
              <a:rPr sz="950" b="1" i="0" baseline="30000">
                <a:solidFill>
                  <a:srgbClr val="F26121"/>
                </a:solidFill>
                <a:latin typeface="Times New Roman"/>
                <a:ea typeface="Times New Roman"/>
                <a:cs typeface="Times New Roman"/>
              </a:rPr>
              <a:t>P</a:t>
            </a:r>
          </a:p>
        </p:txBody>
      </p:sp>
      <p:sp>
        <p:nvSpPr>
          <p:cNvPr id="471" name="Freeform 470"/>
          <p:cNvSpPr/>
          <p:nvPr/>
        </p:nvSpPr>
        <p:spPr>
          <a:xfrm>
            <a:off x="9692640" y="4114800"/>
            <a:ext cx="1645920" cy="777240"/>
          </a:xfrm>
          <a:custGeom>
            <a:avLst/>
            <a:gdLst/>
            <a:ahLst/>
            <a:cxnLst/>
            <a:rect l="l" t="t" r="r" b="b"/>
            <a:pathLst>
              <a:path w="1645920" h="777240">
                <a:moveTo>
                  <a:pt x="1645920" y="0"/>
                </a:moveTo>
                <a:lnTo>
                  <a:pt x="1645920" y="201168"/>
                </a:lnTo>
                <a:lnTo>
                  <a:pt x="0" y="201168"/>
                </a:lnTo>
                <a:lnTo>
                  <a:pt x="0" y="777240"/>
                </a:lnTo>
              </a:path>
            </a:pathLst>
          </a:custGeom>
          <a:noFill/>
          <a:ln w="19050">
            <a:solidFill>
              <a:srgbClr val="F26121"/>
            </a:solidFill>
            <a:prstDash val="dash"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TextBox 471"/>
          <p:cNvSpPr txBox="1"/>
          <p:nvPr/>
        </p:nvSpPr>
        <p:spPr>
          <a:xfrm>
            <a:off x="9784080" y="4334256"/>
            <a:ext cx="91440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00" b="0" i="1">
                <a:solidFill>
                  <a:srgbClr val="F26121"/>
                </a:solidFill>
                <a:latin typeface="Times New Roman"/>
                <a:ea typeface="Times New Roman"/>
                <a:cs typeface="Times New Roman"/>
              </a:rPr>
              <a:t>training targets</a:t>
            </a:r>
          </a:p>
        </p:txBody>
      </p:sp>
      <p:cxnSp>
        <p:nvCxnSpPr>
          <p:cNvPr id="473" name="Connector 472"/>
          <p:cNvCxnSpPr/>
          <p:nvPr/>
        </p:nvCxnSpPr>
        <p:spPr>
          <a:xfrm>
            <a:off x="10332720" y="6400800"/>
            <a:ext cx="32004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Times New Roman"/>
        <a:ea typeface="Times New Roman"/>
        <a:cs typeface="Times New Roman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Times New Roman"/>
        <a:cs typeface="Times New Roman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