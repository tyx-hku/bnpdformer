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5240000" cy="17780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00" userDrawn="1">
          <p15:clr>
            <a:srgbClr val="A4A3A4"/>
          </p15:clr>
        </p15:guide>
        <p15:guide id="2" pos="4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5600"/>
        <p:guide pos="4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Revised from v4 per user instructions. Panel b now contains separately headed Manufacturing stages and Shared handling subtasks. Panel c depicts the directed six-stage product route, replacing the previous undirected model-adjacency illustration. Sources: env_asset_cfg/cfg_process_task_gallery.py and cfg_process_subtask_gallery.py. Workbench and rotary station pairs represent alternatives; P3/P6 reuse the workbench resource family. M labels identify resources, P labels identify manufacturing stages. Native editable shapes and connections preserved. Scene and other evidence are inherited from verified v4.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27000" y="127000"/>
            <a:ext cx="14986000" cy="4902200"/>
          </a:xfrm>
          <a:prstGeom prst="rect">
            <a:avLst/>
          </a:prstGeom>
          <a:solidFill>
            <a:srgbClr val="ECF6FD"/>
          </a:solidFill>
          <a:ln w="10160">
            <a:solidFill>
              <a:srgbClr val="5E82A2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9400" y="228600"/>
            <a:ext cx="146812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(a)  Digital-twin production environment and entities</a:t>
            </a:r>
            <a:endParaRPr lang="en-US" altLang="en-US" sz="20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 descr="env_screen_shot"/>
          <p:cNvPicPr>
            <a:picLocks noChangeAspect="1"/>
          </p:cNvPicPr>
          <p:nvPr/>
        </p:nvPicPr>
        <p:blipFill>
          <a:blip r:embed="rId1"/>
          <a:srcRect t="20000" r="32000" b="7000"/>
          <a:stretch>
            <a:fillRect/>
          </a:stretch>
        </p:blipFill>
        <p:spPr>
          <a:xfrm>
            <a:off x="279400" y="660400"/>
            <a:ext cx="9652000" cy="4165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223500" y="647700"/>
            <a:ext cx="4699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9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Machine / workstation identifiers</a:t>
            </a:r>
            <a:endParaRPr lang="en-US" altLang="en-US" sz="19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172700" y="1092200"/>
            <a:ext cx="4800600" cy="368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274300" y="1130300"/>
            <a:ext cx="46482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M1   CNC pipe intersection cutting machine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172700" y="1511300"/>
            <a:ext cx="4800600" cy="368300"/>
          </a:xfrm>
          <a:prstGeom prst="rect">
            <a:avLst/>
          </a:prstGeom>
          <a:solidFill>
            <a:srgbClr val="ECF6F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274300" y="1549400"/>
            <a:ext cx="46482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M2   Large pipe roll-grooving machine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172700" y="1930400"/>
            <a:ext cx="4800600" cy="368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274300" y="1968500"/>
            <a:ext cx="46482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M3   Workbench 0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172700" y="2349500"/>
            <a:ext cx="4800600" cy="368300"/>
          </a:xfrm>
          <a:prstGeom prst="rect">
            <a:avLst/>
          </a:prstGeom>
          <a:solidFill>
            <a:srgbClr val="ECF6F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274300" y="2387600"/>
            <a:ext cx="46482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M4   Workbench 1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72700" y="2768600"/>
            <a:ext cx="4800600" cy="368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0274300" y="2806700"/>
            <a:ext cx="46482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M5   Robotic root-welding station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172700" y="3187700"/>
            <a:ext cx="4800600" cy="368300"/>
          </a:xfrm>
          <a:prstGeom prst="rect">
            <a:avLst/>
          </a:prstGeom>
          <a:solidFill>
            <a:srgbClr val="ECF6F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74300" y="3225800"/>
            <a:ext cx="46482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M6   Rotary surface-welding station 0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172700" y="3606800"/>
            <a:ext cx="4800600" cy="368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0274300" y="3644900"/>
            <a:ext cx="46482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M7   Rotary surface-welding station 1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0223500" y="4140200"/>
            <a:ext cx="4699000" cy="635"/>
          </a:xfrm>
          <a:prstGeom prst="line">
            <a:avLst/>
          </a:prstGeom>
          <a:ln w="11430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0236200" y="4279900"/>
            <a:ext cx="46863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M3 / M4 serve both spot welding and painting.
AGV: automated guided vehicle.</a:t>
            </a:r>
            <a:endParaRPr lang="en-US" altLang="en-US" sz="15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5786120" y="2783205"/>
            <a:ext cx="635" cy="4445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481320" y="2618105"/>
            <a:ext cx="609600" cy="330200"/>
          </a:xfrm>
          <a:prstGeom prst="rect">
            <a:avLst/>
          </a:prstGeom>
          <a:solidFill>
            <a:srgbClr val="5E82A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494020" y="2656205"/>
            <a:ext cx="5842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M1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8582660" y="2783205"/>
            <a:ext cx="292100" cy="4445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8569960" y="2618105"/>
            <a:ext cx="609600" cy="330200"/>
          </a:xfrm>
          <a:prstGeom prst="rect">
            <a:avLst/>
          </a:prstGeom>
          <a:solidFill>
            <a:srgbClr val="5E82A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582660" y="2656205"/>
            <a:ext cx="5842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M2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 flipV="1">
            <a:off x="3797300" y="1271270"/>
            <a:ext cx="101600" cy="3302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3492500" y="1106170"/>
            <a:ext cx="609600" cy="330200"/>
          </a:xfrm>
          <a:prstGeom prst="rect">
            <a:avLst/>
          </a:prstGeom>
          <a:solidFill>
            <a:srgbClr val="5E82A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505200" y="1144270"/>
            <a:ext cx="5842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M3/4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4040505" y="2783205"/>
            <a:ext cx="635" cy="4445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3735705" y="2618105"/>
            <a:ext cx="609600" cy="330200"/>
          </a:xfrm>
          <a:prstGeom prst="rect">
            <a:avLst/>
          </a:prstGeom>
          <a:solidFill>
            <a:srgbClr val="5E82A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748405" y="2656205"/>
            <a:ext cx="5842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M5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1698625" y="2783205"/>
            <a:ext cx="635" cy="4445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1393825" y="2618105"/>
            <a:ext cx="609600" cy="330200"/>
          </a:xfrm>
          <a:prstGeom prst="rect">
            <a:avLst/>
          </a:prstGeom>
          <a:solidFill>
            <a:srgbClr val="5E82A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406525" y="2656205"/>
            <a:ext cx="5842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M6/7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7" name="直接连接符 36"/>
          <p:cNvCxnSpPr/>
          <p:nvPr/>
        </p:nvCxnSpPr>
        <p:spPr>
          <a:xfrm flipH="1" flipV="1">
            <a:off x="7362825" y="1120140"/>
            <a:ext cx="127000" cy="4699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6950075" y="967740"/>
            <a:ext cx="825500" cy="304800"/>
          </a:xfrm>
          <a:prstGeom prst="rect">
            <a:avLst/>
          </a:prstGeom>
          <a:solidFill>
            <a:srgbClr val="8887C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975475" y="993140"/>
            <a:ext cx="7747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5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Human</a:t>
            </a:r>
            <a:endParaRPr lang="en-US" altLang="en-US" sz="15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3316605" y="3878580"/>
            <a:ext cx="812800" cy="889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3786505" y="3815080"/>
            <a:ext cx="685800" cy="304800"/>
          </a:xfrm>
          <a:prstGeom prst="rect">
            <a:avLst/>
          </a:prstGeom>
          <a:solidFill>
            <a:srgbClr val="ABD8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3811905" y="3840480"/>
            <a:ext cx="635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5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AGV</a:t>
            </a:r>
            <a:endParaRPr lang="en-US" altLang="en-US" sz="15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1840230" y="4448810"/>
            <a:ext cx="698500" cy="1397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2037080" y="4436110"/>
            <a:ext cx="1003300" cy="304800"/>
          </a:xfrm>
          <a:prstGeom prst="rect">
            <a:avLst/>
          </a:prstGeom>
          <a:solidFill>
            <a:srgbClr val="F9AD9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2062480" y="4461510"/>
            <a:ext cx="9525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5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Material</a:t>
            </a:r>
            <a:endParaRPr lang="en-US" altLang="en-US" sz="15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6" name="直接连接符 45"/>
          <p:cNvCxnSpPr/>
          <p:nvPr/>
        </p:nvCxnSpPr>
        <p:spPr>
          <a:xfrm flipH="1" flipV="1">
            <a:off x="8562975" y="1134745"/>
            <a:ext cx="76200" cy="3810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8150225" y="982345"/>
            <a:ext cx="825500" cy="304800"/>
          </a:xfrm>
          <a:prstGeom prst="rect">
            <a:avLst/>
          </a:prstGeom>
          <a:solidFill>
            <a:srgbClr val="E8B86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8175625" y="1007745"/>
            <a:ext cx="7747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5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Buffer</a:t>
            </a:r>
            <a:endParaRPr lang="en-US" altLang="en-US" sz="15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9" name="直接连接符 48"/>
          <p:cNvCxnSpPr/>
          <p:nvPr/>
        </p:nvCxnSpPr>
        <p:spPr>
          <a:xfrm flipH="1">
            <a:off x="4010025" y="2258060"/>
            <a:ext cx="825500" cy="1143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3571875" y="2219960"/>
            <a:ext cx="876300" cy="304800"/>
          </a:xfrm>
          <a:prstGeom prst="rect">
            <a:avLst/>
          </a:prstGeom>
          <a:solidFill>
            <a:srgbClr val="E8B86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3597275" y="2245360"/>
            <a:ext cx="8255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5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Gantry</a:t>
            </a:r>
            <a:endParaRPr lang="en-US" altLang="en-US" sz="15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27000" y="5207000"/>
            <a:ext cx="14986000" cy="7937500"/>
          </a:xfrm>
          <a:prstGeom prst="rect">
            <a:avLst/>
          </a:prstGeom>
          <a:solidFill>
            <a:srgbClr val="FEEEED"/>
          </a:solidFill>
          <a:ln w="10160">
            <a:solidFill>
              <a:srgbClr val="D15354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279400" y="5308600"/>
            <a:ext cx="146812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(b)  Manufacturing and material handling</a:t>
            </a:r>
            <a:endParaRPr lang="en-US" altLang="en-US" sz="20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92100" y="6197600"/>
            <a:ext cx="279400" cy="279400"/>
          </a:xfrm>
          <a:prstGeom prst="ellipse">
            <a:avLst/>
          </a:prstGeom>
          <a:solidFill>
            <a:srgbClr val="D1535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98500" y="6184900"/>
            <a:ext cx="141986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9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Pipe cutting at M1</a:t>
            </a:r>
            <a:endParaRPr lang="en-US" altLang="en-US" sz="19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98500" y="6515100"/>
            <a:ext cx="14198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7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Deliver raw pipe to M1 → worker operates the cutting machine → cut pipe becomes available for transfer.</a:t>
            </a:r>
            <a:endParaRPr lang="en-US" altLang="en-US" sz="17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292100" y="6908800"/>
            <a:ext cx="279400" cy="279400"/>
          </a:xfrm>
          <a:prstGeom prst="ellipse">
            <a:avLst/>
          </a:prstGeom>
          <a:solidFill>
            <a:srgbClr val="D1535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98500" y="6896100"/>
            <a:ext cx="141986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9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Roll grooving at M2</a:t>
            </a:r>
            <a:endParaRPr lang="en-US" altLang="en-US" sz="19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98500" y="7226300"/>
            <a:ext cx="14198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7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Transfer the cut pipe to the large roll-grooving machine → worker operates M2 → grooved pipe proceeds to assembly.</a:t>
            </a:r>
            <a:endParaRPr lang="en-US" altLang="en-US" sz="17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292100" y="7620000"/>
            <a:ext cx="279400" cy="279400"/>
          </a:xfrm>
          <a:prstGeom prst="ellipse">
            <a:avLst/>
          </a:prstGeom>
          <a:solidFill>
            <a:srgbClr val="D1535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98500" y="7607300"/>
            <a:ext cx="141986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9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Assembly and spot welding at M3 / M4</a:t>
            </a:r>
            <a:endParaRPr lang="en-US" altLang="en-US" sz="19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98500" y="7937500"/>
            <a:ext cx="14198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7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Supply one pipe, one flange and one elbow → select a workbench → assemble and spot-weld → obtain a semi-finished pipe.</a:t>
            </a:r>
            <a:endParaRPr lang="en-US" altLang="en-US" sz="17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292100" y="8331200"/>
            <a:ext cx="279400" cy="279400"/>
          </a:xfrm>
          <a:prstGeom prst="ellipse">
            <a:avLst/>
          </a:prstGeom>
          <a:solidFill>
            <a:srgbClr val="D1535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98500" y="8318500"/>
            <a:ext cx="141986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9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Argon-arc root welding at M5</a:t>
            </a:r>
            <a:endParaRPr lang="en-US" altLang="en-US" sz="19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98500" y="8648700"/>
            <a:ext cx="14198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7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Deliver the semi-finished pipe to the welding robot → worker operates the station → perform root welding.</a:t>
            </a:r>
            <a:endParaRPr lang="en-US" altLang="en-US" sz="17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292100" y="9042400"/>
            <a:ext cx="279400" cy="279400"/>
          </a:xfrm>
          <a:prstGeom prst="ellipse">
            <a:avLst/>
          </a:prstGeom>
          <a:solidFill>
            <a:srgbClr val="D1535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5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98500" y="9029700"/>
            <a:ext cx="141986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9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MIG surface welding at M6 / M7</a:t>
            </a:r>
            <a:endParaRPr lang="en-US" altLang="en-US" sz="19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698500" y="9359900"/>
            <a:ext cx="14198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7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Transfer the root-welded pipe to a selected rotary welding station → perform surface welding → release it for painting.</a:t>
            </a:r>
            <a:endParaRPr lang="en-US" altLang="en-US" sz="17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292100" y="9753600"/>
            <a:ext cx="279400" cy="279400"/>
          </a:xfrm>
          <a:prstGeom prst="ellipse">
            <a:avLst/>
          </a:prstGeom>
          <a:solidFill>
            <a:srgbClr val="D1535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6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98500" y="9740900"/>
            <a:ext cx="141986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9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Rust-proof painting at M3 / M4</a:t>
            </a:r>
            <a:endParaRPr lang="en-US" altLang="en-US" sz="19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98500" y="10071100"/>
            <a:ext cx="14198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7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Return the welded pipe to a workbench → apply rust-proof treatment → produce the finished water pipe.</a:t>
            </a:r>
            <a:endParaRPr lang="en-US" altLang="en-US" sz="17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292100" y="10871200"/>
            <a:ext cx="279400" cy="279400"/>
          </a:xfrm>
          <a:prstGeom prst="ellipse">
            <a:avLst/>
          </a:prstGeom>
          <a:solidFill>
            <a:srgbClr val="5E82A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7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98500" y="10858500"/>
            <a:ext cx="141986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9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Shared processing and outbound handling sequence</a:t>
            </a:r>
            <a:endParaRPr lang="en-US" altLang="en-US" sz="19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98500" y="11188700"/>
            <a:ext cx="14198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7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Worker approaches station → controls machine while it processes → waits for a free gantry → assists loading for outbound transfer.</a:t>
            </a:r>
            <a:endParaRPr lang="en-US" altLang="en-US" sz="17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292100" y="11582400"/>
            <a:ext cx="279400" cy="279400"/>
          </a:xfrm>
          <a:prstGeom prst="ellipse">
            <a:avLst/>
          </a:prstGeom>
          <a:solidFill>
            <a:srgbClr val="5E82A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8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98500" y="11569700"/>
            <a:ext cx="141986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9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Material transfer within one gantry zone</a:t>
            </a:r>
            <a:endParaRPr lang="en-US" altLang="en-US" sz="19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98500" y="11899900"/>
            <a:ext cx="14198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7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Worker and gantry approach material → load onto gantry → carry to the destination → place at the target station or storage area.</a:t>
            </a:r>
            <a:endParaRPr lang="en-US" altLang="en-US" sz="17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椭圆 77"/>
          <p:cNvSpPr/>
          <p:nvPr/>
        </p:nvSpPr>
        <p:spPr>
          <a:xfrm>
            <a:off x="292100" y="12293600"/>
            <a:ext cx="279400" cy="279400"/>
          </a:xfrm>
          <a:prstGeom prst="ellipse">
            <a:avLst/>
          </a:prstGeom>
          <a:solidFill>
            <a:srgbClr val="5E82A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5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9</a:t>
            </a:r>
            <a:endParaRPr lang="en-US" altLang="en-US" sz="15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98500" y="12280900"/>
            <a:ext cx="141986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9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Material transfer across gantry zones</a:t>
            </a:r>
            <a:endParaRPr lang="en-US" altLang="en-US" sz="19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698500" y="12611100"/>
            <a:ext cx="14198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7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Source gantry loads an AGV → source gantry is released → AGV travels → a free destination gantry unloads and places the material.</a:t>
            </a:r>
            <a:endParaRPr lang="en-US" altLang="en-US" sz="17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304800" y="5740400"/>
            <a:ext cx="14630400" cy="342900"/>
          </a:xfrm>
          <a:prstGeom prst="rect">
            <a:avLst/>
          </a:prstGeom>
          <a:solidFill>
            <a:srgbClr val="F9AD9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444500" y="5765800"/>
            <a:ext cx="14351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Manufacturing stages</a:t>
            </a:r>
            <a:endParaRPr lang="en-US" altLang="en-US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304800" y="10414000"/>
            <a:ext cx="14630400" cy="342900"/>
          </a:xfrm>
          <a:prstGeom prst="rect">
            <a:avLst/>
          </a:prstGeom>
          <a:solidFill>
            <a:srgbClr val="ABD8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444500" y="10439400"/>
            <a:ext cx="14351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Shared handling subtasks</a:t>
            </a:r>
            <a:endParaRPr lang="en-US" altLang="en-US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139700" y="13289915"/>
            <a:ext cx="8394700" cy="4216400"/>
          </a:xfrm>
          <a:prstGeom prst="rect">
            <a:avLst/>
          </a:prstGeom>
          <a:solidFill>
            <a:srgbClr val="ECF6FD"/>
          </a:solidFill>
          <a:ln w="10160">
            <a:solidFill>
              <a:srgbClr val="5094D5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文本框 131"/>
          <p:cNvSpPr txBox="1"/>
          <p:nvPr/>
        </p:nvSpPr>
        <p:spPr>
          <a:xfrm>
            <a:off x="292100" y="13391515"/>
            <a:ext cx="80899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(c)  Multi-entity structural graph</a:t>
            </a:r>
            <a:endParaRPr lang="en-US" altLang="en-US" sz="20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33" name="直接连接符 132"/>
          <p:cNvCxnSpPr/>
          <p:nvPr/>
        </p:nvCxnSpPr>
        <p:spPr>
          <a:xfrm flipH="1">
            <a:off x="520700" y="14598015"/>
            <a:ext cx="927100" cy="5588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连接符 133"/>
          <p:cNvCxnSpPr/>
          <p:nvPr/>
        </p:nvCxnSpPr>
        <p:spPr>
          <a:xfrm>
            <a:off x="1447800" y="14598015"/>
            <a:ext cx="330200" cy="8509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/>
        </p:nvCxnSpPr>
        <p:spPr>
          <a:xfrm>
            <a:off x="1447800" y="14598015"/>
            <a:ext cx="1587500" cy="5588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/>
        </p:nvCxnSpPr>
        <p:spPr>
          <a:xfrm>
            <a:off x="1447800" y="14598015"/>
            <a:ext cx="2844800" cy="8509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1447800" y="14598015"/>
            <a:ext cx="4102100" cy="5588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1447800" y="14598015"/>
            <a:ext cx="5359400" cy="8509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/>
        </p:nvCxnSpPr>
        <p:spPr>
          <a:xfrm>
            <a:off x="1447800" y="14598015"/>
            <a:ext cx="6616700" cy="5588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/>
        </p:nvCxnSpPr>
        <p:spPr>
          <a:xfrm flipH="1">
            <a:off x="520700" y="14598015"/>
            <a:ext cx="3797300" cy="5588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flipH="1">
            <a:off x="1778000" y="14598015"/>
            <a:ext cx="2540000" cy="8509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/>
        </p:nvCxnSpPr>
        <p:spPr>
          <a:xfrm flipH="1">
            <a:off x="3035300" y="14598015"/>
            <a:ext cx="1282700" cy="5588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flipH="1">
            <a:off x="4292600" y="14598015"/>
            <a:ext cx="25400" cy="8509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>
            <a:off x="4318000" y="14598015"/>
            <a:ext cx="1231900" cy="5588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/>
        </p:nvCxnSpPr>
        <p:spPr>
          <a:xfrm>
            <a:off x="4318000" y="14598015"/>
            <a:ext cx="2489200" cy="8509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/>
        </p:nvCxnSpPr>
        <p:spPr>
          <a:xfrm>
            <a:off x="4318000" y="14598015"/>
            <a:ext cx="3746500" cy="5588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 flipH="1">
            <a:off x="520700" y="14598015"/>
            <a:ext cx="6667500" cy="5588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8" name="直接连接符 147"/>
          <p:cNvCxnSpPr/>
          <p:nvPr/>
        </p:nvCxnSpPr>
        <p:spPr>
          <a:xfrm flipH="1">
            <a:off x="1778000" y="14598015"/>
            <a:ext cx="5410200" cy="8509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/>
        </p:nvCxnSpPr>
        <p:spPr>
          <a:xfrm flipH="1">
            <a:off x="3035300" y="14598015"/>
            <a:ext cx="4152900" cy="5588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 flipH="1">
            <a:off x="4292600" y="14598015"/>
            <a:ext cx="2895600" cy="8509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>
          <a:xfrm flipH="1">
            <a:off x="5549900" y="14598015"/>
            <a:ext cx="1638300" cy="5588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/>
        </p:nvCxnSpPr>
        <p:spPr>
          <a:xfrm flipH="1">
            <a:off x="6807200" y="14598015"/>
            <a:ext cx="381000" cy="8509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>
            <a:off x="7188200" y="14598015"/>
            <a:ext cx="876300" cy="558800"/>
          </a:xfrm>
          <a:prstGeom prst="line">
            <a:avLst/>
          </a:prstGeom>
          <a:ln w="9525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/>
        </p:nvCxnSpPr>
        <p:spPr>
          <a:xfrm>
            <a:off x="723900" y="15347315"/>
            <a:ext cx="850900" cy="292100"/>
          </a:xfrm>
          <a:prstGeom prst="line">
            <a:avLst/>
          </a:prstGeom>
          <a:ln w="25400">
            <a:solidFill>
              <a:srgbClr val="5094D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直接连接符 154"/>
          <p:cNvCxnSpPr/>
          <p:nvPr/>
        </p:nvCxnSpPr>
        <p:spPr>
          <a:xfrm flipV="1">
            <a:off x="1981200" y="15347315"/>
            <a:ext cx="850900" cy="292100"/>
          </a:xfrm>
          <a:prstGeom prst="line">
            <a:avLst/>
          </a:prstGeom>
          <a:ln w="25400">
            <a:solidFill>
              <a:srgbClr val="5094D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>
            <a:off x="3238500" y="15347315"/>
            <a:ext cx="850900" cy="292100"/>
          </a:xfrm>
          <a:prstGeom prst="line">
            <a:avLst/>
          </a:prstGeom>
          <a:ln w="25400">
            <a:solidFill>
              <a:srgbClr val="5094D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7" name="直接连接符 156"/>
          <p:cNvCxnSpPr/>
          <p:nvPr/>
        </p:nvCxnSpPr>
        <p:spPr>
          <a:xfrm flipV="1">
            <a:off x="4495800" y="15347315"/>
            <a:ext cx="850900" cy="292100"/>
          </a:xfrm>
          <a:prstGeom prst="line">
            <a:avLst/>
          </a:prstGeom>
          <a:ln w="25400">
            <a:solidFill>
              <a:srgbClr val="5094D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>
            <a:off x="5753100" y="15347315"/>
            <a:ext cx="850900" cy="292100"/>
          </a:xfrm>
          <a:prstGeom prst="line">
            <a:avLst/>
          </a:prstGeom>
          <a:ln w="25400">
            <a:solidFill>
              <a:srgbClr val="5094D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 flipV="1">
            <a:off x="7010400" y="15347315"/>
            <a:ext cx="850900" cy="292100"/>
          </a:xfrm>
          <a:prstGeom prst="line">
            <a:avLst/>
          </a:prstGeom>
          <a:ln w="25400">
            <a:solidFill>
              <a:srgbClr val="5094D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 flipH="1" flipV="1">
            <a:off x="520700" y="15537815"/>
            <a:ext cx="927100" cy="800100"/>
          </a:xfrm>
          <a:prstGeom prst="line">
            <a:avLst/>
          </a:prstGeom>
          <a:ln w="12700">
            <a:solidFill>
              <a:srgbClr val="E8B8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1447800" y="15829915"/>
            <a:ext cx="330200" cy="508000"/>
          </a:xfrm>
          <a:prstGeom prst="line">
            <a:avLst/>
          </a:prstGeom>
          <a:ln w="12700">
            <a:solidFill>
              <a:srgbClr val="E8B8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 flipH="1" flipV="1">
            <a:off x="520700" y="15537815"/>
            <a:ext cx="3797300" cy="800100"/>
          </a:xfrm>
          <a:prstGeom prst="line">
            <a:avLst/>
          </a:prstGeom>
          <a:ln w="12700">
            <a:solidFill>
              <a:srgbClr val="E8B8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3" name="直接连接符 162"/>
          <p:cNvCxnSpPr/>
          <p:nvPr/>
        </p:nvCxnSpPr>
        <p:spPr>
          <a:xfrm flipH="1" flipV="1">
            <a:off x="1778000" y="15829915"/>
            <a:ext cx="2540000" cy="508000"/>
          </a:xfrm>
          <a:prstGeom prst="line">
            <a:avLst/>
          </a:prstGeom>
          <a:ln w="12700">
            <a:solidFill>
              <a:srgbClr val="E8B8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4" name="直接连接符 163"/>
          <p:cNvCxnSpPr/>
          <p:nvPr/>
        </p:nvCxnSpPr>
        <p:spPr>
          <a:xfrm flipH="1" flipV="1">
            <a:off x="3035300" y="15537815"/>
            <a:ext cx="1282700" cy="800100"/>
          </a:xfrm>
          <a:prstGeom prst="line">
            <a:avLst/>
          </a:prstGeom>
          <a:ln w="12700">
            <a:solidFill>
              <a:srgbClr val="E8B8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5" name="直接连接符 164"/>
          <p:cNvCxnSpPr/>
          <p:nvPr/>
        </p:nvCxnSpPr>
        <p:spPr>
          <a:xfrm flipH="1" flipV="1">
            <a:off x="3035300" y="15537815"/>
            <a:ext cx="4152900" cy="800100"/>
          </a:xfrm>
          <a:prstGeom prst="line">
            <a:avLst/>
          </a:prstGeom>
          <a:ln w="12700">
            <a:solidFill>
              <a:srgbClr val="E8B8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6" name="直接连接符 165"/>
          <p:cNvCxnSpPr/>
          <p:nvPr/>
        </p:nvCxnSpPr>
        <p:spPr>
          <a:xfrm flipH="1" flipV="1">
            <a:off x="4292600" y="15829915"/>
            <a:ext cx="2895600" cy="508000"/>
          </a:xfrm>
          <a:prstGeom prst="line">
            <a:avLst/>
          </a:prstGeom>
          <a:ln w="12700">
            <a:solidFill>
              <a:srgbClr val="E8B8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" name="直接连接符 166"/>
          <p:cNvCxnSpPr/>
          <p:nvPr/>
        </p:nvCxnSpPr>
        <p:spPr>
          <a:xfrm flipH="1" flipV="1">
            <a:off x="5549900" y="15537815"/>
            <a:ext cx="1638300" cy="800100"/>
          </a:xfrm>
          <a:prstGeom prst="line">
            <a:avLst/>
          </a:prstGeom>
          <a:ln w="12700">
            <a:solidFill>
              <a:srgbClr val="E8B8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 flipH="1" flipV="1">
            <a:off x="6807200" y="15829915"/>
            <a:ext cx="381000" cy="508000"/>
          </a:xfrm>
          <a:prstGeom prst="line">
            <a:avLst/>
          </a:prstGeom>
          <a:ln w="12700">
            <a:solidFill>
              <a:srgbClr val="E8B8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 flipV="1">
            <a:off x="7188200" y="15537815"/>
            <a:ext cx="876300" cy="800100"/>
          </a:xfrm>
          <a:prstGeom prst="line">
            <a:avLst/>
          </a:prstGeom>
          <a:ln w="12700">
            <a:solidFill>
              <a:srgbClr val="E8B8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0" name="椭圆 169"/>
          <p:cNvSpPr/>
          <p:nvPr/>
        </p:nvSpPr>
        <p:spPr>
          <a:xfrm>
            <a:off x="1257300" y="14242415"/>
            <a:ext cx="381000" cy="381000"/>
          </a:xfrm>
          <a:prstGeom prst="ellipse">
            <a:avLst/>
          </a:prstGeom>
          <a:solidFill>
            <a:srgbClr val="E8B86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7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G</a:t>
            </a:r>
            <a:endParaRPr lang="en-US" altLang="en-US" sz="17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1" name="椭圆 170"/>
          <p:cNvSpPr/>
          <p:nvPr/>
        </p:nvSpPr>
        <p:spPr>
          <a:xfrm>
            <a:off x="4127500" y="14242415"/>
            <a:ext cx="381000" cy="381000"/>
          </a:xfrm>
          <a:prstGeom prst="ellipse">
            <a:avLst/>
          </a:prstGeom>
          <a:solidFill>
            <a:srgbClr val="8887C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7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H</a:t>
            </a:r>
            <a:endParaRPr lang="en-US" altLang="en-US" sz="17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2" name="椭圆 171"/>
          <p:cNvSpPr/>
          <p:nvPr/>
        </p:nvSpPr>
        <p:spPr>
          <a:xfrm>
            <a:off x="6997700" y="14242415"/>
            <a:ext cx="381000" cy="381000"/>
          </a:xfrm>
          <a:prstGeom prst="ellipse">
            <a:avLst/>
          </a:prstGeom>
          <a:solidFill>
            <a:srgbClr val="ABD8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7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endParaRPr lang="en-US" altLang="en-US" sz="17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3" name="椭圆 172"/>
          <p:cNvSpPr/>
          <p:nvPr/>
        </p:nvSpPr>
        <p:spPr>
          <a:xfrm>
            <a:off x="304800" y="15131415"/>
            <a:ext cx="431800" cy="431800"/>
          </a:xfrm>
          <a:prstGeom prst="ellipse">
            <a:avLst/>
          </a:prstGeom>
          <a:solidFill>
            <a:srgbClr val="5094D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M1</a:t>
            </a:r>
            <a:endParaRPr lang="en-US" altLang="en-US" sz="14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4" name="椭圆 173"/>
          <p:cNvSpPr/>
          <p:nvPr/>
        </p:nvSpPr>
        <p:spPr>
          <a:xfrm>
            <a:off x="1562100" y="15423515"/>
            <a:ext cx="431800" cy="431800"/>
          </a:xfrm>
          <a:prstGeom prst="ellipse">
            <a:avLst/>
          </a:prstGeom>
          <a:solidFill>
            <a:srgbClr val="5094D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M2</a:t>
            </a:r>
            <a:endParaRPr lang="en-US" altLang="en-US" sz="14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5" name="椭圆 174"/>
          <p:cNvSpPr/>
          <p:nvPr/>
        </p:nvSpPr>
        <p:spPr>
          <a:xfrm>
            <a:off x="2819400" y="15131415"/>
            <a:ext cx="431800" cy="431800"/>
          </a:xfrm>
          <a:prstGeom prst="ellipse">
            <a:avLst/>
          </a:prstGeom>
          <a:solidFill>
            <a:srgbClr val="5094D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M3</a:t>
            </a:r>
            <a:endParaRPr lang="en-US" altLang="en-US" sz="14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6" name="椭圆 175"/>
          <p:cNvSpPr/>
          <p:nvPr/>
        </p:nvSpPr>
        <p:spPr>
          <a:xfrm>
            <a:off x="4076700" y="15423515"/>
            <a:ext cx="431800" cy="431800"/>
          </a:xfrm>
          <a:prstGeom prst="ellipse">
            <a:avLst/>
          </a:prstGeom>
          <a:solidFill>
            <a:srgbClr val="5094D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M4</a:t>
            </a:r>
            <a:endParaRPr lang="en-US" altLang="en-US" sz="14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7" name="椭圆 176"/>
          <p:cNvSpPr/>
          <p:nvPr/>
        </p:nvSpPr>
        <p:spPr>
          <a:xfrm>
            <a:off x="5334000" y="15131415"/>
            <a:ext cx="431800" cy="431800"/>
          </a:xfrm>
          <a:prstGeom prst="ellipse">
            <a:avLst/>
          </a:prstGeom>
          <a:solidFill>
            <a:srgbClr val="5094D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M5</a:t>
            </a:r>
            <a:endParaRPr lang="en-US" altLang="en-US" sz="14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8" name="椭圆 177"/>
          <p:cNvSpPr/>
          <p:nvPr/>
        </p:nvSpPr>
        <p:spPr>
          <a:xfrm>
            <a:off x="6591300" y="15423515"/>
            <a:ext cx="431800" cy="431800"/>
          </a:xfrm>
          <a:prstGeom prst="ellipse">
            <a:avLst/>
          </a:prstGeom>
          <a:solidFill>
            <a:srgbClr val="5094D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M6</a:t>
            </a:r>
            <a:endParaRPr lang="en-US" altLang="en-US" sz="14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9" name="椭圆 178"/>
          <p:cNvSpPr/>
          <p:nvPr/>
        </p:nvSpPr>
        <p:spPr>
          <a:xfrm>
            <a:off x="7848600" y="15131415"/>
            <a:ext cx="431800" cy="431800"/>
          </a:xfrm>
          <a:prstGeom prst="ellipse">
            <a:avLst/>
          </a:prstGeom>
          <a:solidFill>
            <a:srgbClr val="5094D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M7</a:t>
            </a:r>
            <a:endParaRPr lang="en-US" altLang="en-US" sz="14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0" name="椭圆 179"/>
          <p:cNvSpPr/>
          <p:nvPr/>
        </p:nvSpPr>
        <p:spPr>
          <a:xfrm>
            <a:off x="1257300" y="16325215"/>
            <a:ext cx="381000" cy="381000"/>
          </a:xfrm>
          <a:prstGeom prst="ellipse">
            <a:avLst/>
          </a:prstGeom>
          <a:solidFill>
            <a:srgbClr val="E8B86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4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B1</a:t>
            </a:r>
            <a:endParaRPr lang="en-US" altLang="en-US" sz="14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1" name="椭圆 180"/>
          <p:cNvSpPr/>
          <p:nvPr/>
        </p:nvSpPr>
        <p:spPr>
          <a:xfrm>
            <a:off x="4127500" y="16325215"/>
            <a:ext cx="381000" cy="381000"/>
          </a:xfrm>
          <a:prstGeom prst="ellipse">
            <a:avLst/>
          </a:prstGeom>
          <a:solidFill>
            <a:srgbClr val="E8B86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4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B2</a:t>
            </a:r>
            <a:endParaRPr lang="en-US" altLang="en-US" sz="14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2" name="椭圆 181"/>
          <p:cNvSpPr/>
          <p:nvPr/>
        </p:nvSpPr>
        <p:spPr>
          <a:xfrm>
            <a:off x="6997700" y="16325215"/>
            <a:ext cx="381000" cy="381000"/>
          </a:xfrm>
          <a:prstGeom prst="ellipse">
            <a:avLst/>
          </a:prstGeom>
          <a:solidFill>
            <a:srgbClr val="E8B86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en-US" sz="14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B3</a:t>
            </a:r>
            <a:endParaRPr lang="en-US" altLang="en-US" sz="14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368300" y="13797915"/>
            <a:ext cx="79375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5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G: gantry (4)     H: human (5)     R: AGV (4)</a:t>
            </a:r>
            <a:endParaRPr lang="en-US" altLang="en-US" sz="15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342900" y="16833215"/>
            <a:ext cx="8001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3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B1: BlackStorage     B2: GroundStorage     B3: YellowStorage</a:t>
            </a:r>
            <a:endParaRPr lang="en-US" altLang="en-US" sz="13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342900" y="17138015"/>
            <a:ext cx="8001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3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38 nodes: 7 workstations + 4 gantries + 5 humans + 4 AGVs + 18 buffers.</a:t>
            </a:r>
            <a:endParaRPr lang="en-US" altLang="en-US" sz="13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8712200" y="13289915"/>
            <a:ext cx="6413500" cy="4216400"/>
          </a:xfrm>
          <a:prstGeom prst="rect">
            <a:avLst/>
          </a:prstGeom>
          <a:solidFill>
            <a:srgbClr val="FFFFFF"/>
          </a:solidFill>
          <a:ln w="10160">
            <a:solidFill>
              <a:srgbClr val="5E82A2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7" name="文本框 186"/>
          <p:cNvSpPr txBox="1"/>
          <p:nvPr/>
        </p:nvSpPr>
        <p:spPr>
          <a:xfrm>
            <a:off x="8864600" y="13391515"/>
            <a:ext cx="61087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Graph interpretation</a:t>
            </a:r>
            <a:endParaRPr lang="en-US" altLang="en-US" sz="2000" b="1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8" name="直接连接符 187"/>
          <p:cNvCxnSpPr/>
          <p:nvPr/>
        </p:nvCxnSpPr>
        <p:spPr>
          <a:xfrm>
            <a:off x="8915400" y="13950315"/>
            <a:ext cx="406400" cy="635"/>
          </a:xfrm>
          <a:prstGeom prst="line">
            <a:avLst/>
          </a:prstGeom>
          <a:ln w="25400">
            <a:solidFill>
              <a:srgbClr val="5094D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9" name="文本框 188"/>
          <p:cNvSpPr txBox="1"/>
          <p:nvPr/>
        </p:nvSpPr>
        <p:spPr>
          <a:xfrm>
            <a:off x="9448800" y="13823315"/>
            <a:ext cx="54864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Blue: workstation backbone links.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90" name="直接连接符 189"/>
          <p:cNvCxnSpPr/>
          <p:nvPr/>
        </p:nvCxnSpPr>
        <p:spPr>
          <a:xfrm>
            <a:off x="8915400" y="14344015"/>
            <a:ext cx="406400" cy="635"/>
          </a:xfrm>
          <a:prstGeom prst="line">
            <a:avLst/>
          </a:prstGeom>
          <a:ln w="15240">
            <a:solidFill>
              <a:srgbClr val="BFC7E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1" name="文本框 190"/>
          <p:cNvSpPr txBox="1"/>
          <p:nvPr/>
        </p:nvSpPr>
        <p:spPr>
          <a:xfrm>
            <a:off x="9448800" y="14217015"/>
            <a:ext cx="54864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Lavender: human / transport–station links.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92" name="直接连接符 191"/>
          <p:cNvCxnSpPr/>
          <p:nvPr/>
        </p:nvCxnSpPr>
        <p:spPr>
          <a:xfrm>
            <a:off x="8915400" y="14737715"/>
            <a:ext cx="406400" cy="635"/>
          </a:xfrm>
          <a:prstGeom prst="line">
            <a:avLst/>
          </a:prstGeom>
          <a:ln w="15240">
            <a:solidFill>
              <a:srgbClr val="E8B8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9448800" y="14610715"/>
            <a:ext cx="54864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Ochre: buffer–station affinities.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8915400" y="15106015"/>
            <a:ext cx="60071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M1–M7 match the workstation list in (a). G, H, R and B1–B3 each represent one node of their resource family.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8915400" y="15804515"/>
            <a:ext cx="60071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Edges are undirected structural associations, not task precedence. Repeated nodes, self-loops and within-type transport links are omitted.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8915400" y="16515715"/>
            <a:ext cx="60071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243D50"/>
                </a:solidFill>
                <a:latin typeface="Times New Roman" panose="02020603050405020304" charset="0"/>
                <a:cs typeface="Times New Roman" panose="02020603050405020304" charset="0"/>
              </a:rPr>
              <a:t>Material is visible in the scene but is not a separate graph node. Its effects enter resource features, including supply, waiting and buffer occupancy.</a:t>
            </a:r>
            <a:endParaRPr lang="en-US" altLang="en-US" sz="1600">
              <a:solidFill>
                <a:srgbClr val="243D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2606</Words>
  <Application>WPS 演示</Application>
  <PresentationFormat>宽屏</PresentationFormat>
  <Paragraphs>148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tiany</dc:creator>
  <cp:lastModifiedBy>田宇潇</cp:lastModifiedBy>
  <cp:revision>159</cp:revision>
  <dcterms:created xsi:type="dcterms:W3CDTF">2019-06-19T02:08:00Z</dcterms:created>
  <dcterms:modified xsi:type="dcterms:W3CDTF">2026-10-23T04:46:15Z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03796CCB42164794BF1C222C96E88252_13</vt:lpwstr>
  </property>
</Properties>
</file>