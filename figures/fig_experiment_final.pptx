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15240000" cy="17780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600" userDrawn="1">
          <p15:clr>
            <a:srgbClr val="A4A3A4"/>
          </p15:clr>
        </p15:guide>
        <p15:guide id="2" pos="480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5600"/>
        <p:guide pos="480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en-US"/>
              <a:t>Revised from v4 per user instructions. Panel b now contains separately headed Manufacturing stages and Shared handling subtasks. Panel c depicts the directed six-stage product route, replacing the previous undirected model-adjacency illustration. Sources: env_asset_cfg/cfg_process_task_gallery.py and cfg_process_subtask_gallery.py. Workbench and rotary station pairs represent alternatives; P3/P6 reuse the workbench resource family. M labels identify resources, P labels identify manufacturing stages. Native editable shapes and connections preserved. Scene and other evidence are inherited from verified v4.</a:t>
            </a:r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127000" y="127000"/>
            <a:ext cx="14986000" cy="4902200"/>
          </a:xfrm>
          <a:prstGeom prst="rect">
            <a:avLst/>
          </a:prstGeom>
          <a:solidFill>
            <a:srgbClr val="ECF6FD"/>
          </a:solidFill>
          <a:ln w="10160">
            <a:solidFill>
              <a:srgbClr val="5E82A2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279400" y="228600"/>
            <a:ext cx="14681200" cy="3073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20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(a)  Open-workspace factory model and entities</a:t>
            </a:r>
            <a:endParaRPr lang="en-US" altLang="en-US" sz="20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图片 3" descr="env_screen_shot"/>
          <p:cNvPicPr>
            <a:picLocks noChangeAspect="1"/>
          </p:cNvPicPr>
          <p:nvPr/>
        </p:nvPicPr>
        <p:blipFill>
          <a:blip r:embed="rId1"/>
          <a:srcRect t="20000" r="32000" b="7000"/>
          <a:stretch>
            <a:fillRect/>
          </a:stretch>
        </p:blipFill>
        <p:spPr>
          <a:xfrm>
            <a:off x="279400" y="660400"/>
            <a:ext cx="9652000" cy="41656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0223500" y="647700"/>
            <a:ext cx="4699000" cy="2921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9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Machine / workstation identifiers</a:t>
            </a:r>
            <a:endParaRPr lang="en-US" altLang="en-US" sz="19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0172700" y="1092200"/>
            <a:ext cx="4800600" cy="3683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274300" y="1130300"/>
            <a:ext cx="4648200" cy="245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6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M1   CNC pipe intersection cutting machine</a:t>
            </a:r>
            <a:endParaRPr lang="en-US" altLang="en-US" sz="16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0172700" y="1511300"/>
            <a:ext cx="4800600" cy="368300"/>
          </a:xfrm>
          <a:prstGeom prst="rect">
            <a:avLst/>
          </a:prstGeom>
          <a:solidFill>
            <a:srgbClr val="ECF6FD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274300" y="1549400"/>
            <a:ext cx="4648200" cy="245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6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M2   Large pipe roll-grooving machine</a:t>
            </a:r>
            <a:endParaRPr lang="en-US" altLang="en-US" sz="16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0172700" y="1930400"/>
            <a:ext cx="4800600" cy="3683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274300" y="1968500"/>
            <a:ext cx="4648200" cy="245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6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M3   Workbench 0</a:t>
            </a:r>
            <a:endParaRPr lang="en-US" altLang="en-US" sz="16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0172700" y="2349500"/>
            <a:ext cx="4800600" cy="368300"/>
          </a:xfrm>
          <a:prstGeom prst="rect">
            <a:avLst/>
          </a:prstGeom>
          <a:solidFill>
            <a:srgbClr val="ECF6FD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274300" y="2387600"/>
            <a:ext cx="4648200" cy="245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6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M4   Workbench 1</a:t>
            </a:r>
            <a:endParaRPr lang="en-US" altLang="en-US" sz="16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0172700" y="2768600"/>
            <a:ext cx="4800600" cy="3683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10274300" y="2806700"/>
            <a:ext cx="4648200" cy="245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6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M5   Robotic root-welding station</a:t>
            </a:r>
            <a:endParaRPr lang="en-US" altLang="en-US" sz="16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0172700" y="3187700"/>
            <a:ext cx="4800600" cy="368300"/>
          </a:xfrm>
          <a:prstGeom prst="rect">
            <a:avLst/>
          </a:prstGeom>
          <a:solidFill>
            <a:srgbClr val="ECF6FD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0274300" y="3225800"/>
            <a:ext cx="4648200" cy="245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6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M6   Rotary surface-welding station 0</a:t>
            </a:r>
            <a:endParaRPr lang="en-US" altLang="en-US" sz="16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10172700" y="3606800"/>
            <a:ext cx="4800600" cy="3683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0274300" y="3644900"/>
            <a:ext cx="4648200" cy="245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6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M7   Rotary surface-welding station 1</a:t>
            </a:r>
            <a:endParaRPr lang="en-US" altLang="en-US" sz="16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0" name="直接连接符 19"/>
          <p:cNvCxnSpPr/>
          <p:nvPr/>
        </p:nvCxnSpPr>
        <p:spPr>
          <a:xfrm>
            <a:off x="10223500" y="4140200"/>
            <a:ext cx="4699000" cy="635"/>
          </a:xfrm>
          <a:prstGeom prst="line">
            <a:avLst/>
          </a:prstGeom>
          <a:ln w="11430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10236200" y="4279900"/>
            <a:ext cx="4686300" cy="461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5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M3 / M4 serve both spot welding and painting.
AGV: automated guided vehicle.</a:t>
            </a:r>
            <a:endParaRPr lang="en-US" altLang="en-US" sz="15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2" name="直接连接符 21"/>
          <p:cNvCxnSpPr/>
          <p:nvPr/>
        </p:nvCxnSpPr>
        <p:spPr>
          <a:xfrm flipV="1">
            <a:off x="5786120" y="2783205"/>
            <a:ext cx="635" cy="444500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5481320" y="2618105"/>
            <a:ext cx="609600" cy="330200"/>
          </a:xfrm>
          <a:prstGeom prst="rect">
            <a:avLst/>
          </a:prstGeom>
          <a:solidFill>
            <a:srgbClr val="5E82A2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5494020" y="2656205"/>
            <a:ext cx="584200" cy="230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ctr"/>
            <a:r>
              <a:rPr lang="en-US" altLang="en-US" sz="15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M1</a:t>
            </a:r>
            <a:endParaRPr lang="en-US" altLang="en-US" sz="15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5" name="直接连接符 24"/>
          <p:cNvCxnSpPr/>
          <p:nvPr/>
        </p:nvCxnSpPr>
        <p:spPr>
          <a:xfrm flipV="1">
            <a:off x="8582660" y="2783205"/>
            <a:ext cx="292100" cy="444500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8569960" y="2618105"/>
            <a:ext cx="609600" cy="330200"/>
          </a:xfrm>
          <a:prstGeom prst="rect">
            <a:avLst/>
          </a:prstGeom>
          <a:solidFill>
            <a:srgbClr val="5E82A2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/>
        </p:nvSpPr>
        <p:spPr>
          <a:xfrm>
            <a:off x="8582660" y="2656205"/>
            <a:ext cx="584200" cy="230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ctr"/>
            <a:r>
              <a:rPr lang="en-US" altLang="en-US" sz="15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M2</a:t>
            </a:r>
            <a:endParaRPr lang="en-US" altLang="en-US" sz="15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8" name="直接连接符 27"/>
          <p:cNvCxnSpPr/>
          <p:nvPr/>
        </p:nvCxnSpPr>
        <p:spPr>
          <a:xfrm flipH="1" flipV="1">
            <a:off x="3797300" y="1271270"/>
            <a:ext cx="101600" cy="330200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矩形 28"/>
          <p:cNvSpPr/>
          <p:nvPr/>
        </p:nvSpPr>
        <p:spPr>
          <a:xfrm>
            <a:off x="3492500" y="1106170"/>
            <a:ext cx="609600" cy="330200"/>
          </a:xfrm>
          <a:prstGeom prst="rect">
            <a:avLst/>
          </a:prstGeom>
          <a:solidFill>
            <a:srgbClr val="5E82A2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文本框 29"/>
          <p:cNvSpPr txBox="1"/>
          <p:nvPr/>
        </p:nvSpPr>
        <p:spPr>
          <a:xfrm>
            <a:off x="3505200" y="1144270"/>
            <a:ext cx="584200" cy="230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ctr"/>
            <a:r>
              <a:rPr lang="en-US" altLang="en-US" sz="15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M3/4</a:t>
            </a:r>
            <a:endParaRPr lang="en-US" altLang="en-US" sz="15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1" name="直接连接符 30"/>
          <p:cNvCxnSpPr/>
          <p:nvPr/>
        </p:nvCxnSpPr>
        <p:spPr>
          <a:xfrm flipV="1">
            <a:off x="4040505" y="2783205"/>
            <a:ext cx="635" cy="444500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2" name="矩形 31"/>
          <p:cNvSpPr/>
          <p:nvPr/>
        </p:nvSpPr>
        <p:spPr>
          <a:xfrm>
            <a:off x="3735705" y="2618105"/>
            <a:ext cx="609600" cy="330200"/>
          </a:xfrm>
          <a:prstGeom prst="rect">
            <a:avLst/>
          </a:prstGeom>
          <a:solidFill>
            <a:srgbClr val="5E82A2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文本框 32"/>
          <p:cNvSpPr txBox="1"/>
          <p:nvPr/>
        </p:nvSpPr>
        <p:spPr>
          <a:xfrm>
            <a:off x="3748405" y="2656205"/>
            <a:ext cx="584200" cy="230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ctr"/>
            <a:r>
              <a:rPr lang="en-US" altLang="en-US" sz="15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M5</a:t>
            </a:r>
            <a:endParaRPr lang="en-US" altLang="en-US" sz="15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4" name="直接连接符 33"/>
          <p:cNvCxnSpPr/>
          <p:nvPr/>
        </p:nvCxnSpPr>
        <p:spPr>
          <a:xfrm flipV="1">
            <a:off x="1698625" y="2783205"/>
            <a:ext cx="635" cy="444500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5" name="矩形 34"/>
          <p:cNvSpPr/>
          <p:nvPr/>
        </p:nvSpPr>
        <p:spPr>
          <a:xfrm>
            <a:off x="1393825" y="2618105"/>
            <a:ext cx="609600" cy="330200"/>
          </a:xfrm>
          <a:prstGeom prst="rect">
            <a:avLst/>
          </a:prstGeom>
          <a:solidFill>
            <a:srgbClr val="5E82A2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/>
        </p:nvSpPr>
        <p:spPr>
          <a:xfrm>
            <a:off x="1406525" y="2656205"/>
            <a:ext cx="584200" cy="230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ctr"/>
            <a:r>
              <a:rPr lang="en-US" altLang="en-US" sz="15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M6/7</a:t>
            </a:r>
            <a:endParaRPr lang="en-US" altLang="en-US" sz="15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7" name="直接连接符 36"/>
          <p:cNvCxnSpPr/>
          <p:nvPr/>
        </p:nvCxnSpPr>
        <p:spPr>
          <a:xfrm flipH="1" flipV="1">
            <a:off x="7362825" y="1120140"/>
            <a:ext cx="127000" cy="469900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8" name="矩形 37"/>
          <p:cNvSpPr/>
          <p:nvPr/>
        </p:nvSpPr>
        <p:spPr>
          <a:xfrm>
            <a:off x="6950075" y="967740"/>
            <a:ext cx="825500" cy="304800"/>
          </a:xfrm>
          <a:prstGeom prst="rect">
            <a:avLst/>
          </a:prstGeom>
          <a:solidFill>
            <a:srgbClr val="8887C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文本框 38"/>
          <p:cNvSpPr txBox="1"/>
          <p:nvPr/>
        </p:nvSpPr>
        <p:spPr>
          <a:xfrm>
            <a:off x="6975475" y="993140"/>
            <a:ext cx="774700" cy="230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ctr"/>
            <a:r>
              <a:rPr lang="en-US" altLang="en-US" sz="15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Worker</a:t>
            </a:r>
            <a:endParaRPr lang="en-US" altLang="en-US" sz="15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40" name="直接连接符 39"/>
          <p:cNvCxnSpPr/>
          <p:nvPr/>
        </p:nvCxnSpPr>
        <p:spPr>
          <a:xfrm>
            <a:off x="3316605" y="3878580"/>
            <a:ext cx="812800" cy="88900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矩形 40"/>
          <p:cNvSpPr/>
          <p:nvPr/>
        </p:nvSpPr>
        <p:spPr>
          <a:xfrm>
            <a:off x="3786505" y="3815080"/>
            <a:ext cx="685800" cy="304800"/>
          </a:xfrm>
          <a:prstGeom prst="rect">
            <a:avLst/>
          </a:prstGeom>
          <a:solidFill>
            <a:srgbClr val="ABD8E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文本框 41"/>
          <p:cNvSpPr txBox="1"/>
          <p:nvPr/>
        </p:nvSpPr>
        <p:spPr>
          <a:xfrm>
            <a:off x="3811905" y="3840480"/>
            <a:ext cx="635000" cy="230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ctr"/>
            <a:r>
              <a:rPr lang="en-US" altLang="en-US" sz="15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AGV</a:t>
            </a:r>
            <a:endParaRPr lang="en-US" altLang="en-US" sz="15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43" name="直接连接符 42"/>
          <p:cNvCxnSpPr/>
          <p:nvPr/>
        </p:nvCxnSpPr>
        <p:spPr>
          <a:xfrm>
            <a:off x="1840230" y="4448810"/>
            <a:ext cx="698500" cy="139700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4" name="矩形 43"/>
          <p:cNvSpPr/>
          <p:nvPr/>
        </p:nvSpPr>
        <p:spPr>
          <a:xfrm>
            <a:off x="2037080" y="4436110"/>
            <a:ext cx="1003300" cy="304800"/>
          </a:xfrm>
          <a:prstGeom prst="rect">
            <a:avLst/>
          </a:prstGeom>
          <a:solidFill>
            <a:srgbClr val="F9AD9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文本框 44"/>
          <p:cNvSpPr txBox="1"/>
          <p:nvPr/>
        </p:nvSpPr>
        <p:spPr>
          <a:xfrm>
            <a:off x="2062480" y="4461510"/>
            <a:ext cx="952500" cy="230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ctr"/>
            <a:r>
              <a:rPr lang="en-US" altLang="en-US" sz="15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Material</a:t>
            </a:r>
            <a:endParaRPr lang="en-US" altLang="en-US" sz="15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46" name="直接连接符 45"/>
          <p:cNvCxnSpPr/>
          <p:nvPr/>
        </p:nvCxnSpPr>
        <p:spPr>
          <a:xfrm flipH="1" flipV="1">
            <a:off x="8562975" y="1134745"/>
            <a:ext cx="76200" cy="381000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7" name="矩形 46"/>
          <p:cNvSpPr/>
          <p:nvPr/>
        </p:nvSpPr>
        <p:spPr>
          <a:xfrm>
            <a:off x="8150225" y="982345"/>
            <a:ext cx="825500" cy="304800"/>
          </a:xfrm>
          <a:prstGeom prst="rect">
            <a:avLst/>
          </a:prstGeom>
          <a:solidFill>
            <a:srgbClr val="E8B86C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8175625" y="1007745"/>
            <a:ext cx="774700" cy="230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ctr"/>
            <a:r>
              <a:rPr lang="en-US" altLang="en-US" sz="15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Buffer</a:t>
            </a:r>
            <a:endParaRPr lang="en-US" altLang="en-US" sz="15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49" name="直接连接符 48"/>
          <p:cNvCxnSpPr/>
          <p:nvPr/>
        </p:nvCxnSpPr>
        <p:spPr>
          <a:xfrm flipH="1">
            <a:off x="4010025" y="2258060"/>
            <a:ext cx="825500" cy="114300"/>
          </a:xfrm>
          <a:prstGeom prst="line">
            <a:avLst/>
          </a:prstGeom>
          <a:ln w="228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0" name="矩形 49"/>
          <p:cNvSpPr/>
          <p:nvPr/>
        </p:nvSpPr>
        <p:spPr>
          <a:xfrm>
            <a:off x="3571875" y="2219960"/>
            <a:ext cx="876300" cy="304800"/>
          </a:xfrm>
          <a:prstGeom prst="rect">
            <a:avLst/>
          </a:prstGeom>
          <a:solidFill>
            <a:srgbClr val="E8B86C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1" name="文本框 50"/>
          <p:cNvSpPr txBox="1"/>
          <p:nvPr/>
        </p:nvSpPr>
        <p:spPr>
          <a:xfrm>
            <a:off x="3597275" y="2245360"/>
            <a:ext cx="825500" cy="230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ctr"/>
            <a:r>
              <a:rPr lang="en-US" altLang="en-US" sz="15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Gantry</a:t>
            </a:r>
            <a:endParaRPr lang="en-US" altLang="en-US" sz="15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127000" y="5207000"/>
            <a:ext cx="14986000" cy="79375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5354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3" name="文本框 52"/>
          <p:cNvSpPr txBox="1"/>
          <p:nvPr/>
        </p:nvSpPr>
        <p:spPr>
          <a:xfrm>
            <a:off x="279400" y="5308600"/>
            <a:ext cx="14681200" cy="3073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20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(b)  Manufacturing and material handling</a:t>
            </a:r>
            <a:endParaRPr lang="en-US" altLang="en-US" sz="20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4" name="椭圆 53"/>
          <p:cNvSpPr/>
          <p:nvPr/>
        </p:nvSpPr>
        <p:spPr>
          <a:xfrm>
            <a:off x="292100" y="6197600"/>
            <a:ext cx="279400" cy="279400"/>
          </a:xfrm>
          <a:prstGeom prst="ellipse">
            <a:avLst/>
          </a:prstGeom>
          <a:solidFill>
            <a:srgbClr val="D15354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5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1</a:t>
            </a:r>
            <a:endParaRPr lang="en-US" altLang="en-US" sz="15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698500" y="6184900"/>
            <a:ext cx="14198600" cy="2921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9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Pipe cutting at M1</a:t>
            </a:r>
            <a:endParaRPr lang="en-US" altLang="en-US" sz="19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98500" y="6515100"/>
            <a:ext cx="141986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7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Deliver raw pipe to M1 → worker operates the cutting machine → cut pipe becomes available for transfer.</a:t>
            </a:r>
            <a:endParaRPr lang="en-US" altLang="en-US" sz="17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7" name="椭圆 56"/>
          <p:cNvSpPr/>
          <p:nvPr/>
        </p:nvSpPr>
        <p:spPr>
          <a:xfrm>
            <a:off x="292100" y="6908800"/>
            <a:ext cx="279400" cy="279400"/>
          </a:xfrm>
          <a:prstGeom prst="ellipse">
            <a:avLst/>
          </a:prstGeom>
          <a:solidFill>
            <a:srgbClr val="D15354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5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2</a:t>
            </a:r>
            <a:endParaRPr lang="en-US" altLang="en-US" sz="15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98500" y="6896100"/>
            <a:ext cx="14198600" cy="2921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9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Roll grooving at M2</a:t>
            </a:r>
            <a:endParaRPr lang="en-US" altLang="en-US" sz="19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698500" y="7226300"/>
            <a:ext cx="141986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7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Transfer the cut pipe to the large roll-grooving machine → worker operates M2 → grooved pipe proceeds to assembly.</a:t>
            </a:r>
            <a:endParaRPr lang="en-US" altLang="en-US" sz="17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0" name="椭圆 59"/>
          <p:cNvSpPr/>
          <p:nvPr/>
        </p:nvSpPr>
        <p:spPr>
          <a:xfrm>
            <a:off x="292100" y="7620000"/>
            <a:ext cx="279400" cy="279400"/>
          </a:xfrm>
          <a:prstGeom prst="ellipse">
            <a:avLst/>
          </a:prstGeom>
          <a:solidFill>
            <a:srgbClr val="D15354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5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3</a:t>
            </a:r>
            <a:endParaRPr lang="en-US" altLang="en-US" sz="15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698500" y="7607300"/>
            <a:ext cx="14198600" cy="2921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9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Assembly and spot welding at M3 / M4</a:t>
            </a:r>
            <a:endParaRPr lang="en-US" altLang="en-US" sz="19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2" name="文本框 61"/>
          <p:cNvSpPr txBox="1"/>
          <p:nvPr/>
        </p:nvSpPr>
        <p:spPr>
          <a:xfrm>
            <a:off x="698500" y="7937500"/>
            <a:ext cx="141986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7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Supply one pipe, one flange and one elbow → select a workbench → assemble and spot-weld → obtain a semi-finished pipe.</a:t>
            </a:r>
            <a:endParaRPr lang="en-US" altLang="en-US" sz="17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3" name="椭圆 62"/>
          <p:cNvSpPr/>
          <p:nvPr/>
        </p:nvSpPr>
        <p:spPr>
          <a:xfrm>
            <a:off x="292100" y="8331200"/>
            <a:ext cx="279400" cy="279400"/>
          </a:xfrm>
          <a:prstGeom prst="ellipse">
            <a:avLst/>
          </a:prstGeom>
          <a:solidFill>
            <a:srgbClr val="D15354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5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4</a:t>
            </a:r>
            <a:endParaRPr lang="en-US" altLang="en-US" sz="15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698500" y="8318500"/>
            <a:ext cx="14198600" cy="2921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9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Argon-arc root welding at M5</a:t>
            </a:r>
            <a:endParaRPr lang="en-US" altLang="en-US" sz="19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5" name="文本框 64"/>
          <p:cNvSpPr txBox="1"/>
          <p:nvPr/>
        </p:nvSpPr>
        <p:spPr>
          <a:xfrm>
            <a:off x="698500" y="8648700"/>
            <a:ext cx="141986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7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Deliver the semi-finished pipe to the welding robot → worker operates the station → perform root welding.</a:t>
            </a:r>
            <a:endParaRPr lang="en-US" altLang="en-US" sz="17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6" name="椭圆 65"/>
          <p:cNvSpPr/>
          <p:nvPr/>
        </p:nvSpPr>
        <p:spPr>
          <a:xfrm>
            <a:off x="292100" y="9042400"/>
            <a:ext cx="279400" cy="279400"/>
          </a:xfrm>
          <a:prstGeom prst="ellipse">
            <a:avLst/>
          </a:prstGeom>
          <a:solidFill>
            <a:srgbClr val="D15354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5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5</a:t>
            </a:r>
            <a:endParaRPr lang="en-US" altLang="en-US" sz="15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698500" y="9029700"/>
            <a:ext cx="14198600" cy="2921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9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MIG surface welding at M6 / M7</a:t>
            </a:r>
            <a:endParaRPr lang="en-US" altLang="en-US" sz="19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698500" y="9359900"/>
            <a:ext cx="141986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7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Transfer the root-welded pipe to a selected rotary welding station → perform surface welding → release it for painting.</a:t>
            </a:r>
            <a:endParaRPr lang="en-US" altLang="en-US" sz="17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9" name="椭圆 68"/>
          <p:cNvSpPr/>
          <p:nvPr/>
        </p:nvSpPr>
        <p:spPr>
          <a:xfrm>
            <a:off x="292100" y="9753600"/>
            <a:ext cx="279400" cy="279400"/>
          </a:xfrm>
          <a:prstGeom prst="ellipse">
            <a:avLst/>
          </a:prstGeom>
          <a:solidFill>
            <a:srgbClr val="D15354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5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6</a:t>
            </a:r>
            <a:endParaRPr lang="en-US" altLang="en-US" sz="15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0" name="文本框 69"/>
          <p:cNvSpPr txBox="1"/>
          <p:nvPr/>
        </p:nvSpPr>
        <p:spPr>
          <a:xfrm>
            <a:off x="698500" y="9740900"/>
            <a:ext cx="14198600" cy="2921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9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Rust-proof painting at M3 / M4</a:t>
            </a:r>
            <a:endParaRPr lang="en-US" altLang="en-US" sz="19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1" name="文本框 70"/>
          <p:cNvSpPr txBox="1"/>
          <p:nvPr/>
        </p:nvSpPr>
        <p:spPr>
          <a:xfrm>
            <a:off x="698500" y="10071100"/>
            <a:ext cx="141986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7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Return the welded pipe to a workbench → apply rust-proof treatment → produce the finished water pipe.</a:t>
            </a:r>
            <a:endParaRPr lang="en-US" altLang="en-US" sz="17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2" name="椭圆 71"/>
          <p:cNvSpPr/>
          <p:nvPr/>
        </p:nvSpPr>
        <p:spPr>
          <a:xfrm>
            <a:off x="292100" y="10871200"/>
            <a:ext cx="279400" cy="279400"/>
          </a:xfrm>
          <a:prstGeom prst="ellipse">
            <a:avLst/>
          </a:prstGeom>
          <a:solidFill>
            <a:srgbClr val="5E82A2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5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7</a:t>
            </a:r>
            <a:endParaRPr lang="en-US" altLang="en-US" sz="15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698500" y="10858500"/>
            <a:ext cx="14198600" cy="2921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9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Shared processing and outbound handling sequence</a:t>
            </a:r>
            <a:endParaRPr lang="en-US" altLang="en-US" sz="19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698500" y="11188700"/>
            <a:ext cx="141986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7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Worker approaches station → controls machine while it processes → waits for a free gantry → assists loading for outbound transfer.</a:t>
            </a:r>
            <a:endParaRPr lang="en-US" altLang="en-US" sz="17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5" name="椭圆 74"/>
          <p:cNvSpPr/>
          <p:nvPr/>
        </p:nvSpPr>
        <p:spPr>
          <a:xfrm>
            <a:off x="292100" y="11582400"/>
            <a:ext cx="279400" cy="279400"/>
          </a:xfrm>
          <a:prstGeom prst="ellipse">
            <a:avLst/>
          </a:prstGeom>
          <a:solidFill>
            <a:srgbClr val="5E82A2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5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8</a:t>
            </a:r>
            <a:endParaRPr lang="en-US" altLang="en-US" sz="15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698500" y="11569700"/>
            <a:ext cx="14198600" cy="2921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9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Material transfer within one gantry zone</a:t>
            </a:r>
            <a:endParaRPr lang="en-US" altLang="en-US" sz="19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7" name="文本框 76"/>
          <p:cNvSpPr txBox="1"/>
          <p:nvPr/>
        </p:nvSpPr>
        <p:spPr>
          <a:xfrm>
            <a:off x="698500" y="11899900"/>
            <a:ext cx="141986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7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Worker and gantry approach material → load onto gantry → carry to the destination → place at the target station or storage area.</a:t>
            </a:r>
            <a:endParaRPr lang="en-US" altLang="en-US" sz="17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8" name="椭圆 77"/>
          <p:cNvSpPr/>
          <p:nvPr/>
        </p:nvSpPr>
        <p:spPr>
          <a:xfrm>
            <a:off x="292100" y="12293600"/>
            <a:ext cx="279400" cy="279400"/>
          </a:xfrm>
          <a:prstGeom prst="ellipse">
            <a:avLst/>
          </a:prstGeom>
          <a:solidFill>
            <a:srgbClr val="5E82A2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5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9</a:t>
            </a:r>
            <a:endParaRPr lang="en-US" altLang="en-US" sz="15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698500" y="12280900"/>
            <a:ext cx="14198600" cy="2921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9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Material transfer across gantry zones</a:t>
            </a:r>
            <a:endParaRPr lang="en-US" altLang="en-US" sz="19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698500" y="12611100"/>
            <a:ext cx="141986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7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Source gantry loads an AGV → source gantry is released → AGV travels → a free destination gantry unloads and places the material.</a:t>
            </a:r>
            <a:endParaRPr lang="en-US" altLang="en-US" sz="17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304800" y="5740400"/>
            <a:ext cx="14630400" cy="342900"/>
          </a:xfrm>
          <a:prstGeom prst="rect">
            <a:avLst/>
          </a:prstGeom>
          <a:solidFill>
            <a:srgbClr val="F9AD9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2" name="文本框 81"/>
          <p:cNvSpPr txBox="1"/>
          <p:nvPr/>
        </p:nvSpPr>
        <p:spPr>
          <a:xfrm>
            <a:off x="444500" y="5765800"/>
            <a:ext cx="14351000" cy="2768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Manufacturing stages</a:t>
            </a:r>
            <a:endParaRPr lang="en-US" altLang="en-US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304800" y="10414000"/>
            <a:ext cx="14630400" cy="342900"/>
          </a:xfrm>
          <a:prstGeom prst="rect">
            <a:avLst/>
          </a:prstGeom>
          <a:solidFill>
            <a:srgbClr val="ABD8E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4" name="文本框 83"/>
          <p:cNvSpPr txBox="1"/>
          <p:nvPr/>
        </p:nvSpPr>
        <p:spPr>
          <a:xfrm>
            <a:off x="444500" y="10439400"/>
            <a:ext cx="14351000" cy="2768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Shared handling subtasks</a:t>
            </a:r>
            <a:endParaRPr lang="en-US" altLang="en-US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139700" y="13289915"/>
            <a:ext cx="8394700" cy="4216400"/>
          </a:xfrm>
          <a:prstGeom prst="rect">
            <a:avLst/>
          </a:prstGeom>
          <a:solidFill>
            <a:srgbClr val="ECF6FD"/>
          </a:solidFill>
          <a:ln w="10160">
            <a:solidFill>
              <a:srgbClr val="5094D5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2" name="文本框 131"/>
          <p:cNvSpPr txBox="1"/>
          <p:nvPr/>
        </p:nvSpPr>
        <p:spPr>
          <a:xfrm>
            <a:off x="292100" y="13391515"/>
            <a:ext cx="8089900" cy="3073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20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(c)  Multi-entity structural graph</a:t>
            </a:r>
            <a:endParaRPr lang="en-US" altLang="en-US" sz="20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33" name="直接连接符 132"/>
          <p:cNvCxnSpPr/>
          <p:nvPr/>
        </p:nvCxnSpPr>
        <p:spPr>
          <a:xfrm flipH="1">
            <a:off x="520700" y="14598015"/>
            <a:ext cx="927100" cy="5588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4" name="直接连接符 133"/>
          <p:cNvCxnSpPr/>
          <p:nvPr/>
        </p:nvCxnSpPr>
        <p:spPr>
          <a:xfrm>
            <a:off x="1447800" y="14598015"/>
            <a:ext cx="330200" cy="8509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5" name="直接连接符 134"/>
          <p:cNvCxnSpPr/>
          <p:nvPr/>
        </p:nvCxnSpPr>
        <p:spPr>
          <a:xfrm>
            <a:off x="1447800" y="14598015"/>
            <a:ext cx="1587500" cy="5588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6" name="直接连接符 135"/>
          <p:cNvCxnSpPr/>
          <p:nvPr/>
        </p:nvCxnSpPr>
        <p:spPr>
          <a:xfrm>
            <a:off x="1447800" y="14598015"/>
            <a:ext cx="2844800" cy="8509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7" name="直接连接符 136"/>
          <p:cNvCxnSpPr/>
          <p:nvPr/>
        </p:nvCxnSpPr>
        <p:spPr>
          <a:xfrm>
            <a:off x="1447800" y="14598015"/>
            <a:ext cx="4102100" cy="5588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8" name="直接连接符 137"/>
          <p:cNvCxnSpPr/>
          <p:nvPr/>
        </p:nvCxnSpPr>
        <p:spPr>
          <a:xfrm>
            <a:off x="1447800" y="14598015"/>
            <a:ext cx="5359400" cy="8509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9" name="直接连接符 138"/>
          <p:cNvCxnSpPr/>
          <p:nvPr/>
        </p:nvCxnSpPr>
        <p:spPr>
          <a:xfrm>
            <a:off x="1447800" y="14598015"/>
            <a:ext cx="6616700" cy="5588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0" name="直接连接符 139"/>
          <p:cNvCxnSpPr/>
          <p:nvPr/>
        </p:nvCxnSpPr>
        <p:spPr>
          <a:xfrm flipH="1">
            <a:off x="520700" y="14598015"/>
            <a:ext cx="3797300" cy="5588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1" name="直接连接符 140"/>
          <p:cNvCxnSpPr/>
          <p:nvPr/>
        </p:nvCxnSpPr>
        <p:spPr>
          <a:xfrm flipH="1">
            <a:off x="1778000" y="14598015"/>
            <a:ext cx="2540000" cy="8509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2" name="直接连接符 141"/>
          <p:cNvCxnSpPr/>
          <p:nvPr/>
        </p:nvCxnSpPr>
        <p:spPr>
          <a:xfrm flipH="1">
            <a:off x="3035300" y="14598015"/>
            <a:ext cx="1282700" cy="5588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3" name="直接连接符 142"/>
          <p:cNvCxnSpPr/>
          <p:nvPr/>
        </p:nvCxnSpPr>
        <p:spPr>
          <a:xfrm flipH="1">
            <a:off x="4292600" y="14598015"/>
            <a:ext cx="25400" cy="8509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4" name="直接连接符 143"/>
          <p:cNvCxnSpPr/>
          <p:nvPr/>
        </p:nvCxnSpPr>
        <p:spPr>
          <a:xfrm>
            <a:off x="4318000" y="14598015"/>
            <a:ext cx="1231900" cy="5588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5" name="直接连接符 144"/>
          <p:cNvCxnSpPr/>
          <p:nvPr/>
        </p:nvCxnSpPr>
        <p:spPr>
          <a:xfrm>
            <a:off x="4318000" y="14598015"/>
            <a:ext cx="2489200" cy="8509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6" name="直接连接符 145"/>
          <p:cNvCxnSpPr/>
          <p:nvPr/>
        </p:nvCxnSpPr>
        <p:spPr>
          <a:xfrm>
            <a:off x="4318000" y="14598015"/>
            <a:ext cx="3746500" cy="5588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7" name="直接连接符 146"/>
          <p:cNvCxnSpPr/>
          <p:nvPr/>
        </p:nvCxnSpPr>
        <p:spPr>
          <a:xfrm flipH="1">
            <a:off x="520700" y="14598015"/>
            <a:ext cx="6667500" cy="5588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8" name="直接连接符 147"/>
          <p:cNvCxnSpPr/>
          <p:nvPr/>
        </p:nvCxnSpPr>
        <p:spPr>
          <a:xfrm flipH="1">
            <a:off x="1778000" y="14598015"/>
            <a:ext cx="5410200" cy="8509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9" name="直接连接符 148"/>
          <p:cNvCxnSpPr/>
          <p:nvPr/>
        </p:nvCxnSpPr>
        <p:spPr>
          <a:xfrm flipH="1">
            <a:off x="3035300" y="14598015"/>
            <a:ext cx="4152900" cy="5588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0" name="直接连接符 149"/>
          <p:cNvCxnSpPr/>
          <p:nvPr/>
        </p:nvCxnSpPr>
        <p:spPr>
          <a:xfrm flipH="1">
            <a:off x="4292600" y="14598015"/>
            <a:ext cx="2895600" cy="8509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1" name="直接连接符 150"/>
          <p:cNvCxnSpPr/>
          <p:nvPr/>
        </p:nvCxnSpPr>
        <p:spPr>
          <a:xfrm flipH="1">
            <a:off x="5549900" y="14598015"/>
            <a:ext cx="1638300" cy="5588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2" name="直接连接符 151"/>
          <p:cNvCxnSpPr/>
          <p:nvPr/>
        </p:nvCxnSpPr>
        <p:spPr>
          <a:xfrm flipH="1">
            <a:off x="6807200" y="14598015"/>
            <a:ext cx="381000" cy="8509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3" name="直接连接符 152"/>
          <p:cNvCxnSpPr/>
          <p:nvPr/>
        </p:nvCxnSpPr>
        <p:spPr>
          <a:xfrm>
            <a:off x="7188200" y="14598015"/>
            <a:ext cx="876300" cy="558800"/>
          </a:xfrm>
          <a:prstGeom prst="line">
            <a:avLst/>
          </a:prstGeom>
          <a:ln w="9525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4" name="直接连接符 153"/>
          <p:cNvCxnSpPr/>
          <p:nvPr/>
        </p:nvCxnSpPr>
        <p:spPr>
          <a:xfrm>
            <a:off x="723900" y="15347315"/>
            <a:ext cx="850900" cy="292100"/>
          </a:xfrm>
          <a:prstGeom prst="line">
            <a:avLst/>
          </a:prstGeom>
          <a:ln w="25400">
            <a:solidFill>
              <a:srgbClr val="5094D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5" name="直接连接符 154"/>
          <p:cNvCxnSpPr/>
          <p:nvPr/>
        </p:nvCxnSpPr>
        <p:spPr>
          <a:xfrm flipV="1">
            <a:off x="1981200" y="15347315"/>
            <a:ext cx="850900" cy="292100"/>
          </a:xfrm>
          <a:prstGeom prst="line">
            <a:avLst/>
          </a:prstGeom>
          <a:ln w="25400">
            <a:solidFill>
              <a:srgbClr val="5094D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6" name="直接连接符 155"/>
          <p:cNvCxnSpPr/>
          <p:nvPr/>
        </p:nvCxnSpPr>
        <p:spPr>
          <a:xfrm>
            <a:off x="3238500" y="15347315"/>
            <a:ext cx="850900" cy="292100"/>
          </a:xfrm>
          <a:prstGeom prst="line">
            <a:avLst/>
          </a:prstGeom>
          <a:ln w="25400">
            <a:solidFill>
              <a:srgbClr val="5094D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直接连接符 156"/>
          <p:cNvCxnSpPr/>
          <p:nvPr/>
        </p:nvCxnSpPr>
        <p:spPr>
          <a:xfrm flipV="1">
            <a:off x="4495800" y="15347315"/>
            <a:ext cx="850900" cy="292100"/>
          </a:xfrm>
          <a:prstGeom prst="line">
            <a:avLst/>
          </a:prstGeom>
          <a:ln w="25400">
            <a:solidFill>
              <a:srgbClr val="5094D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直接连接符 157"/>
          <p:cNvCxnSpPr/>
          <p:nvPr/>
        </p:nvCxnSpPr>
        <p:spPr>
          <a:xfrm>
            <a:off x="5753100" y="15347315"/>
            <a:ext cx="850900" cy="292100"/>
          </a:xfrm>
          <a:prstGeom prst="line">
            <a:avLst/>
          </a:prstGeom>
          <a:ln w="25400">
            <a:solidFill>
              <a:srgbClr val="5094D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直接连接符 158"/>
          <p:cNvCxnSpPr/>
          <p:nvPr/>
        </p:nvCxnSpPr>
        <p:spPr>
          <a:xfrm flipV="1">
            <a:off x="7010400" y="15347315"/>
            <a:ext cx="850900" cy="292100"/>
          </a:xfrm>
          <a:prstGeom prst="line">
            <a:avLst/>
          </a:prstGeom>
          <a:ln w="25400">
            <a:solidFill>
              <a:srgbClr val="5094D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0" name="直接连接符 159"/>
          <p:cNvCxnSpPr/>
          <p:nvPr/>
        </p:nvCxnSpPr>
        <p:spPr>
          <a:xfrm flipH="1" flipV="1">
            <a:off x="520700" y="15537815"/>
            <a:ext cx="927100" cy="800100"/>
          </a:xfrm>
          <a:prstGeom prst="line">
            <a:avLst/>
          </a:prstGeom>
          <a:ln w="12700">
            <a:solidFill>
              <a:srgbClr val="E8B86C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1" name="直接连接符 160"/>
          <p:cNvCxnSpPr/>
          <p:nvPr/>
        </p:nvCxnSpPr>
        <p:spPr>
          <a:xfrm flipV="1">
            <a:off x="1447800" y="15829915"/>
            <a:ext cx="330200" cy="508000"/>
          </a:xfrm>
          <a:prstGeom prst="line">
            <a:avLst/>
          </a:prstGeom>
          <a:ln w="12700">
            <a:solidFill>
              <a:srgbClr val="E8B86C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2" name="直接连接符 161"/>
          <p:cNvCxnSpPr/>
          <p:nvPr/>
        </p:nvCxnSpPr>
        <p:spPr>
          <a:xfrm flipH="1" flipV="1">
            <a:off x="520700" y="15537815"/>
            <a:ext cx="3797300" cy="800100"/>
          </a:xfrm>
          <a:prstGeom prst="line">
            <a:avLst/>
          </a:prstGeom>
          <a:ln w="12700">
            <a:solidFill>
              <a:srgbClr val="E8B86C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3" name="直接连接符 162"/>
          <p:cNvCxnSpPr/>
          <p:nvPr/>
        </p:nvCxnSpPr>
        <p:spPr>
          <a:xfrm flipH="1" flipV="1">
            <a:off x="1778000" y="15829915"/>
            <a:ext cx="2540000" cy="508000"/>
          </a:xfrm>
          <a:prstGeom prst="line">
            <a:avLst/>
          </a:prstGeom>
          <a:ln w="12700">
            <a:solidFill>
              <a:srgbClr val="E8B86C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4" name="直接连接符 163"/>
          <p:cNvCxnSpPr/>
          <p:nvPr/>
        </p:nvCxnSpPr>
        <p:spPr>
          <a:xfrm flipH="1" flipV="1">
            <a:off x="3035300" y="15537815"/>
            <a:ext cx="1282700" cy="800100"/>
          </a:xfrm>
          <a:prstGeom prst="line">
            <a:avLst/>
          </a:prstGeom>
          <a:ln w="12700">
            <a:solidFill>
              <a:srgbClr val="E8B86C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5" name="直接连接符 164"/>
          <p:cNvCxnSpPr/>
          <p:nvPr/>
        </p:nvCxnSpPr>
        <p:spPr>
          <a:xfrm flipH="1" flipV="1">
            <a:off x="3035300" y="15537815"/>
            <a:ext cx="4152900" cy="800100"/>
          </a:xfrm>
          <a:prstGeom prst="line">
            <a:avLst/>
          </a:prstGeom>
          <a:ln w="12700">
            <a:solidFill>
              <a:srgbClr val="E8B86C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6" name="直接连接符 165"/>
          <p:cNvCxnSpPr/>
          <p:nvPr/>
        </p:nvCxnSpPr>
        <p:spPr>
          <a:xfrm flipH="1" flipV="1">
            <a:off x="4292600" y="15829915"/>
            <a:ext cx="2895600" cy="508000"/>
          </a:xfrm>
          <a:prstGeom prst="line">
            <a:avLst/>
          </a:prstGeom>
          <a:ln w="12700">
            <a:solidFill>
              <a:srgbClr val="E8B86C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7" name="直接连接符 166"/>
          <p:cNvCxnSpPr/>
          <p:nvPr/>
        </p:nvCxnSpPr>
        <p:spPr>
          <a:xfrm flipH="1" flipV="1">
            <a:off x="5549900" y="15537815"/>
            <a:ext cx="1638300" cy="800100"/>
          </a:xfrm>
          <a:prstGeom prst="line">
            <a:avLst/>
          </a:prstGeom>
          <a:ln w="12700">
            <a:solidFill>
              <a:srgbClr val="E8B86C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8" name="直接连接符 167"/>
          <p:cNvCxnSpPr/>
          <p:nvPr/>
        </p:nvCxnSpPr>
        <p:spPr>
          <a:xfrm flipH="1" flipV="1">
            <a:off x="6807200" y="15829915"/>
            <a:ext cx="381000" cy="508000"/>
          </a:xfrm>
          <a:prstGeom prst="line">
            <a:avLst/>
          </a:prstGeom>
          <a:ln w="12700">
            <a:solidFill>
              <a:srgbClr val="E8B86C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9" name="直接连接符 168"/>
          <p:cNvCxnSpPr/>
          <p:nvPr/>
        </p:nvCxnSpPr>
        <p:spPr>
          <a:xfrm flipV="1">
            <a:off x="7188200" y="15537815"/>
            <a:ext cx="876300" cy="800100"/>
          </a:xfrm>
          <a:prstGeom prst="line">
            <a:avLst/>
          </a:prstGeom>
          <a:ln w="12700">
            <a:solidFill>
              <a:srgbClr val="E8B86C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0" name="椭圆 169"/>
          <p:cNvSpPr/>
          <p:nvPr/>
        </p:nvSpPr>
        <p:spPr>
          <a:xfrm>
            <a:off x="1257300" y="14242415"/>
            <a:ext cx="381000" cy="381000"/>
          </a:xfrm>
          <a:prstGeom prst="ellipse">
            <a:avLst/>
          </a:prstGeom>
          <a:solidFill>
            <a:srgbClr val="E8B86C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7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G</a:t>
            </a:r>
            <a:endParaRPr lang="en-US" altLang="en-US" sz="17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1" name="椭圆 170"/>
          <p:cNvSpPr/>
          <p:nvPr/>
        </p:nvSpPr>
        <p:spPr>
          <a:xfrm>
            <a:off x="4127500" y="14242415"/>
            <a:ext cx="381000" cy="381000"/>
          </a:xfrm>
          <a:prstGeom prst="ellipse">
            <a:avLst/>
          </a:prstGeom>
          <a:solidFill>
            <a:srgbClr val="8887CB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7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H</a:t>
            </a:r>
            <a:endParaRPr lang="en-US" altLang="en-US" sz="17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2" name="椭圆 171"/>
          <p:cNvSpPr/>
          <p:nvPr/>
        </p:nvSpPr>
        <p:spPr>
          <a:xfrm>
            <a:off x="6997700" y="14242415"/>
            <a:ext cx="381000" cy="381000"/>
          </a:xfrm>
          <a:prstGeom prst="ellipse">
            <a:avLst/>
          </a:prstGeom>
          <a:solidFill>
            <a:srgbClr val="ABD8E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7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R</a:t>
            </a:r>
            <a:endParaRPr lang="en-US" altLang="en-US" sz="17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3" name="椭圆 172"/>
          <p:cNvSpPr/>
          <p:nvPr/>
        </p:nvSpPr>
        <p:spPr>
          <a:xfrm>
            <a:off x="304800" y="15131415"/>
            <a:ext cx="431800" cy="431800"/>
          </a:xfrm>
          <a:prstGeom prst="ellipse">
            <a:avLst/>
          </a:prstGeom>
          <a:solidFill>
            <a:srgbClr val="5094D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4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M1</a:t>
            </a:r>
            <a:endParaRPr lang="en-US" altLang="en-US" sz="14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4" name="椭圆 173"/>
          <p:cNvSpPr/>
          <p:nvPr/>
        </p:nvSpPr>
        <p:spPr>
          <a:xfrm>
            <a:off x="1562100" y="15423515"/>
            <a:ext cx="431800" cy="431800"/>
          </a:xfrm>
          <a:prstGeom prst="ellipse">
            <a:avLst/>
          </a:prstGeom>
          <a:solidFill>
            <a:srgbClr val="5094D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4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M2</a:t>
            </a:r>
            <a:endParaRPr lang="en-US" altLang="en-US" sz="14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5" name="椭圆 174"/>
          <p:cNvSpPr/>
          <p:nvPr/>
        </p:nvSpPr>
        <p:spPr>
          <a:xfrm>
            <a:off x="2819400" y="15131415"/>
            <a:ext cx="431800" cy="431800"/>
          </a:xfrm>
          <a:prstGeom prst="ellipse">
            <a:avLst/>
          </a:prstGeom>
          <a:solidFill>
            <a:srgbClr val="5094D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4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M3</a:t>
            </a:r>
            <a:endParaRPr lang="en-US" altLang="en-US" sz="14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6" name="椭圆 175"/>
          <p:cNvSpPr/>
          <p:nvPr/>
        </p:nvSpPr>
        <p:spPr>
          <a:xfrm>
            <a:off x="4076700" y="15423515"/>
            <a:ext cx="431800" cy="431800"/>
          </a:xfrm>
          <a:prstGeom prst="ellipse">
            <a:avLst/>
          </a:prstGeom>
          <a:solidFill>
            <a:srgbClr val="5094D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4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M4</a:t>
            </a:r>
            <a:endParaRPr lang="en-US" altLang="en-US" sz="14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7" name="椭圆 176"/>
          <p:cNvSpPr/>
          <p:nvPr/>
        </p:nvSpPr>
        <p:spPr>
          <a:xfrm>
            <a:off x="5334000" y="15131415"/>
            <a:ext cx="431800" cy="431800"/>
          </a:xfrm>
          <a:prstGeom prst="ellipse">
            <a:avLst/>
          </a:prstGeom>
          <a:solidFill>
            <a:srgbClr val="5094D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4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M5</a:t>
            </a:r>
            <a:endParaRPr lang="en-US" altLang="en-US" sz="14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8" name="椭圆 177"/>
          <p:cNvSpPr/>
          <p:nvPr/>
        </p:nvSpPr>
        <p:spPr>
          <a:xfrm>
            <a:off x="6591300" y="15423515"/>
            <a:ext cx="431800" cy="431800"/>
          </a:xfrm>
          <a:prstGeom prst="ellipse">
            <a:avLst/>
          </a:prstGeom>
          <a:solidFill>
            <a:srgbClr val="5094D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4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M6</a:t>
            </a:r>
            <a:endParaRPr lang="en-US" altLang="en-US" sz="14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9" name="椭圆 178"/>
          <p:cNvSpPr/>
          <p:nvPr/>
        </p:nvSpPr>
        <p:spPr>
          <a:xfrm>
            <a:off x="7848600" y="15131415"/>
            <a:ext cx="431800" cy="431800"/>
          </a:xfrm>
          <a:prstGeom prst="ellipse">
            <a:avLst/>
          </a:prstGeom>
          <a:solidFill>
            <a:srgbClr val="5094D5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400" b="1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M7</a:t>
            </a:r>
            <a:endParaRPr lang="en-US" altLang="en-US" sz="1400" b="1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80" name="椭圆 179"/>
          <p:cNvSpPr/>
          <p:nvPr/>
        </p:nvSpPr>
        <p:spPr>
          <a:xfrm>
            <a:off x="1257300" y="16325215"/>
            <a:ext cx="381000" cy="381000"/>
          </a:xfrm>
          <a:prstGeom prst="ellipse">
            <a:avLst/>
          </a:prstGeom>
          <a:solidFill>
            <a:srgbClr val="E8B86C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4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B1</a:t>
            </a:r>
            <a:endParaRPr lang="en-US" altLang="en-US" sz="14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81" name="椭圆 180"/>
          <p:cNvSpPr/>
          <p:nvPr/>
        </p:nvSpPr>
        <p:spPr>
          <a:xfrm>
            <a:off x="4127500" y="16325215"/>
            <a:ext cx="381000" cy="381000"/>
          </a:xfrm>
          <a:prstGeom prst="ellipse">
            <a:avLst/>
          </a:prstGeom>
          <a:solidFill>
            <a:srgbClr val="E8B86C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4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B2</a:t>
            </a:r>
            <a:endParaRPr lang="en-US" altLang="en-US" sz="14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82" name="椭圆 181"/>
          <p:cNvSpPr/>
          <p:nvPr/>
        </p:nvSpPr>
        <p:spPr>
          <a:xfrm>
            <a:off x="6997700" y="16325215"/>
            <a:ext cx="381000" cy="381000"/>
          </a:xfrm>
          <a:prstGeom prst="ellipse">
            <a:avLst/>
          </a:prstGeom>
          <a:solidFill>
            <a:srgbClr val="E8B86C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en-US" sz="14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B3</a:t>
            </a:r>
            <a:endParaRPr lang="en-US" altLang="en-US" sz="14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83" name="文本框 182"/>
          <p:cNvSpPr txBox="1"/>
          <p:nvPr/>
        </p:nvSpPr>
        <p:spPr>
          <a:xfrm>
            <a:off x="368300" y="13797915"/>
            <a:ext cx="7937500" cy="2305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ctr"/>
            <a:r>
              <a:rPr lang="en-US" altLang="en-US" sz="15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G: gantry (4)     H: worker (5)     R: AGV (4)</a:t>
            </a:r>
            <a:endParaRPr lang="en-US" altLang="en-US" sz="15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84" name="文本框 183"/>
          <p:cNvSpPr txBox="1"/>
          <p:nvPr/>
        </p:nvSpPr>
        <p:spPr>
          <a:xfrm>
            <a:off x="342900" y="16833215"/>
            <a:ext cx="80010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ctr"/>
            <a:r>
              <a:rPr lang="en-US" altLang="en-US" sz="13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B1: BlackStorage     B2: GroundStorage     B3: YellowStorage</a:t>
            </a:r>
            <a:endParaRPr lang="en-US" altLang="en-US" sz="13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85" name="文本框 184"/>
          <p:cNvSpPr txBox="1"/>
          <p:nvPr/>
        </p:nvSpPr>
        <p:spPr>
          <a:xfrm>
            <a:off x="342900" y="17138015"/>
            <a:ext cx="80010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ctr"/>
            <a:r>
              <a:rPr lang="en-US" altLang="en-US" sz="13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38 nodes: 7 workstations + 4 gantries + 5 workers + 4 AGVs + 18 buffers.</a:t>
            </a:r>
            <a:endParaRPr lang="en-US" altLang="en-US" sz="13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86" name="矩形 185"/>
          <p:cNvSpPr/>
          <p:nvPr/>
        </p:nvSpPr>
        <p:spPr>
          <a:xfrm>
            <a:off x="8712200" y="13289915"/>
            <a:ext cx="6413500" cy="4216400"/>
          </a:xfrm>
          <a:prstGeom prst="rect">
            <a:avLst/>
          </a:prstGeom>
          <a:solidFill>
            <a:srgbClr val="FFFFFF"/>
          </a:solidFill>
          <a:ln w="10160">
            <a:solidFill>
              <a:srgbClr val="5E82A2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7" name="文本框 186"/>
          <p:cNvSpPr txBox="1"/>
          <p:nvPr/>
        </p:nvSpPr>
        <p:spPr>
          <a:xfrm>
            <a:off x="8864600" y="13391515"/>
            <a:ext cx="6108700" cy="3073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2000" b="1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Graph interpretation</a:t>
            </a:r>
            <a:endParaRPr lang="en-US" altLang="en-US" sz="2000" b="1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88" name="直接连接符 187"/>
          <p:cNvCxnSpPr/>
          <p:nvPr/>
        </p:nvCxnSpPr>
        <p:spPr>
          <a:xfrm>
            <a:off x="8915400" y="13950315"/>
            <a:ext cx="406400" cy="635"/>
          </a:xfrm>
          <a:prstGeom prst="line">
            <a:avLst/>
          </a:prstGeom>
          <a:ln w="25400">
            <a:solidFill>
              <a:srgbClr val="5094D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9" name="文本框 188"/>
          <p:cNvSpPr txBox="1"/>
          <p:nvPr/>
        </p:nvSpPr>
        <p:spPr>
          <a:xfrm>
            <a:off x="9448800" y="13823315"/>
            <a:ext cx="5486400" cy="245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6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Blue: workstation backbone links.</a:t>
            </a:r>
            <a:endParaRPr lang="en-US" altLang="en-US" sz="16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90" name="直接连接符 189"/>
          <p:cNvCxnSpPr/>
          <p:nvPr/>
        </p:nvCxnSpPr>
        <p:spPr>
          <a:xfrm>
            <a:off x="8915400" y="14344015"/>
            <a:ext cx="406400" cy="635"/>
          </a:xfrm>
          <a:prstGeom prst="line">
            <a:avLst/>
          </a:prstGeom>
          <a:ln w="15240">
            <a:solidFill>
              <a:srgbClr val="BFC7E5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1" name="文本框 190"/>
          <p:cNvSpPr txBox="1"/>
          <p:nvPr/>
        </p:nvSpPr>
        <p:spPr>
          <a:xfrm>
            <a:off x="9448800" y="14217015"/>
            <a:ext cx="5486400" cy="245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6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Lavender: worker / transport–station links.</a:t>
            </a:r>
            <a:endParaRPr lang="en-US" altLang="en-US" sz="16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92" name="直接连接符 191"/>
          <p:cNvCxnSpPr/>
          <p:nvPr/>
        </p:nvCxnSpPr>
        <p:spPr>
          <a:xfrm>
            <a:off x="8915400" y="14737715"/>
            <a:ext cx="406400" cy="635"/>
          </a:xfrm>
          <a:prstGeom prst="line">
            <a:avLst/>
          </a:prstGeom>
          <a:ln w="15240">
            <a:solidFill>
              <a:srgbClr val="E8B86C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3" name="文本框 192"/>
          <p:cNvSpPr txBox="1"/>
          <p:nvPr/>
        </p:nvSpPr>
        <p:spPr>
          <a:xfrm>
            <a:off x="9448800" y="14610715"/>
            <a:ext cx="5486400" cy="245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6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Ochre: buffer–station affinities.</a:t>
            </a:r>
            <a:endParaRPr lang="en-US" altLang="en-US" sz="16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4" name="文本框 193"/>
          <p:cNvSpPr txBox="1"/>
          <p:nvPr/>
        </p:nvSpPr>
        <p:spPr>
          <a:xfrm>
            <a:off x="8915400" y="15106015"/>
            <a:ext cx="6007100" cy="4921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6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M1–M7 match the workstation list in (a). G, H, R and B1–B3 each represent one node of their resource family.</a:t>
            </a:r>
            <a:endParaRPr lang="en-US" altLang="en-US" sz="16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5" name="文本框 194"/>
          <p:cNvSpPr txBox="1"/>
          <p:nvPr/>
        </p:nvSpPr>
        <p:spPr>
          <a:xfrm>
            <a:off x="8915400" y="15804515"/>
            <a:ext cx="6007100" cy="4921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6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Edges are undirected structural associations, not task precedence. Repeated nodes, self-loops and within-type transport links are omitted.</a:t>
            </a:r>
            <a:endParaRPr lang="en-US" altLang="en-US" sz="16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6" name="文本框 195"/>
          <p:cNvSpPr txBox="1"/>
          <p:nvPr/>
        </p:nvSpPr>
        <p:spPr>
          <a:xfrm>
            <a:off x="8915400" y="16515715"/>
            <a:ext cx="6007100" cy="4921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altLang="en-US" sz="1600">
                <a:solidFill>
                  <a:srgbClr val="243D50"/>
                </a:solidFill>
                <a:latin typeface="Times New Roman" panose="02020603050405020304" charset="0"/>
                <a:cs typeface="Times New Roman" panose="02020603050405020304" charset="0"/>
              </a:rPr>
              <a:t>Material is visible in the scene but is not a separate graph node. Its effects enter resource features, including supply, waiting and buffer occupancy.</a:t>
            </a:r>
            <a:endParaRPr lang="en-US" altLang="en-US" sz="1600">
              <a:solidFill>
                <a:srgbClr val="243D5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2606</Words>
  <Application>WPS 演示</Application>
  <PresentationFormat>宽屏</PresentationFormat>
  <Paragraphs>148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宋体</vt:lpstr>
      <vt:lpstr>Wingdings</vt:lpstr>
      <vt:lpstr>Wingdings</vt:lpstr>
      <vt:lpstr>Times New Roman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tiany</dc:creator>
  <cp:lastModifiedBy>田宇潇</cp:lastModifiedBy>
  <cp:revision>159</cp:revision>
  <dcterms:created xsi:type="dcterms:W3CDTF">2019-06-19T02:08:00Z</dcterms:created>
  <dcterms:modified xsi:type="dcterms:W3CDTF">2026-10-23T04:46:15Z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03796CCB42164794BF1C222C96E88252_13</vt:lpwstr>
  </property>
</Properties>
</file>