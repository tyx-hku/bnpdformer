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9050000" cy="1255014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PHAST-DP editable architecture revision 5, following the user's 2026-10-15 sketch. Panel (a) spans the top left and centre; panel (b) is left; the central complete model reads downward; panel (c) is at the upper right; a structured output report occupies the lower right. Each module has a thin flat rectangular boundary. All typography is Times New Roman.</a:t>
            </a:r>
          </a:p>
          <a:p>
            <a:r>
              <a:t>The pattern projections and geographic projections are different objects, not successive transforms of the same matrix. At a fixed encoder time step, Q^P is 38 by 20, while K^P and V^P are 16 by 20. Pattern attention produces 38 by 16 weights and a 38 by 20 context. The base geographic key, context and updated key share dimensions 38 by 20 before head reshaping. The 20-channel geographic projection is split into two heads of width d_h=10. The source scales both pattern and geographic attention by 1/sqrt(d_h). The figure shows the addition explicitly and varies the updated key's cell pattern and outline. The drawn cell counts are compressed schematics; printed dimension labels define the actual meaning.</a:t>
            </a:r>
          </a:p>
          <a:p>
            <a:r>
              <a:t>The report is a schematic prediction output, not an experimental result table: i*, w-hat, s-hat, d-hat, c-hat, ell-hat are symbolic. The highlighted event interval, one-hot process-class indicator and progress bar do not claim measured forecasts. No numerical performance values were invented. The causal/lag traces, graph, matrices, clustering points and feature patches are mechanism illustrations.</a:t>
            </a:r>
          </a:p>
          <a:p>
            <a:r>
              <a:t>Sources: paper main.tex on dev_xwt at ffcfbb7 and isaac_factory origin/dev_tyx 29655baee57b9095119589a211ae1e2113b84078, factory_bn/graph.py, dataset.py, cause_cluster.py, model.py and backbone.py. Current dimensions: 30 history windows, 38 resource nodes, 27 channels, 6 feature groups, 5 pre-norm blocks with 4 temporal/2 geographic/2 semantic heads. The graph uses five node types and symmetric weighted adjacency. Material availability is a resource feature.</a:t>
            </a:r>
          </a:p>
          <a:p>
            <a:r>
              <a:t>Event labels use process rules and persistence. Regime IDs for event conditioning are deterministic rule-based identifiers. The active k-means fits 16 prototypes from length-3 training activity patches; online pattern queries use queue patches. Pattern context is added only to geographic K. Offline exploratory K=8 descriptors with zero prediction-loss weight are omitted. Dashed brown lines convey training supervision and the loss path; a dashed green leader identifies the expanded geographic attention. The main diagram includes residuals, grouped embedding, event/regime/precursor fusion, state/order-progress decoding, graph-pooled cause decoding and event report assembly. Training-loss algebra and dropout are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905000" y="4965700"/>
            <a:ext cx="15240000" cy="189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857500" y="7229475"/>
            <a:ext cx="13335000" cy="146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905000" y="5476875"/>
            <a:ext cx="15240000" cy="2190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5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1690687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1012031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(a) Heterogeneous resource representation"/>
          <p:cNvSpPr>
            <a:spLocks noGrp="1"/>
          </p:cNvSpPr>
          <p:nvPr/>
        </p:nvSpPr>
        <p:spPr>
          <a:xfrm>
            <a:off x="333375" y="215265"/>
            <a:ext cx="11811000" cy="2381250"/>
          </a:xfrm>
          <a:prstGeom prst="rect">
            <a:avLst/>
          </a:prstGeom>
          <a:solidFill>
            <a:srgbClr val="EAF4F8"/>
          </a:solidFill>
          <a:ln w="15945">
            <a:solidFill>
              <a:srgbClr val="356B91"/>
            </a:solidFill>
            <a:prstDash val="solid"/>
          </a:ln>
        </p:spPr>
      </p:sp>
      <p:sp>
        <p:nvSpPr>
          <p:cNvPr id="3" name="(a) Heterogeneous resource representation"/>
          <p:cNvSpPr>
            <a:spLocks noGrp="1"/>
          </p:cNvSpPr>
          <p:nvPr/>
        </p:nvSpPr>
        <p:spPr>
          <a:xfrm>
            <a:off x="523875" y="329565"/>
            <a:ext cx="11430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4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 Heterogeneous resource representation</a:t>
            </a:r>
            <a:endParaRPr sz="2400" b="1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line-1"/>
          <p:cNvSpPr>
            <a:spLocks noGrp="1"/>
          </p:cNvSpPr>
          <p:nvPr/>
        </p:nvSpPr>
        <p:spPr>
          <a:xfrm>
            <a:off x="523875" y="767715"/>
            <a:ext cx="11430000" cy="95"/>
          </a:xfrm>
          <a:custGeom>
            <a:avLst/>
            <a:gdLst/>
            <a:ahLst/>
            <a:cxnLst/>
            <a:pathLst>
              <a:path w="11430000" h="9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620">
            <a:solidFill>
              <a:srgbClr val="356B91"/>
            </a:solidFill>
            <a:prstDash val="solid"/>
          </a:ln>
        </p:spPr>
      </p:sp>
      <p:sp>
        <p:nvSpPr>
          <p:cNvPr id="5" name="(b) Process-informed supervision&#10;and pattern clustering"/>
          <p:cNvSpPr>
            <a:spLocks noGrp="1"/>
          </p:cNvSpPr>
          <p:nvPr/>
        </p:nvSpPr>
        <p:spPr>
          <a:xfrm>
            <a:off x="333375" y="2882265"/>
            <a:ext cx="5143500" cy="9286875"/>
          </a:xfrm>
          <a:prstGeom prst="rect">
            <a:avLst/>
          </a:prstGeom>
          <a:solidFill>
            <a:srgbClr val="FCF0E6"/>
          </a:solidFill>
          <a:ln w="15945">
            <a:solidFill>
              <a:srgbClr val="B96A43"/>
            </a:solidFill>
            <a:prstDash val="solid"/>
          </a:ln>
        </p:spPr>
      </p:sp>
      <p:sp>
        <p:nvSpPr>
          <p:cNvPr id="6" name="(b) Process-informed supervision&#10;and pattern clustering"/>
          <p:cNvSpPr>
            <a:spLocks noGrp="1"/>
          </p:cNvSpPr>
          <p:nvPr/>
        </p:nvSpPr>
        <p:spPr>
          <a:xfrm>
            <a:off x="523875" y="2996565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rmAutofit/>
          </a:bodyPr>
          <a:lstStyle>
            <a:defPPr algn="l">
              <a:defRPr sz="24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r>
              <a:rPr lang="en-US" sz="14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 Process-informed rules</a:t>
            </a:r>
            <a:endParaRPr lang="en-US" sz="14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lang="en-US" sz="14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 clustered temporal-pattern construction</a:t>
            </a:r>
            <a:endParaRPr lang="en-US" sz="14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line-2"/>
          <p:cNvSpPr>
            <a:spLocks noGrp="1"/>
          </p:cNvSpPr>
          <p:nvPr/>
        </p:nvSpPr>
        <p:spPr>
          <a:xfrm>
            <a:off x="523875" y="3691890"/>
            <a:ext cx="4762500" cy="95"/>
          </a:xfrm>
          <a:custGeom>
            <a:avLst/>
            <a:gdLst/>
            <a:ahLst/>
            <a:cxnLst/>
            <a:pathLst>
              <a:path w="4762500" h="9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7620">
            <a:solidFill>
              <a:srgbClr val="B96A43"/>
            </a:solidFill>
            <a:prstDash val="solid"/>
          </a:ln>
        </p:spPr>
      </p:sp>
      <p:sp>
        <p:nvSpPr>
          <p:cNvPr id="8" name="Prediction network"/>
          <p:cNvSpPr>
            <a:spLocks noGrp="1"/>
          </p:cNvSpPr>
          <p:nvPr/>
        </p:nvSpPr>
        <p:spPr>
          <a:xfrm>
            <a:off x="5810250" y="2882265"/>
            <a:ext cx="6334125" cy="9286875"/>
          </a:xfrm>
          <a:prstGeom prst="rect">
            <a:avLst/>
          </a:prstGeom>
          <a:solidFill>
            <a:srgbClr val="F3F5F8"/>
          </a:solidFill>
          <a:ln w="19031">
            <a:solidFill>
              <a:srgbClr val="344453"/>
            </a:solidFill>
            <a:prstDash val="solid"/>
          </a:ln>
        </p:spPr>
      </p:sp>
      <p:sp>
        <p:nvSpPr>
          <p:cNvPr id="9" name="Prediction network"/>
          <p:cNvSpPr>
            <a:spLocks noGrp="1"/>
          </p:cNvSpPr>
          <p:nvPr/>
        </p:nvSpPr>
        <p:spPr>
          <a:xfrm>
            <a:off x="6000750" y="2996565"/>
            <a:ext cx="59531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 i="0">
                <a:solidFill>
                  <a:srgbClr val="243D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r>
              <a:rPr sz="2700" b="1" i="0">
                <a:solidFill>
                  <a:srgbClr val="243D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PHGST-DP</a:t>
            </a:r>
            <a:endParaRPr sz="2700" b="1" i="0">
              <a:solidFill>
                <a:srgbClr val="243D5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line-3"/>
          <p:cNvSpPr>
            <a:spLocks noGrp="1"/>
          </p:cNvSpPr>
          <p:nvPr/>
        </p:nvSpPr>
        <p:spPr>
          <a:xfrm>
            <a:off x="6000750" y="3434715"/>
            <a:ext cx="5953125" cy="95"/>
          </a:xfrm>
          <a:custGeom>
            <a:avLst/>
            <a:gdLst/>
            <a:ahLst/>
            <a:cxnLst/>
            <a:pathLst>
              <a:path w="5953125" h="95">
                <a:moveTo>
                  <a:pt x="0" y="0"/>
                </a:moveTo>
                <a:lnTo>
                  <a:pt x="5953125" y="0"/>
                </a:lnTo>
              </a:path>
            </a:pathLst>
          </a:custGeom>
          <a:noFill/>
          <a:ln w="7620">
            <a:solidFill>
              <a:srgbClr val="344453"/>
            </a:solidFill>
            <a:prstDash val="solid"/>
          </a:ln>
        </p:spPr>
      </p:sp>
      <p:sp>
        <p:nvSpPr>
          <p:cNvPr id="11" name="(c) Delay-conditioned interaction"/>
          <p:cNvSpPr>
            <a:spLocks noGrp="1"/>
          </p:cNvSpPr>
          <p:nvPr/>
        </p:nvSpPr>
        <p:spPr>
          <a:xfrm>
            <a:off x="12573000" y="215265"/>
            <a:ext cx="6143625" cy="7620000"/>
          </a:xfrm>
          <a:prstGeom prst="rect">
            <a:avLst/>
          </a:prstGeom>
          <a:solidFill>
            <a:srgbClr val="E3F0EA"/>
          </a:solidFill>
          <a:ln w="21590">
            <a:solidFill>
              <a:srgbClr val="337F68"/>
            </a:solidFill>
            <a:prstDash val="solid"/>
          </a:ln>
        </p:spPr>
      </p:sp>
      <p:sp>
        <p:nvSpPr>
          <p:cNvPr id="12" name="(c) Delay-conditioned interaction"/>
          <p:cNvSpPr>
            <a:spLocks noGrp="1"/>
          </p:cNvSpPr>
          <p:nvPr/>
        </p:nvSpPr>
        <p:spPr>
          <a:xfrm>
            <a:off x="12763500" y="329565"/>
            <a:ext cx="576262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4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(c) Prototype-conditioned delay-aware</a:t>
            </a:r>
            <a:endParaRPr lang="en-US" sz="1600" b="1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24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propagation module</a:t>
            </a:r>
            <a:endParaRPr lang="en-US" sz="1600" b="1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line-4"/>
          <p:cNvSpPr>
            <a:spLocks noGrp="1"/>
          </p:cNvSpPr>
          <p:nvPr/>
        </p:nvSpPr>
        <p:spPr>
          <a:xfrm>
            <a:off x="12763500" y="76771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37F68"/>
            </a:solidFill>
            <a:prstDash val="solid"/>
          </a:ln>
        </p:spPr>
      </p:sp>
      <p:sp>
        <p:nvSpPr>
          <p:cNvPr id="14" name="Structured bottleneck report"/>
          <p:cNvSpPr>
            <a:spLocks noGrp="1"/>
          </p:cNvSpPr>
          <p:nvPr/>
        </p:nvSpPr>
        <p:spPr>
          <a:xfrm>
            <a:off x="12573000" y="8216265"/>
            <a:ext cx="6143625" cy="3952875"/>
          </a:xfrm>
          <a:prstGeom prst="rect">
            <a:avLst/>
          </a:prstGeom>
          <a:solidFill>
            <a:srgbClr val="F1F4E8"/>
          </a:solidFill>
          <a:ln w="15945">
            <a:solidFill>
              <a:srgbClr val="356B91"/>
            </a:solidFill>
            <a:prstDash val="solid"/>
          </a:ln>
        </p:spPr>
      </p:sp>
      <p:sp>
        <p:nvSpPr>
          <p:cNvPr id="15" name="Structured bottleneck report"/>
          <p:cNvSpPr>
            <a:spLocks noGrp="1"/>
          </p:cNvSpPr>
          <p:nvPr/>
        </p:nvSpPr>
        <p:spPr>
          <a:xfrm>
            <a:off x="12763500" y="833056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l">
              <a:defRPr sz="24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Structured bottleneck report</a:t>
            </a:r>
            <a:endParaRPr sz="2400" b="1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line-5"/>
          <p:cNvSpPr>
            <a:spLocks noGrp="1"/>
          </p:cNvSpPr>
          <p:nvPr/>
        </p:nvSpPr>
        <p:spPr>
          <a:xfrm>
            <a:off x="12763500" y="876871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56B91"/>
            </a:solidFill>
            <a:prstDash val="solid"/>
          </a:ln>
        </p:spPr>
      </p:sp>
      <p:sp>
        <p:nvSpPr>
          <p:cNvPr id="17" name="line-6"/>
          <p:cNvSpPr>
            <a:spLocks noGrp="1"/>
          </p:cNvSpPr>
          <p:nvPr/>
        </p:nvSpPr>
        <p:spPr>
          <a:xfrm>
            <a:off x="1114425" y="1691640"/>
            <a:ext cx="1400175" cy="95"/>
          </a:xfrm>
          <a:custGeom>
            <a:avLst/>
            <a:gdLst/>
            <a:ahLst/>
            <a:cxnLst/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23622">
            <a:solidFill>
              <a:srgbClr val="356B91"/>
            </a:solidFill>
            <a:prstDash val="solid"/>
          </a:ln>
        </p:spPr>
      </p:sp>
      <p:sp>
        <p:nvSpPr>
          <p:cNvPr id="18" name="line-7"/>
          <p:cNvSpPr>
            <a:spLocks noGrp="1"/>
          </p:cNvSpPr>
          <p:nvPr/>
        </p:nvSpPr>
        <p:spPr>
          <a:xfrm>
            <a:off x="2514600" y="1691640"/>
            <a:ext cx="1371600" cy="95"/>
          </a:xfrm>
          <a:custGeom>
            <a:avLst/>
            <a:gdLst/>
            <a:ahLst/>
            <a:cxnLst/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23622">
            <a:solidFill>
              <a:srgbClr val="356B91"/>
            </a:solidFill>
            <a:prstDash val="solid"/>
          </a:ln>
        </p:spPr>
      </p:sp>
      <p:sp>
        <p:nvSpPr>
          <p:cNvPr id="19" name="line-8"/>
          <p:cNvSpPr>
            <a:spLocks noGrp="1"/>
          </p:cNvSpPr>
          <p:nvPr/>
        </p:nvSpPr>
        <p:spPr>
          <a:xfrm>
            <a:off x="1114425" y="1177290"/>
            <a:ext cx="628650" cy="514350"/>
          </a:xfrm>
          <a:custGeom>
            <a:avLst/>
            <a:gdLst/>
            <a:ahLst/>
            <a:cxnLst/>
            <a:pathLst>
              <a:path w="628650" h="514350">
                <a:moveTo>
                  <a:pt x="628650" y="0"/>
                </a:moveTo>
                <a:lnTo>
                  <a:pt x="0" y="51435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</a:ln>
        </p:spPr>
      </p:sp>
      <p:sp>
        <p:nvSpPr>
          <p:cNvPr id="20" name="line-9"/>
          <p:cNvSpPr>
            <a:spLocks noGrp="1"/>
          </p:cNvSpPr>
          <p:nvPr/>
        </p:nvSpPr>
        <p:spPr>
          <a:xfrm>
            <a:off x="1743075" y="1177290"/>
            <a:ext cx="771525" cy="514350"/>
          </a:xfrm>
          <a:custGeom>
            <a:avLst/>
            <a:gdLst/>
            <a:ahLst/>
            <a:cxnLst/>
            <a:pathLst>
              <a:path w="771525" h="514350">
                <a:moveTo>
                  <a:pt x="0" y="0"/>
                </a:moveTo>
                <a:lnTo>
                  <a:pt x="771525" y="51435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</a:ln>
        </p:spPr>
      </p:sp>
      <p:sp>
        <p:nvSpPr>
          <p:cNvPr id="21" name="line-10"/>
          <p:cNvSpPr>
            <a:spLocks noGrp="1"/>
          </p:cNvSpPr>
          <p:nvPr/>
        </p:nvSpPr>
        <p:spPr>
          <a:xfrm>
            <a:off x="2514600" y="1691640"/>
            <a:ext cx="676275" cy="514350"/>
          </a:xfrm>
          <a:custGeom>
            <a:avLst/>
            <a:gdLst/>
            <a:ahLst/>
            <a:cxnLst/>
            <a:pathLst>
              <a:path w="676275" h="514350">
                <a:moveTo>
                  <a:pt x="676275" y="514350"/>
                </a:moveTo>
                <a:lnTo>
                  <a:pt x="0" y="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</a:ln>
        </p:spPr>
      </p:sp>
      <p:sp>
        <p:nvSpPr>
          <p:cNvPr id="22" name="line-11"/>
          <p:cNvSpPr>
            <a:spLocks noGrp="1"/>
          </p:cNvSpPr>
          <p:nvPr/>
        </p:nvSpPr>
        <p:spPr>
          <a:xfrm>
            <a:off x="3190875" y="1691640"/>
            <a:ext cx="695325" cy="514350"/>
          </a:xfrm>
          <a:custGeom>
            <a:avLst/>
            <a:gdLst/>
            <a:ahLst/>
            <a:cxnLst/>
            <a:pathLst>
              <a:path w="695325" h="514350">
                <a:moveTo>
                  <a:pt x="0" y="514350"/>
                </a:moveTo>
                <a:lnTo>
                  <a:pt x="695325" y="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</a:ln>
        </p:spPr>
      </p:sp>
      <p:sp>
        <p:nvSpPr>
          <p:cNvPr id="23" name="line-12"/>
          <p:cNvSpPr>
            <a:spLocks noGrp="1"/>
          </p:cNvSpPr>
          <p:nvPr/>
        </p:nvSpPr>
        <p:spPr>
          <a:xfrm>
            <a:off x="742950" y="1148715"/>
            <a:ext cx="371475" cy="542925"/>
          </a:xfrm>
          <a:custGeom>
            <a:avLst/>
            <a:gdLst/>
            <a:ahLst/>
            <a:cxnLst/>
            <a:pathLst>
              <a:path w="371475" h="542925">
                <a:moveTo>
                  <a:pt x="0" y="0"/>
                </a:moveTo>
                <a:lnTo>
                  <a:pt x="371475" y="542925"/>
                </a:lnTo>
              </a:path>
            </a:pathLst>
          </a:custGeom>
          <a:noFill/>
          <a:ln w="14173">
            <a:solidFill>
              <a:srgbClr val="75AEC7"/>
            </a:solidFill>
            <a:prstDash val="dash"/>
          </a:ln>
        </p:spPr>
      </p:sp>
      <p:sp>
        <p:nvSpPr>
          <p:cNvPr id="24" name="line-13"/>
          <p:cNvSpPr>
            <a:spLocks noGrp="1"/>
          </p:cNvSpPr>
          <p:nvPr/>
        </p:nvSpPr>
        <p:spPr>
          <a:xfrm>
            <a:off x="742950" y="1148715"/>
            <a:ext cx="1771650" cy="542925"/>
          </a:xfrm>
          <a:custGeom>
            <a:avLst/>
            <a:gdLst/>
            <a:ahLst/>
            <a:cxnLst/>
            <a:pathLst>
              <a:path w="1771650" h="542925">
                <a:moveTo>
                  <a:pt x="0" y="0"/>
                </a:moveTo>
                <a:lnTo>
                  <a:pt x="1771650" y="542925"/>
                </a:lnTo>
              </a:path>
            </a:pathLst>
          </a:custGeom>
          <a:noFill/>
          <a:ln w="14173">
            <a:solidFill>
              <a:srgbClr val="75AEC7"/>
            </a:solidFill>
            <a:prstDash val="dash"/>
          </a:ln>
        </p:spPr>
      </p:sp>
      <p:sp>
        <p:nvSpPr>
          <p:cNvPr id="25" name="line-14"/>
          <p:cNvSpPr>
            <a:spLocks noGrp="1"/>
          </p:cNvSpPr>
          <p:nvPr/>
        </p:nvSpPr>
        <p:spPr>
          <a:xfrm>
            <a:off x="2514600" y="1158240"/>
            <a:ext cx="1714500" cy="533400"/>
          </a:xfrm>
          <a:custGeom>
            <a:avLst/>
            <a:gdLst/>
            <a:ahLst/>
            <a:cxnLst/>
            <a:pathLst>
              <a:path w="1714500" h="533400">
                <a:moveTo>
                  <a:pt x="1714500" y="0"/>
                </a:moveTo>
                <a:lnTo>
                  <a:pt x="0" y="533400"/>
                </a:lnTo>
              </a:path>
            </a:pathLst>
          </a:custGeom>
          <a:noFill/>
          <a:ln w="14173">
            <a:solidFill>
              <a:srgbClr val="75AEC7"/>
            </a:solidFill>
            <a:prstDash val="dash"/>
          </a:ln>
        </p:spPr>
      </p:sp>
      <p:sp>
        <p:nvSpPr>
          <p:cNvPr id="26" name="line-15"/>
          <p:cNvSpPr>
            <a:spLocks noGrp="1"/>
          </p:cNvSpPr>
          <p:nvPr/>
        </p:nvSpPr>
        <p:spPr>
          <a:xfrm>
            <a:off x="3886200" y="1158240"/>
            <a:ext cx="342900" cy="533400"/>
          </a:xfrm>
          <a:custGeom>
            <a:avLst/>
            <a:gdLst/>
            <a:ahLst/>
            <a:cxnLst/>
            <a:pathLst>
              <a:path w="342900" h="533400">
                <a:moveTo>
                  <a:pt x="342900" y="0"/>
                </a:moveTo>
                <a:lnTo>
                  <a:pt x="0" y="533400"/>
                </a:lnTo>
              </a:path>
            </a:pathLst>
          </a:custGeom>
          <a:noFill/>
          <a:ln w="14173">
            <a:solidFill>
              <a:srgbClr val="75AEC7"/>
            </a:solidFill>
            <a:prstDash val="dash"/>
          </a:ln>
        </p:spPr>
      </p:sp>
      <p:sp>
        <p:nvSpPr>
          <p:cNvPr id="27" name="line-16"/>
          <p:cNvSpPr>
            <a:spLocks noGrp="1"/>
          </p:cNvSpPr>
          <p:nvPr/>
        </p:nvSpPr>
        <p:spPr>
          <a:xfrm>
            <a:off x="762000" y="1691640"/>
            <a:ext cx="352425" cy="504825"/>
          </a:xfrm>
          <a:custGeom>
            <a:avLst/>
            <a:gdLst/>
            <a:ahLst/>
            <a:cxnLst/>
            <a:pathLst>
              <a:path w="352425" h="504825">
                <a:moveTo>
                  <a:pt x="0" y="504825"/>
                </a:moveTo>
                <a:lnTo>
                  <a:pt x="352425" y="0"/>
                </a:lnTo>
              </a:path>
            </a:pathLst>
          </a:custGeom>
          <a:noFill/>
          <a:ln w="14173">
            <a:solidFill>
              <a:srgbClr val="75AEC7"/>
            </a:solidFill>
            <a:prstDash val="dash"/>
          </a:ln>
        </p:spPr>
      </p:sp>
      <p:sp>
        <p:nvSpPr>
          <p:cNvPr id="28" name="line-17"/>
          <p:cNvSpPr>
            <a:spLocks noGrp="1"/>
          </p:cNvSpPr>
          <p:nvPr/>
        </p:nvSpPr>
        <p:spPr>
          <a:xfrm>
            <a:off x="762000" y="1691640"/>
            <a:ext cx="1752600" cy="504825"/>
          </a:xfrm>
          <a:custGeom>
            <a:avLst/>
            <a:gdLst/>
            <a:ahLst/>
            <a:cxnLst/>
            <a:pathLst>
              <a:path w="1752600" h="504825">
                <a:moveTo>
                  <a:pt x="0" y="504825"/>
                </a:moveTo>
                <a:lnTo>
                  <a:pt x="1752600" y="0"/>
                </a:lnTo>
              </a:path>
            </a:pathLst>
          </a:custGeom>
          <a:noFill/>
          <a:ln w="14173">
            <a:solidFill>
              <a:srgbClr val="75AEC7"/>
            </a:solidFill>
            <a:prstDash val="dash"/>
          </a:ln>
        </p:spPr>
      </p:sp>
      <p:sp>
        <p:nvSpPr>
          <p:cNvPr id="29" name="M1"/>
          <p:cNvSpPr>
            <a:spLocks noGrp="1"/>
          </p:cNvSpPr>
          <p:nvPr/>
        </p:nvSpPr>
        <p:spPr>
          <a:xfrm>
            <a:off x="914400" y="1539240"/>
            <a:ext cx="400050" cy="304800"/>
          </a:xfrm>
          <a:prstGeom prst="rect">
            <a:avLst/>
          </a:prstGeom>
          <a:solidFill>
            <a:srgbClr val="A4CFE2"/>
          </a:solidFill>
          <a:ln w="15355">
            <a:solidFill>
              <a:srgbClr val="356B91"/>
            </a:solidFill>
            <a:prstDash val="solid"/>
          </a:ln>
        </p:spPr>
      </p:sp>
      <p:sp>
        <p:nvSpPr>
          <p:cNvPr id="30" name="M1"/>
          <p:cNvSpPr>
            <a:spLocks noGrp="1"/>
          </p:cNvSpPr>
          <p:nvPr/>
        </p:nvSpPr>
        <p:spPr>
          <a:xfrm>
            <a:off x="914400" y="15582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M1</a:t>
            </a:r>
            <a:endParaRPr sz="1595" b="1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M2"/>
          <p:cNvSpPr>
            <a:spLocks noGrp="1"/>
          </p:cNvSpPr>
          <p:nvPr/>
        </p:nvSpPr>
        <p:spPr>
          <a:xfrm>
            <a:off x="2314575" y="1539240"/>
            <a:ext cx="400050" cy="304800"/>
          </a:xfrm>
          <a:prstGeom prst="rect">
            <a:avLst/>
          </a:prstGeom>
          <a:solidFill>
            <a:srgbClr val="A4CFE2"/>
          </a:solidFill>
          <a:ln w="15355">
            <a:solidFill>
              <a:srgbClr val="356B91"/>
            </a:solidFill>
            <a:prstDash val="solid"/>
          </a:ln>
        </p:spPr>
      </p:sp>
      <p:sp>
        <p:nvSpPr>
          <p:cNvPr id="32" name="M2"/>
          <p:cNvSpPr>
            <a:spLocks noGrp="1"/>
          </p:cNvSpPr>
          <p:nvPr/>
        </p:nvSpPr>
        <p:spPr>
          <a:xfrm>
            <a:off x="2314575" y="15582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M2</a:t>
            </a:r>
            <a:endParaRPr sz="1595" b="1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M3"/>
          <p:cNvSpPr>
            <a:spLocks noGrp="1"/>
          </p:cNvSpPr>
          <p:nvPr/>
        </p:nvSpPr>
        <p:spPr>
          <a:xfrm>
            <a:off x="3686175" y="1539240"/>
            <a:ext cx="400050" cy="304800"/>
          </a:xfrm>
          <a:prstGeom prst="rect">
            <a:avLst/>
          </a:prstGeom>
          <a:solidFill>
            <a:srgbClr val="A4CFE2"/>
          </a:solidFill>
          <a:ln w="15355">
            <a:solidFill>
              <a:srgbClr val="356B91"/>
            </a:solidFill>
            <a:prstDash val="solid"/>
          </a:ln>
        </p:spPr>
      </p:sp>
      <p:sp>
        <p:nvSpPr>
          <p:cNvPr id="34" name="M3"/>
          <p:cNvSpPr>
            <a:spLocks noGrp="1"/>
          </p:cNvSpPr>
          <p:nvPr/>
        </p:nvSpPr>
        <p:spPr>
          <a:xfrm>
            <a:off x="3686175" y="15582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95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M3</a:t>
            </a:r>
            <a:endParaRPr sz="1595" b="1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B1"/>
          <p:cNvSpPr>
            <a:spLocks noGrp="1"/>
          </p:cNvSpPr>
          <p:nvPr/>
        </p:nvSpPr>
        <p:spPr>
          <a:xfrm>
            <a:off x="1571625" y="1062990"/>
            <a:ext cx="342900" cy="228600"/>
          </a:xfrm>
          <a:prstGeom prst="rect">
            <a:avLst/>
          </a:prstGeom>
          <a:solidFill>
            <a:srgbClr val="DCEBF1"/>
          </a:solidFill>
          <a:ln w="12993">
            <a:solidFill>
              <a:srgbClr val="356B91"/>
            </a:solidFill>
            <a:prstDash val="solid"/>
          </a:ln>
        </p:spPr>
      </p:sp>
      <p:sp>
        <p:nvSpPr>
          <p:cNvPr id="36" name="B1"/>
          <p:cNvSpPr>
            <a:spLocks noGrp="1"/>
          </p:cNvSpPr>
          <p:nvPr/>
        </p:nvSpPr>
        <p:spPr>
          <a:xfrm>
            <a:off x="1571625" y="107251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B1</a:t>
            </a:r>
            <a:endParaRPr sz="15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B2"/>
          <p:cNvSpPr>
            <a:spLocks noGrp="1"/>
          </p:cNvSpPr>
          <p:nvPr/>
        </p:nvSpPr>
        <p:spPr>
          <a:xfrm>
            <a:off x="3019425" y="2091690"/>
            <a:ext cx="342900" cy="228600"/>
          </a:xfrm>
          <a:prstGeom prst="rect">
            <a:avLst/>
          </a:prstGeom>
          <a:solidFill>
            <a:srgbClr val="DCEBF1"/>
          </a:solidFill>
          <a:ln w="12993">
            <a:solidFill>
              <a:srgbClr val="356B91"/>
            </a:solidFill>
            <a:prstDash val="solid"/>
          </a:ln>
        </p:spPr>
      </p:sp>
      <p:sp>
        <p:nvSpPr>
          <p:cNvPr id="38" name="B2"/>
          <p:cNvSpPr>
            <a:spLocks noGrp="1"/>
          </p:cNvSpPr>
          <p:nvPr/>
        </p:nvSpPr>
        <p:spPr>
          <a:xfrm>
            <a:off x="3019425" y="210121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B2</a:t>
            </a:r>
            <a:endParaRPr sz="15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H"/>
          <p:cNvSpPr>
            <a:spLocks noGrp="1"/>
          </p:cNvSpPr>
          <p:nvPr/>
        </p:nvSpPr>
        <p:spPr>
          <a:xfrm>
            <a:off x="609600" y="1015365"/>
            <a:ext cx="266700" cy="2667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40" name="H"/>
          <p:cNvSpPr>
            <a:spLocks noGrp="1"/>
          </p:cNvSpPr>
          <p:nvPr/>
        </p:nvSpPr>
        <p:spPr>
          <a:xfrm>
            <a:off x="609600" y="101536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20" b="0" i="0">
                <a:solidFill>
                  <a:srgbClr val="1720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220" b="0" i="0">
                <a:solidFill>
                  <a:srgbClr val="1720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20" b="0" i="0">
                <a:solidFill>
                  <a:srgbClr val="17202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endParaRPr sz="1220" b="0" i="0">
              <a:solidFill>
                <a:srgbClr val="17202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G"/>
          <p:cNvSpPr>
            <a:spLocks noGrp="1"/>
          </p:cNvSpPr>
          <p:nvPr/>
        </p:nvSpPr>
        <p:spPr>
          <a:xfrm>
            <a:off x="4062413" y="991553"/>
            <a:ext cx="333375" cy="333375"/>
          </a:xfrm>
          <a:prstGeom prst="diamond">
            <a:avLst/>
          </a:prstGeom>
          <a:solidFill>
            <a:srgbClr val="75AEC7"/>
          </a:solidFill>
          <a:ln w="15355">
            <a:solidFill>
              <a:srgbClr val="356B91"/>
            </a:solidFill>
          </a:ln>
        </p:spPr>
      </p:sp>
      <p:sp>
        <p:nvSpPr>
          <p:cNvPr id="42" name="G"/>
          <p:cNvSpPr>
            <a:spLocks noGrp="1"/>
          </p:cNvSpPr>
          <p:nvPr/>
        </p:nvSpPr>
        <p:spPr>
          <a:xfrm>
            <a:off x="4062413" y="102489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95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95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endParaRPr sz="1595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R"/>
          <p:cNvSpPr>
            <a:spLocks noGrp="1"/>
          </p:cNvSpPr>
          <p:nvPr/>
        </p:nvSpPr>
        <p:spPr>
          <a:xfrm>
            <a:off x="595313" y="2029778"/>
            <a:ext cx="333375" cy="333375"/>
          </a:xfrm>
          <a:prstGeom prst="diamond">
            <a:avLst/>
          </a:prstGeom>
          <a:solidFill>
            <a:srgbClr val="C9E3EC"/>
          </a:solidFill>
          <a:ln w="15355">
            <a:solidFill>
              <a:srgbClr val="356B91"/>
            </a:solidFill>
          </a:ln>
        </p:spPr>
      </p:sp>
      <p:sp>
        <p:nvSpPr>
          <p:cNvPr id="44" name="R"/>
          <p:cNvSpPr>
            <a:spLocks noGrp="1"/>
          </p:cNvSpPr>
          <p:nvPr/>
        </p:nvSpPr>
        <p:spPr>
          <a:xfrm>
            <a:off x="595313" y="2063115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95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95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95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endParaRPr sz="1595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M: machine/workbench  H: worker  G: gantry  R: robot  B: buffer"/>
          <p:cNvSpPr>
            <a:spLocks noGrp="1"/>
          </p:cNvSpPr>
          <p:nvPr/>
        </p:nvSpPr>
        <p:spPr>
          <a:xfrm>
            <a:off x="542925" y="2320290"/>
            <a:ext cx="43529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1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M: machine/workbench  H: worker  G: gantry  R: robot  B: buffer</a:t>
            </a:r>
            <a:endParaRPr sz="11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6" name="graph-to-matrix"/>
          <p:cNvCxnSpPr/>
          <p:nvPr/>
        </p:nvCxnSpPr>
        <p:spPr>
          <a:xfrm>
            <a:off x="4457700" y="1701165"/>
            <a:ext cx="466725" cy="1"/>
          </a:xfrm>
          <a:custGeom>
            <a:avLst/>
            <a:gdLst/>
            <a:ahLst/>
            <a:cxnLst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7717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49" name="mask-0-0"/>
          <p:cNvSpPr>
            <a:spLocks noGrp="1"/>
          </p:cNvSpPr>
          <p:nvPr/>
        </p:nvSpPr>
        <p:spPr>
          <a:xfrm>
            <a:off x="5019675" y="143446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" name="mask-0-1"/>
          <p:cNvSpPr>
            <a:spLocks noGrp="1"/>
          </p:cNvSpPr>
          <p:nvPr/>
        </p:nvSpPr>
        <p:spPr>
          <a:xfrm>
            <a:off x="5124450" y="143446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1" name="mask-0-2"/>
          <p:cNvSpPr>
            <a:spLocks noGrp="1"/>
          </p:cNvSpPr>
          <p:nvPr/>
        </p:nvSpPr>
        <p:spPr>
          <a:xfrm>
            <a:off x="5229225" y="143446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2" name="mask-0-3"/>
          <p:cNvSpPr>
            <a:spLocks noGrp="1"/>
          </p:cNvSpPr>
          <p:nvPr/>
        </p:nvSpPr>
        <p:spPr>
          <a:xfrm>
            <a:off x="5334000" y="1434465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" name="mask-0-4"/>
          <p:cNvSpPr>
            <a:spLocks noGrp="1"/>
          </p:cNvSpPr>
          <p:nvPr/>
        </p:nvSpPr>
        <p:spPr>
          <a:xfrm>
            <a:off x="5438775" y="1434465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4" name="mask-1-0"/>
          <p:cNvSpPr>
            <a:spLocks noGrp="1"/>
          </p:cNvSpPr>
          <p:nvPr/>
        </p:nvSpPr>
        <p:spPr>
          <a:xfrm>
            <a:off x="5019675" y="1539240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5" name="mask-1-1"/>
          <p:cNvSpPr>
            <a:spLocks noGrp="1"/>
          </p:cNvSpPr>
          <p:nvPr/>
        </p:nvSpPr>
        <p:spPr>
          <a:xfrm>
            <a:off x="5124450" y="1539240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6" name="mask-1-2"/>
          <p:cNvSpPr>
            <a:spLocks noGrp="1"/>
          </p:cNvSpPr>
          <p:nvPr/>
        </p:nvSpPr>
        <p:spPr>
          <a:xfrm>
            <a:off x="5229225" y="1539240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7" name="mask-1-3"/>
          <p:cNvSpPr>
            <a:spLocks noGrp="1"/>
          </p:cNvSpPr>
          <p:nvPr/>
        </p:nvSpPr>
        <p:spPr>
          <a:xfrm>
            <a:off x="5334000" y="1539240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8" name="mask-1-4"/>
          <p:cNvSpPr>
            <a:spLocks noGrp="1"/>
          </p:cNvSpPr>
          <p:nvPr/>
        </p:nvSpPr>
        <p:spPr>
          <a:xfrm>
            <a:off x="5438775" y="1539240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9" name="mask-2-0"/>
          <p:cNvSpPr>
            <a:spLocks noGrp="1"/>
          </p:cNvSpPr>
          <p:nvPr/>
        </p:nvSpPr>
        <p:spPr>
          <a:xfrm>
            <a:off x="5019675" y="164401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0" name="mask-2-1"/>
          <p:cNvSpPr>
            <a:spLocks noGrp="1"/>
          </p:cNvSpPr>
          <p:nvPr/>
        </p:nvSpPr>
        <p:spPr>
          <a:xfrm>
            <a:off x="5124450" y="164401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1" name="mask-2-2"/>
          <p:cNvSpPr>
            <a:spLocks noGrp="1"/>
          </p:cNvSpPr>
          <p:nvPr/>
        </p:nvSpPr>
        <p:spPr>
          <a:xfrm>
            <a:off x="5229225" y="164401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2" name="mask-2-3"/>
          <p:cNvSpPr>
            <a:spLocks noGrp="1"/>
          </p:cNvSpPr>
          <p:nvPr/>
        </p:nvSpPr>
        <p:spPr>
          <a:xfrm>
            <a:off x="5334000" y="164401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3" name="mask-2-4"/>
          <p:cNvSpPr>
            <a:spLocks noGrp="1"/>
          </p:cNvSpPr>
          <p:nvPr/>
        </p:nvSpPr>
        <p:spPr>
          <a:xfrm>
            <a:off x="5438775" y="164401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4" name="mask-3-0"/>
          <p:cNvSpPr>
            <a:spLocks noGrp="1"/>
          </p:cNvSpPr>
          <p:nvPr/>
        </p:nvSpPr>
        <p:spPr>
          <a:xfrm>
            <a:off x="5019675" y="1748790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5" name="mask-3-1"/>
          <p:cNvSpPr>
            <a:spLocks noGrp="1"/>
          </p:cNvSpPr>
          <p:nvPr/>
        </p:nvSpPr>
        <p:spPr>
          <a:xfrm>
            <a:off x="5124450" y="1748790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" name="mask-3-2"/>
          <p:cNvSpPr>
            <a:spLocks noGrp="1"/>
          </p:cNvSpPr>
          <p:nvPr/>
        </p:nvSpPr>
        <p:spPr>
          <a:xfrm>
            <a:off x="5229225" y="1748790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" name="mask-3-3"/>
          <p:cNvSpPr>
            <a:spLocks noGrp="1"/>
          </p:cNvSpPr>
          <p:nvPr/>
        </p:nvSpPr>
        <p:spPr>
          <a:xfrm>
            <a:off x="5334000" y="1748790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" name="mask-3-4"/>
          <p:cNvSpPr>
            <a:spLocks noGrp="1"/>
          </p:cNvSpPr>
          <p:nvPr/>
        </p:nvSpPr>
        <p:spPr>
          <a:xfrm>
            <a:off x="5438775" y="1748790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" name="mask-4-0"/>
          <p:cNvSpPr>
            <a:spLocks noGrp="1"/>
          </p:cNvSpPr>
          <p:nvPr/>
        </p:nvSpPr>
        <p:spPr>
          <a:xfrm>
            <a:off x="5019675" y="1853565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" name="mask-4-1"/>
          <p:cNvSpPr>
            <a:spLocks noGrp="1"/>
          </p:cNvSpPr>
          <p:nvPr/>
        </p:nvSpPr>
        <p:spPr>
          <a:xfrm>
            <a:off x="5124450" y="1853565"/>
            <a:ext cx="104775" cy="10477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" name="mask-4-2"/>
          <p:cNvSpPr>
            <a:spLocks noGrp="1"/>
          </p:cNvSpPr>
          <p:nvPr/>
        </p:nvSpPr>
        <p:spPr>
          <a:xfrm>
            <a:off x="5229225" y="185356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" name="mask-4-3"/>
          <p:cNvSpPr>
            <a:spLocks noGrp="1"/>
          </p:cNvSpPr>
          <p:nvPr/>
        </p:nvSpPr>
        <p:spPr>
          <a:xfrm>
            <a:off x="5334000" y="185356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3" name="mask-4-4"/>
          <p:cNvSpPr>
            <a:spLocks noGrp="1"/>
          </p:cNvSpPr>
          <p:nvPr/>
        </p:nvSpPr>
        <p:spPr>
          <a:xfrm>
            <a:off x="5438775" y="1853565"/>
            <a:ext cx="104775" cy="10477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4" name="shape-21"/>
          <p:cNvSpPr>
            <a:spLocks noGrp="1"/>
          </p:cNvSpPr>
          <p:nvPr/>
        </p:nvSpPr>
        <p:spPr>
          <a:xfrm>
            <a:off x="5019675" y="1434465"/>
            <a:ext cx="523875" cy="52387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75" name="Graph G"/>
          <p:cNvSpPr>
            <a:spLocks noGrp="1"/>
          </p:cNvSpPr>
          <p:nvPr/>
        </p:nvSpPr>
        <p:spPr>
          <a:xfrm>
            <a:off x="4886325" y="2005965"/>
            <a:ext cx="990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8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78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8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Graph G</a:t>
            </a:r>
            <a:endParaRPr sz="1780" b="0" i="1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6" name="Mᴳ, E_lap"/>
          <p:cNvSpPr>
            <a:spLocks noGrp="1"/>
          </p:cNvSpPr>
          <p:nvPr/>
        </p:nvSpPr>
        <p:spPr>
          <a:xfrm>
            <a:off x="4876800" y="2253615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Mᴳ, E_lap</a:t>
            </a:r>
            <a:endParaRPr sz="13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line-22"/>
          <p:cNvSpPr>
            <a:spLocks noGrp="1"/>
          </p:cNvSpPr>
          <p:nvPr/>
        </p:nvSpPr>
        <p:spPr>
          <a:xfrm>
            <a:off x="5972175" y="986790"/>
            <a:ext cx="95" cy="1362075"/>
          </a:xfrm>
          <a:custGeom>
            <a:avLst/>
            <a:gdLst/>
            <a:ahLst/>
            <a:cxnLst/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7620">
            <a:solidFill>
              <a:srgbClr val="D0DCE3"/>
            </a:solidFill>
            <a:prstDash val="solid"/>
          </a:ln>
        </p:spPr>
      </p:sp>
      <p:sp>
        <p:nvSpPr>
          <p:cNvPr id="78" name="shape-23"/>
          <p:cNvSpPr>
            <a:spLocks noGrp="1"/>
          </p:cNvSpPr>
          <p:nvPr/>
        </p:nvSpPr>
        <p:spPr>
          <a:xfrm>
            <a:off x="6543675" y="1224915"/>
            <a:ext cx="1371600" cy="476250"/>
          </a:xfrm>
          <a:prstGeom prst="rect">
            <a:avLst/>
          </a:prstGeom>
          <a:solidFill>
            <a:srgbClr val="EAF5FB"/>
          </a:solidFill>
          <a:ln w="6668">
            <a:solidFill>
              <a:srgbClr val="A4CFE2"/>
            </a:solidFill>
            <a:prstDash val="solid"/>
          </a:ln>
        </p:spPr>
      </p:sp>
      <p:sp>
        <p:nvSpPr>
          <p:cNvPr id="79" name="shape-24"/>
          <p:cNvSpPr>
            <a:spLocks noGrp="1"/>
          </p:cNvSpPr>
          <p:nvPr/>
        </p:nvSpPr>
        <p:spPr>
          <a:xfrm>
            <a:off x="6467475" y="1282065"/>
            <a:ext cx="1371600" cy="476250"/>
          </a:xfrm>
          <a:prstGeom prst="rect">
            <a:avLst/>
          </a:prstGeom>
          <a:solidFill>
            <a:srgbClr val="EAF5FB"/>
          </a:solidFill>
          <a:ln w="6668">
            <a:solidFill>
              <a:srgbClr val="A4CFE2"/>
            </a:solidFill>
            <a:prstDash val="solid"/>
          </a:ln>
        </p:spPr>
      </p:sp>
      <p:sp>
        <p:nvSpPr>
          <p:cNvPr id="80" name="features-0-0"/>
          <p:cNvSpPr>
            <a:spLocks noGrp="1"/>
          </p:cNvSpPr>
          <p:nvPr/>
        </p:nvSpPr>
        <p:spPr>
          <a:xfrm>
            <a:off x="6391275" y="13392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" name="features-0-1"/>
          <p:cNvSpPr>
            <a:spLocks noGrp="1"/>
          </p:cNvSpPr>
          <p:nvPr/>
        </p:nvSpPr>
        <p:spPr>
          <a:xfrm>
            <a:off x="6477000" y="13392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" name="features-0-2"/>
          <p:cNvSpPr>
            <a:spLocks noGrp="1"/>
          </p:cNvSpPr>
          <p:nvPr/>
        </p:nvSpPr>
        <p:spPr>
          <a:xfrm>
            <a:off x="6562725" y="13392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" name="features-0-3"/>
          <p:cNvSpPr>
            <a:spLocks noGrp="1"/>
          </p:cNvSpPr>
          <p:nvPr/>
        </p:nvSpPr>
        <p:spPr>
          <a:xfrm>
            <a:off x="6648450" y="133921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" name="features-0-4"/>
          <p:cNvSpPr>
            <a:spLocks noGrp="1"/>
          </p:cNvSpPr>
          <p:nvPr/>
        </p:nvSpPr>
        <p:spPr>
          <a:xfrm>
            <a:off x="6734175" y="13392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" name="features-0-5"/>
          <p:cNvSpPr>
            <a:spLocks noGrp="1"/>
          </p:cNvSpPr>
          <p:nvPr/>
        </p:nvSpPr>
        <p:spPr>
          <a:xfrm>
            <a:off x="6819900" y="13392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6" name="features-0-6"/>
          <p:cNvSpPr>
            <a:spLocks noGrp="1"/>
          </p:cNvSpPr>
          <p:nvPr/>
        </p:nvSpPr>
        <p:spPr>
          <a:xfrm>
            <a:off x="6905625" y="13392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" name="features-0-7"/>
          <p:cNvSpPr>
            <a:spLocks noGrp="1"/>
          </p:cNvSpPr>
          <p:nvPr/>
        </p:nvSpPr>
        <p:spPr>
          <a:xfrm>
            <a:off x="6991350" y="13392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" name="features-0-8"/>
          <p:cNvSpPr>
            <a:spLocks noGrp="1"/>
          </p:cNvSpPr>
          <p:nvPr/>
        </p:nvSpPr>
        <p:spPr>
          <a:xfrm>
            <a:off x="7077075" y="133921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" name="features-0-9"/>
          <p:cNvSpPr>
            <a:spLocks noGrp="1"/>
          </p:cNvSpPr>
          <p:nvPr/>
        </p:nvSpPr>
        <p:spPr>
          <a:xfrm>
            <a:off x="7162800" y="13392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" name="features-0-10"/>
          <p:cNvSpPr>
            <a:spLocks noGrp="1"/>
          </p:cNvSpPr>
          <p:nvPr/>
        </p:nvSpPr>
        <p:spPr>
          <a:xfrm>
            <a:off x="7248525" y="13392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" name="features-0-11"/>
          <p:cNvSpPr>
            <a:spLocks noGrp="1"/>
          </p:cNvSpPr>
          <p:nvPr/>
        </p:nvSpPr>
        <p:spPr>
          <a:xfrm>
            <a:off x="7334250" y="13392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" name="features-0-12"/>
          <p:cNvSpPr>
            <a:spLocks noGrp="1"/>
          </p:cNvSpPr>
          <p:nvPr/>
        </p:nvSpPr>
        <p:spPr>
          <a:xfrm>
            <a:off x="7419975" y="13392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" name="features-0-13"/>
          <p:cNvSpPr>
            <a:spLocks noGrp="1"/>
          </p:cNvSpPr>
          <p:nvPr/>
        </p:nvSpPr>
        <p:spPr>
          <a:xfrm>
            <a:off x="7505700" y="133921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" name="features-0-14"/>
          <p:cNvSpPr>
            <a:spLocks noGrp="1"/>
          </p:cNvSpPr>
          <p:nvPr/>
        </p:nvSpPr>
        <p:spPr>
          <a:xfrm>
            <a:off x="7591425" y="13392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" name="features-0-15"/>
          <p:cNvSpPr>
            <a:spLocks noGrp="1"/>
          </p:cNvSpPr>
          <p:nvPr/>
        </p:nvSpPr>
        <p:spPr>
          <a:xfrm>
            <a:off x="7677150" y="13392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" name="features-1-0"/>
          <p:cNvSpPr>
            <a:spLocks noGrp="1"/>
          </p:cNvSpPr>
          <p:nvPr/>
        </p:nvSpPr>
        <p:spPr>
          <a:xfrm>
            <a:off x="6391275" y="1424940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" name="features-1-1"/>
          <p:cNvSpPr>
            <a:spLocks noGrp="1"/>
          </p:cNvSpPr>
          <p:nvPr/>
        </p:nvSpPr>
        <p:spPr>
          <a:xfrm>
            <a:off x="6477000" y="1424940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" name="features-1-2"/>
          <p:cNvSpPr>
            <a:spLocks noGrp="1"/>
          </p:cNvSpPr>
          <p:nvPr/>
        </p:nvSpPr>
        <p:spPr>
          <a:xfrm>
            <a:off x="6562725" y="142494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9" name="features-1-3"/>
          <p:cNvSpPr>
            <a:spLocks noGrp="1"/>
          </p:cNvSpPr>
          <p:nvPr/>
        </p:nvSpPr>
        <p:spPr>
          <a:xfrm>
            <a:off x="6648450" y="1424940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0" name="features-1-4"/>
          <p:cNvSpPr>
            <a:spLocks noGrp="1"/>
          </p:cNvSpPr>
          <p:nvPr/>
        </p:nvSpPr>
        <p:spPr>
          <a:xfrm>
            <a:off x="6734175" y="14249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1" name="features-1-5"/>
          <p:cNvSpPr>
            <a:spLocks noGrp="1"/>
          </p:cNvSpPr>
          <p:nvPr/>
        </p:nvSpPr>
        <p:spPr>
          <a:xfrm>
            <a:off x="6819900" y="1424940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2" name="features-1-6"/>
          <p:cNvSpPr>
            <a:spLocks noGrp="1"/>
          </p:cNvSpPr>
          <p:nvPr/>
        </p:nvSpPr>
        <p:spPr>
          <a:xfrm>
            <a:off x="6905625" y="1424940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3" name="features-1-7"/>
          <p:cNvSpPr>
            <a:spLocks noGrp="1"/>
          </p:cNvSpPr>
          <p:nvPr/>
        </p:nvSpPr>
        <p:spPr>
          <a:xfrm>
            <a:off x="6991350" y="142494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4" name="features-1-8"/>
          <p:cNvSpPr>
            <a:spLocks noGrp="1"/>
          </p:cNvSpPr>
          <p:nvPr/>
        </p:nvSpPr>
        <p:spPr>
          <a:xfrm>
            <a:off x="7077075" y="1424940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5" name="features-1-9"/>
          <p:cNvSpPr>
            <a:spLocks noGrp="1"/>
          </p:cNvSpPr>
          <p:nvPr/>
        </p:nvSpPr>
        <p:spPr>
          <a:xfrm>
            <a:off x="7162800" y="14249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6" name="features-1-10"/>
          <p:cNvSpPr>
            <a:spLocks noGrp="1"/>
          </p:cNvSpPr>
          <p:nvPr/>
        </p:nvSpPr>
        <p:spPr>
          <a:xfrm>
            <a:off x="7248525" y="1424940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7" name="features-1-11"/>
          <p:cNvSpPr>
            <a:spLocks noGrp="1"/>
          </p:cNvSpPr>
          <p:nvPr/>
        </p:nvSpPr>
        <p:spPr>
          <a:xfrm>
            <a:off x="7334250" y="1424940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8" name="features-1-12"/>
          <p:cNvSpPr>
            <a:spLocks noGrp="1"/>
          </p:cNvSpPr>
          <p:nvPr/>
        </p:nvSpPr>
        <p:spPr>
          <a:xfrm>
            <a:off x="7419975" y="142494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9" name="features-1-13"/>
          <p:cNvSpPr>
            <a:spLocks noGrp="1"/>
          </p:cNvSpPr>
          <p:nvPr/>
        </p:nvSpPr>
        <p:spPr>
          <a:xfrm>
            <a:off x="7505700" y="1424940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0" name="features-1-14"/>
          <p:cNvSpPr>
            <a:spLocks noGrp="1"/>
          </p:cNvSpPr>
          <p:nvPr/>
        </p:nvSpPr>
        <p:spPr>
          <a:xfrm>
            <a:off x="7591425" y="14249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1" name="features-1-15"/>
          <p:cNvSpPr>
            <a:spLocks noGrp="1"/>
          </p:cNvSpPr>
          <p:nvPr/>
        </p:nvSpPr>
        <p:spPr>
          <a:xfrm>
            <a:off x="7677150" y="1424940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2" name="features-2-0"/>
          <p:cNvSpPr>
            <a:spLocks noGrp="1"/>
          </p:cNvSpPr>
          <p:nvPr/>
        </p:nvSpPr>
        <p:spPr>
          <a:xfrm>
            <a:off x="6391275" y="151066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3" name="features-2-1"/>
          <p:cNvSpPr>
            <a:spLocks noGrp="1"/>
          </p:cNvSpPr>
          <p:nvPr/>
        </p:nvSpPr>
        <p:spPr>
          <a:xfrm>
            <a:off x="6477000" y="151066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4" name="features-2-2"/>
          <p:cNvSpPr>
            <a:spLocks noGrp="1"/>
          </p:cNvSpPr>
          <p:nvPr/>
        </p:nvSpPr>
        <p:spPr>
          <a:xfrm>
            <a:off x="6562725" y="151066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5" name="features-2-3"/>
          <p:cNvSpPr>
            <a:spLocks noGrp="1"/>
          </p:cNvSpPr>
          <p:nvPr/>
        </p:nvSpPr>
        <p:spPr>
          <a:xfrm>
            <a:off x="6648450" y="151066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6" name="features-2-4"/>
          <p:cNvSpPr>
            <a:spLocks noGrp="1"/>
          </p:cNvSpPr>
          <p:nvPr/>
        </p:nvSpPr>
        <p:spPr>
          <a:xfrm>
            <a:off x="6734175" y="151066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7" name="features-2-5"/>
          <p:cNvSpPr>
            <a:spLocks noGrp="1"/>
          </p:cNvSpPr>
          <p:nvPr/>
        </p:nvSpPr>
        <p:spPr>
          <a:xfrm>
            <a:off x="6819900" y="151066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8" name="features-2-6"/>
          <p:cNvSpPr>
            <a:spLocks noGrp="1"/>
          </p:cNvSpPr>
          <p:nvPr/>
        </p:nvSpPr>
        <p:spPr>
          <a:xfrm>
            <a:off x="6905625" y="151066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9" name="features-2-7"/>
          <p:cNvSpPr>
            <a:spLocks noGrp="1"/>
          </p:cNvSpPr>
          <p:nvPr/>
        </p:nvSpPr>
        <p:spPr>
          <a:xfrm>
            <a:off x="6991350" y="151066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0" name="features-2-8"/>
          <p:cNvSpPr>
            <a:spLocks noGrp="1"/>
          </p:cNvSpPr>
          <p:nvPr/>
        </p:nvSpPr>
        <p:spPr>
          <a:xfrm>
            <a:off x="7077075" y="151066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1" name="features-2-9"/>
          <p:cNvSpPr>
            <a:spLocks noGrp="1"/>
          </p:cNvSpPr>
          <p:nvPr/>
        </p:nvSpPr>
        <p:spPr>
          <a:xfrm>
            <a:off x="7162800" y="151066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2" name="features-2-10"/>
          <p:cNvSpPr>
            <a:spLocks noGrp="1"/>
          </p:cNvSpPr>
          <p:nvPr/>
        </p:nvSpPr>
        <p:spPr>
          <a:xfrm>
            <a:off x="7248525" y="151066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3" name="features-2-11"/>
          <p:cNvSpPr>
            <a:spLocks noGrp="1"/>
          </p:cNvSpPr>
          <p:nvPr/>
        </p:nvSpPr>
        <p:spPr>
          <a:xfrm>
            <a:off x="7334250" y="151066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4" name="features-2-12"/>
          <p:cNvSpPr>
            <a:spLocks noGrp="1"/>
          </p:cNvSpPr>
          <p:nvPr/>
        </p:nvSpPr>
        <p:spPr>
          <a:xfrm>
            <a:off x="7419975" y="151066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5" name="features-2-13"/>
          <p:cNvSpPr>
            <a:spLocks noGrp="1"/>
          </p:cNvSpPr>
          <p:nvPr/>
        </p:nvSpPr>
        <p:spPr>
          <a:xfrm>
            <a:off x="7505700" y="151066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6" name="features-2-14"/>
          <p:cNvSpPr>
            <a:spLocks noGrp="1"/>
          </p:cNvSpPr>
          <p:nvPr/>
        </p:nvSpPr>
        <p:spPr>
          <a:xfrm>
            <a:off x="7591425" y="151066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7" name="features-2-15"/>
          <p:cNvSpPr>
            <a:spLocks noGrp="1"/>
          </p:cNvSpPr>
          <p:nvPr/>
        </p:nvSpPr>
        <p:spPr>
          <a:xfrm>
            <a:off x="7677150" y="151066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8" name="features-3-0"/>
          <p:cNvSpPr>
            <a:spLocks noGrp="1"/>
          </p:cNvSpPr>
          <p:nvPr/>
        </p:nvSpPr>
        <p:spPr>
          <a:xfrm>
            <a:off x="639127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9" name="features-3-1"/>
          <p:cNvSpPr>
            <a:spLocks noGrp="1"/>
          </p:cNvSpPr>
          <p:nvPr/>
        </p:nvSpPr>
        <p:spPr>
          <a:xfrm>
            <a:off x="647700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0" name="features-3-2"/>
          <p:cNvSpPr>
            <a:spLocks noGrp="1"/>
          </p:cNvSpPr>
          <p:nvPr/>
        </p:nvSpPr>
        <p:spPr>
          <a:xfrm>
            <a:off x="656272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1" name="features-3-3"/>
          <p:cNvSpPr>
            <a:spLocks noGrp="1"/>
          </p:cNvSpPr>
          <p:nvPr/>
        </p:nvSpPr>
        <p:spPr>
          <a:xfrm>
            <a:off x="664845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2" name="features-3-4"/>
          <p:cNvSpPr>
            <a:spLocks noGrp="1"/>
          </p:cNvSpPr>
          <p:nvPr/>
        </p:nvSpPr>
        <p:spPr>
          <a:xfrm>
            <a:off x="673417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3" name="features-3-5"/>
          <p:cNvSpPr>
            <a:spLocks noGrp="1"/>
          </p:cNvSpPr>
          <p:nvPr/>
        </p:nvSpPr>
        <p:spPr>
          <a:xfrm>
            <a:off x="681990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4" name="features-3-6"/>
          <p:cNvSpPr>
            <a:spLocks noGrp="1"/>
          </p:cNvSpPr>
          <p:nvPr/>
        </p:nvSpPr>
        <p:spPr>
          <a:xfrm>
            <a:off x="690562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5" name="features-3-7"/>
          <p:cNvSpPr>
            <a:spLocks noGrp="1"/>
          </p:cNvSpPr>
          <p:nvPr/>
        </p:nvSpPr>
        <p:spPr>
          <a:xfrm>
            <a:off x="699135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6" name="features-3-8"/>
          <p:cNvSpPr>
            <a:spLocks noGrp="1"/>
          </p:cNvSpPr>
          <p:nvPr/>
        </p:nvSpPr>
        <p:spPr>
          <a:xfrm>
            <a:off x="707707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7" name="features-3-9"/>
          <p:cNvSpPr>
            <a:spLocks noGrp="1"/>
          </p:cNvSpPr>
          <p:nvPr/>
        </p:nvSpPr>
        <p:spPr>
          <a:xfrm>
            <a:off x="716280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8" name="features-3-10"/>
          <p:cNvSpPr>
            <a:spLocks noGrp="1"/>
          </p:cNvSpPr>
          <p:nvPr/>
        </p:nvSpPr>
        <p:spPr>
          <a:xfrm>
            <a:off x="724852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9" name="features-3-11"/>
          <p:cNvSpPr>
            <a:spLocks noGrp="1"/>
          </p:cNvSpPr>
          <p:nvPr/>
        </p:nvSpPr>
        <p:spPr>
          <a:xfrm>
            <a:off x="733425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0" name="features-3-12"/>
          <p:cNvSpPr>
            <a:spLocks noGrp="1"/>
          </p:cNvSpPr>
          <p:nvPr/>
        </p:nvSpPr>
        <p:spPr>
          <a:xfrm>
            <a:off x="741997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1" name="features-3-13"/>
          <p:cNvSpPr>
            <a:spLocks noGrp="1"/>
          </p:cNvSpPr>
          <p:nvPr/>
        </p:nvSpPr>
        <p:spPr>
          <a:xfrm>
            <a:off x="750570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2" name="features-3-14"/>
          <p:cNvSpPr>
            <a:spLocks noGrp="1"/>
          </p:cNvSpPr>
          <p:nvPr/>
        </p:nvSpPr>
        <p:spPr>
          <a:xfrm>
            <a:off x="7591425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3" name="features-3-15"/>
          <p:cNvSpPr>
            <a:spLocks noGrp="1"/>
          </p:cNvSpPr>
          <p:nvPr/>
        </p:nvSpPr>
        <p:spPr>
          <a:xfrm>
            <a:off x="7677150" y="15963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4" name="features-4-0"/>
          <p:cNvSpPr>
            <a:spLocks noGrp="1"/>
          </p:cNvSpPr>
          <p:nvPr/>
        </p:nvSpPr>
        <p:spPr>
          <a:xfrm>
            <a:off x="6391275" y="16821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5" name="features-4-1"/>
          <p:cNvSpPr>
            <a:spLocks noGrp="1"/>
          </p:cNvSpPr>
          <p:nvPr/>
        </p:nvSpPr>
        <p:spPr>
          <a:xfrm>
            <a:off x="6477000" y="16821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6" name="features-4-2"/>
          <p:cNvSpPr>
            <a:spLocks noGrp="1"/>
          </p:cNvSpPr>
          <p:nvPr/>
        </p:nvSpPr>
        <p:spPr>
          <a:xfrm>
            <a:off x="6562725" y="16821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7" name="features-4-3"/>
          <p:cNvSpPr>
            <a:spLocks noGrp="1"/>
          </p:cNvSpPr>
          <p:nvPr/>
        </p:nvSpPr>
        <p:spPr>
          <a:xfrm>
            <a:off x="6648450" y="16821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8" name="features-4-4"/>
          <p:cNvSpPr>
            <a:spLocks noGrp="1"/>
          </p:cNvSpPr>
          <p:nvPr/>
        </p:nvSpPr>
        <p:spPr>
          <a:xfrm>
            <a:off x="6734175" y="168211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9" name="features-4-5"/>
          <p:cNvSpPr>
            <a:spLocks noGrp="1"/>
          </p:cNvSpPr>
          <p:nvPr/>
        </p:nvSpPr>
        <p:spPr>
          <a:xfrm>
            <a:off x="6819900" y="16821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0" name="features-4-6"/>
          <p:cNvSpPr>
            <a:spLocks noGrp="1"/>
          </p:cNvSpPr>
          <p:nvPr/>
        </p:nvSpPr>
        <p:spPr>
          <a:xfrm>
            <a:off x="6905625" y="16821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1" name="features-4-7"/>
          <p:cNvSpPr>
            <a:spLocks noGrp="1"/>
          </p:cNvSpPr>
          <p:nvPr/>
        </p:nvSpPr>
        <p:spPr>
          <a:xfrm>
            <a:off x="6991350" y="16821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2" name="features-4-8"/>
          <p:cNvSpPr>
            <a:spLocks noGrp="1"/>
          </p:cNvSpPr>
          <p:nvPr/>
        </p:nvSpPr>
        <p:spPr>
          <a:xfrm>
            <a:off x="7077075" y="16821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3" name="features-4-9"/>
          <p:cNvSpPr>
            <a:spLocks noGrp="1"/>
          </p:cNvSpPr>
          <p:nvPr/>
        </p:nvSpPr>
        <p:spPr>
          <a:xfrm>
            <a:off x="7162800" y="168211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4" name="features-4-10"/>
          <p:cNvSpPr>
            <a:spLocks noGrp="1"/>
          </p:cNvSpPr>
          <p:nvPr/>
        </p:nvSpPr>
        <p:spPr>
          <a:xfrm>
            <a:off x="7248525" y="16821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5" name="features-4-11"/>
          <p:cNvSpPr>
            <a:spLocks noGrp="1"/>
          </p:cNvSpPr>
          <p:nvPr/>
        </p:nvSpPr>
        <p:spPr>
          <a:xfrm>
            <a:off x="7334250" y="16821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6" name="features-4-12"/>
          <p:cNvSpPr>
            <a:spLocks noGrp="1"/>
          </p:cNvSpPr>
          <p:nvPr/>
        </p:nvSpPr>
        <p:spPr>
          <a:xfrm>
            <a:off x="7419975" y="16821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7" name="features-4-13"/>
          <p:cNvSpPr>
            <a:spLocks noGrp="1"/>
          </p:cNvSpPr>
          <p:nvPr/>
        </p:nvSpPr>
        <p:spPr>
          <a:xfrm>
            <a:off x="7505700" y="16821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8" name="features-4-14"/>
          <p:cNvSpPr>
            <a:spLocks noGrp="1"/>
          </p:cNvSpPr>
          <p:nvPr/>
        </p:nvSpPr>
        <p:spPr>
          <a:xfrm>
            <a:off x="7591425" y="1682115"/>
            <a:ext cx="85725" cy="85725"/>
          </a:xfrm>
          <a:prstGeom prst="rect">
            <a:avLst/>
          </a:prstGeom>
          <a:solidFill>
            <a:srgbClr val="C9E3E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9" name="features-4-15"/>
          <p:cNvSpPr>
            <a:spLocks noGrp="1"/>
          </p:cNvSpPr>
          <p:nvPr/>
        </p:nvSpPr>
        <p:spPr>
          <a:xfrm>
            <a:off x="7677150" y="1682115"/>
            <a:ext cx="85725" cy="85725"/>
          </a:xfrm>
          <a:prstGeom prst="rect">
            <a:avLst/>
          </a:prstGeom>
          <a:solidFill>
            <a:srgbClr val="A4CFE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60" name="shape-25"/>
          <p:cNvSpPr>
            <a:spLocks noGrp="1"/>
          </p:cNvSpPr>
          <p:nvPr/>
        </p:nvSpPr>
        <p:spPr>
          <a:xfrm>
            <a:off x="6391275" y="1339215"/>
            <a:ext cx="1371600" cy="4286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161" name="Node-aligned history"/>
          <p:cNvSpPr>
            <a:spLocks noGrp="1"/>
          </p:cNvSpPr>
          <p:nvPr/>
        </p:nvSpPr>
        <p:spPr>
          <a:xfrm>
            <a:off x="6153150" y="96774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Node-aligned history</a:t>
            </a:r>
            <a:endParaRPr sz="15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2" name="X: 30 × 38 × 27"/>
          <p:cNvSpPr>
            <a:spLocks noGrp="1"/>
          </p:cNvSpPr>
          <p:nvPr/>
        </p:nvSpPr>
        <p:spPr>
          <a:xfrm>
            <a:off x="6210300" y="1920240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X: 30 × 38 × 27</a:t>
            </a:r>
            <a:endParaRPr sz="15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63" name="history-to-grouped-embedding"/>
          <p:cNvCxnSpPr/>
          <p:nvPr/>
        </p:nvCxnSpPr>
        <p:spPr>
          <a:xfrm>
            <a:off x="7991475" y="1577340"/>
            <a:ext cx="1114425" cy="1"/>
          </a:xfrm>
          <a:custGeom>
            <a:avLst/>
            <a:gdLst/>
            <a:ahLst/>
            <a:cxnLst/>
            <a:pathLst>
              <a:path w="1114425" h="1" fill="none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18898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166" name="6 groups"/>
          <p:cNvSpPr>
            <a:spLocks noGrp="1"/>
          </p:cNvSpPr>
          <p:nvPr/>
        </p:nvSpPr>
        <p:spPr>
          <a:xfrm>
            <a:off x="8010525" y="1148715"/>
            <a:ext cx="1123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groups</a:t>
            </a:r>
            <a:endParaRPr sz="13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7" name="shape-29"/>
          <p:cNvSpPr>
            <a:spLocks noGrp="1"/>
          </p:cNvSpPr>
          <p:nvPr/>
        </p:nvSpPr>
        <p:spPr>
          <a:xfrm>
            <a:off x="8096250" y="1386840"/>
            <a:ext cx="133350" cy="133350"/>
          </a:xfrm>
          <a:prstGeom prst="rect">
            <a:avLst/>
          </a:prstGeom>
          <a:solidFill>
            <a:srgbClr val="C9E3E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8" name="shape-30"/>
          <p:cNvSpPr>
            <a:spLocks noGrp="1"/>
          </p:cNvSpPr>
          <p:nvPr/>
        </p:nvSpPr>
        <p:spPr>
          <a:xfrm>
            <a:off x="8258175" y="1386840"/>
            <a:ext cx="133350" cy="133350"/>
          </a:xfrm>
          <a:prstGeom prst="rect">
            <a:avLst/>
          </a:prstGeom>
          <a:solidFill>
            <a:srgbClr val="A4CFE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9" name="shape-31"/>
          <p:cNvSpPr>
            <a:spLocks noGrp="1"/>
          </p:cNvSpPr>
          <p:nvPr/>
        </p:nvSpPr>
        <p:spPr>
          <a:xfrm>
            <a:off x="8420100" y="1386840"/>
            <a:ext cx="133350" cy="133350"/>
          </a:xfrm>
          <a:prstGeom prst="rect">
            <a:avLst/>
          </a:prstGeom>
          <a:solidFill>
            <a:srgbClr val="75AEC7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0" name="shape-32"/>
          <p:cNvSpPr>
            <a:spLocks noGrp="1"/>
          </p:cNvSpPr>
          <p:nvPr/>
        </p:nvSpPr>
        <p:spPr>
          <a:xfrm>
            <a:off x="8582025" y="1386840"/>
            <a:ext cx="133350" cy="133350"/>
          </a:xfrm>
          <a:prstGeom prst="rect">
            <a:avLst/>
          </a:prstGeom>
          <a:solidFill>
            <a:srgbClr val="356B91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1" name="shape-33"/>
          <p:cNvSpPr>
            <a:spLocks noGrp="1"/>
          </p:cNvSpPr>
          <p:nvPr/>
        </p:nvSpPr>
        <p:spPr>
          <a:xfrm>
            <a:off x="8743950" y="1386840"/>
            <a:ext cx="133350" cy="133350"/>
          </a:xfrm>
          <a:prstGeom prst="rect">
            <a:avLst/>
          </a:prstGeom>
          <a:solidFill>
            <a:srgbClr val="EDF5F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2" name="shape-34"/>
          <p:cNvSpPr>
            <a:spLocks noGrp="1"/>
          </p:cNvSpPr>
          <p:nvPr/>
        </p:nvSpPr>
        <p:spPr>
          <a:xfrm>
            <a:off x="8905875" y="1386840"/>
            <a:ext cx="133350" cy="133350"/>
          </a:xfrm>
          <a:prstGeom prst="rect">
            <a:avLst/>
          </a:prstGeom>
          <a:solidFill>
            <a:srgbClr val="C9E3E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3" name="Grouped Linear + GELU&#10;Mean aggregation"/>
          <p:cNvSpPr>
            <a:spLocks noGrp="1"/>
          </p:cNvSpPr>
          <p:nvPr/>
        </p:nvSpPr>
        <p:spPr>
          <a:xfrm>
            <a:off x="9172575" y="1243965"/>
            <a:ext cx="2686050" cy="514350"/>
          </a:xfrm>
          <a:prstGeom prst="rect">
            <a:avLst/>
          </a:prstGeom>
          <a:solidFill>
            <a:srgbClr val="DCEBF1"/>
          </a:solidFill>
          <a:ln w="15355">
            <a:solidFill>
              <a:srgbClr val="356B91"/>
            </a:solidFill>
            <a:prstDash val="solid"/>
          </a:ln>
        </p:spPr>
      </p:sp>
      <p:sp>
        <p:nvSpPr>
          <p:cNvPr id="174" name="Grouped Linear + GELU&#10;Mean aggregation"/>
          <p:cNvSpPr>
            <a:spLocks noGrp="1"/>
          </p:cNvSpPr>
          <p:nvPr/>
        </p:nvSpPr>
        <p:spPr>
          <a:xfrm>
            <a:off x="9210675" y="1263015"/>
            <a:ext cx="26098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Grouped Linear + GELU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Mean aggregation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75" name="grouped-embedding-to-sum"/>
          <p:cNvCxnSpPr/>
          <p:nvPr/>
        </p:nvCxnSpPr>
        <p:spPr>
          <a:xfrm>
            <a:off x="10515600" y="1758315"/>
            <a:ext cx="1" cy="190500"/>
          </a:xfrm>
          <a:custGeom>
            <a:avLst/>
            <a:gdLst/>
            <a:ahLst/>
            <a:cxnLst/>
            <a:pathLst>
              <a:path w="1" h="190500" fill="none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7717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178" name="operator-+"/>
          <p:cNvSpPr>
            <a:spLocks noGrp="1"/>
          </p:cNvSpPr>
          <p:nvPr/>
        </p:nvSpPr>
        <p:spPr>
          <a:xfrm>
            <a:off x="10401300" y="1958340"/>
            <a:ext cx="228600" cy="2286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17202D"/>
            </a:solidFill>
          </a:ln>
        </p:spPr>
      </p:sp>
      <p:sp>
        <p:nvSpPr>
          <p:cNvPr id="179" name="+"/>
          <p:cNvSpPr>
            <a:spLocks noGrp="1"/>
          </p:cNvSpPr>
          <p:nvPr/>
        </p:nvSpPr>
        <p:spPr>
          <a:xfrm>
            <a:off x="10401300" y="195834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0" name="Time + Laplacian&#10;+ node embeddings"/>
          <p:cNvSpPr>
            <a:spLocks noGrp="1"/>
          </p:cNvSpPr>
          <p:nvPr/>
        </p:nvSpPr>
        <p:spPr>
          <a:xfrm>
            <a:off x="7781925" y="1920240"/>
            <a:ext cx="2276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+ Laplacian</a:t>
            </a:r>
            <a:endParaRPr sz="13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node embeddings</a:t>
            </a:r>
            <a:endParaRPr sz="13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81" name="positional-embedding-to-sum"/>
          <p:cNvCxnSpPr/>
          <p:nvPr/>
        </p:nvCxnSpPr>
        <p:spPr>
          <a:xfrm>
            <a:off x="10039350" y="2072640"/>
            <a:ext cx="352425" cy="1"/>
          </a:xfrm>
          <a:custGeom>
            <a:avLst/>
            <a:gdLst/>
            <a:ahLst/>
            <a:cxnLst/>
            <a:pathLst>
              <a:path w="352425" h="1" fill="none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189" name="H⁽⁰⁾"/>
          <p:cNvSpPr>
            <a:spLocks noGrp="1"/>
          </p:cNvSpPr>
          <p:nvPr/>
        </p:nvSpPr>
        <p:spPr>
          <a:xfrm>
            <a:off x="9646920" y="301752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9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9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320" b="0" i="1" baseline="3000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(0)</a:t>
            </a:r>
            <a:endParaRPr sz="1320" b="0" i="1" baseline="3000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0" name="Five encoder blocks"/>
          <p:cNvSpPr>
            <a:spLocks noGrp="1"/>
          </p:cNvSpPr>
          <p:nvPr/>
        </p:nvSpPr>
        <p:spPr>
          <a:xfrm>
            <a:off x="6038850" y="3606165"/>
            <a:ext cx="5867400" cy="5381625"/>
          </a:xfrm>
          <a:prstGeom prst="rect">
            <a:avLst/>
          </a:prstGeom>
          <a:solidFill>
            <a:srgbClr val="FFFFFF"/>
          </a:solidFill>
          <a:ln w="12888">
            <a:solidFill>
              <a:srgbClr val="9FA7AE"/>
            </a:solidFill>
            <a:prstDash val="dash"/>
          </a:ln>
        </p:spPr>
      </p:sp>
      <p:sp>
        <p:nvSpPr>
          <p:cNvPr id="191" name="Encoder block × 5"/>
          <p:cNvSpPr>
            <a:spLocks noGrp="1"/>
          </p:cNvSpPr>
          <p:nvPr/>
        </p:nvSpPr>
        <p:spPr>
          <a:xfrm>
            <a:off x="6219825" y="3691890"/>
            <a:ext cx="20669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0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 block × 5</a:t>
            </a:r>
            <a:endParaRPr sz="20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84" name="input-to-encoder"/>
          <p:cNvCxnSpPr/>
          <p:nvPr/>
        </p:nvCxnSpPr>
        <p:spPr>
          <a:xfrm>
            <a:off x="8953500" y="2196465"/>
            <a:ext cx="1562100" cy="1838325"/>
          </a:xfrm>
          <a:custGeom>
            <a:avLst/>
            <a:gdLst/>
            <a:ahLst/>
            <a:cxnLst/>
            <a:pathLst>
              <a:path w="1562100" h="1838325" fill="none">
                <a:moveTo>
                  <a:pt x="1562100" y="0"/>
                </a:moveTo>
                <a:lnTo>
                  <a:pt x="0" y="1838325"/>
                </a:lnTo>
              </a:path>
            </a:pathLst>
          </a:custGeom>
          <a:noFill/>
          <a:ln w="18898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192" name="LayerNorm"/>
          <p:cNvSpPr>
            <a:spLocks noGrp="1"/>
          </p:cNvSpPr>
          <p:nvPr/>
        </p:nvSpPr>
        <p:spPr>
          <a:xfrm>
            <a:off x="8124825" y="4034790"/>
            <a:ext cx="1657350" cy="3238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193" name="LayerNorm"/>
          <p:cNvSpPr>
            <a:spLocks noGrp="1"/>
          </p:cNvSpPr>
          <p:nvPr/>
        </p:nvSpPr>
        <p:spPr>
          <a:xfrm>
            <a:off x="8162925" y="405384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LayerNorm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94" name="norm-to-attention-bus"/>
          <p:cNvCxnSpPr/>
          <p:nvPr/>
        </p:nvCxnSpPr>
        <p:spPr>
          <a:xfrm>
            <a:off x="8953500" y="4358640"/>
            <a:ext cx="1" cy="285750"/>
          </a:xfrm>
          <a:custGeom>
            <a:avLst/>
            <a:gdLst/>
            <a:ahLst/>
            <a:cxnLst/>
            <a:pathLst>
              <a:path w="1" h="285750" fill="none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197" name="line-49"/>
          <p:cNvSpPr>
            <a:spLocks noGrp="1"/>
          </p:cNvSpPr>
          <p:nvPr/>
        </p:nvSpPr>
        <p:spPr>
          <a:xfrm>
            <a:off x="7086600" y="4644390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cxnSp>
        <p:nvCxnSpPr>
          <p:cNvPr id="198" name="temporal-input"/>
          <p:cNvCxnSpPr/>
          <p:nvPr/>
        </p:nvCxnSpPr>
        <p:spPr>
          <a:xfrm>
            <a:off x="7086600" y="4644390"/>
            <a:ext cx="1" cy="209550"/>
          </a:xfrm>
          <a:custGeom>
            <a:avLst/>
            <a:gdLst/>
            <a:ahLst/>
            <a:cxnLst/>
            <a:pathLst>
              <a:path w="1" h="209550" fill="none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01" name="shape-53"/>
          <p:cNvSpPr>
            <a:spLocks noGrp="1"/>
          </p:cNvSpPr>
          <p:nvPr/>
        </p:nvSpPr>
        <p:spPr>
          <a:xfrm>
            <a:off x="6257925" y="4853940"/>
            <a:ext cx="1657350" cy="1257300"/>
          </a:xfrm>
          <a:prstGeom prst="rect">
            <a:avLst/>
          </a:prstGeom>
          <a:solidFill>
            <a:srgbClr val="E4EDF3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02" name="Temporal"/>
          <p:cNvSpPr>
            <a:spLocks noGrp="1"/>
          </p:cNvSpPr>
          <p:nvPr/>
        </p:nvSpPr>
        <p:spPr>
          <a:xfrm>
            <a:off x="6305550" y="493966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Temporal</a:t>
            </a:r>
            <a:endParaRPr sz="19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04" name="temporal-output"/>
          <p:cNvCxnSpPr/>
          <p:nvPr/>
        </p:nvCxnSpPr>
        <p:spPr>
          <a:xfrm>
            <a:off x="7086600" y="6111240"/>
            <a:ext cx="1" cy="161925"/>
          </a:xfrm>
          <a:custGeom>
            <a:avLst/>
            <a:gdLst/>
            <a:ahLst/>
            <a:cxnLst/>
            <a:pathLst>
              <a:path w="1" h="161925" fill="none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tailEnd type="arrow" w="sm" len="sm"/>
          </a:ln>
        </p:spPr>
      </p:cxnSp>
      <p:cxnSp>
        <p:nvCxnSpPr>
          <p:cNvPr id="207" name="geographic-input"/>
          <p:cNvCxnSpPr/>
          <p:nvPr/>
        </p:nvCxnSpPr>
        <p:spPr>
          <a:xfrm>
            <a:off x="8972550" y="4644390"/>
            <a:ext cx="1" cy="209550"/>
          </a:xfrm>
          <a:custGeom>
            <a:avLst/>
            <a:gdLst/>
            <a:ahLst/>
            <a:cxnLst/>
            <a:pathLst>
              <a:path w="1" h="209550" fill="none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10" name="shape-60"/>
          <p:cNvSpPr>
            <a:spLocks noGrp="1"/>
          </p:cNvSpPr>
          <p:nvPr/>
        </p:nvSpPr>
        <p:spPr>
          <a:xfrm>
            <a:off x="8143875" y="4853940"/>
            <a:ext cx="1657350" cy="1257300"/>
          </a:xfrm>
          <a:prstGeom prst="rect">
            <a:avLst/>
          </a:prstGeom>
          <a:solidFill>
            <a:srgbClr val="AACFC2"/>
          </a:solidFill>
          <a:ln w="21590">
            <a:solidFill>
              <a:srgbClr val="337F68"/>
            </a:solidFill>
            <a:prstDash val="solid"/>
          </a:ln>
        </p:spPr>
      </p:sp>
      <p:sp>
        <p:nvSpPr>
          <p:cNvPr id="211" name="Geographic (c)"/>
          <p:cNvSpPr>
            <a:spLocks noGrp="1"/>
          </p:cNvSpPr>
          <p:nvPr/>
        </p:nvSpPr>
        <p:spPr>
          <a:xfrm>
            <a:off x="8191500" y="493966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Geographic</a:t>
            </a:r>
            <a:endParaRPr sz="1900" b="1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13" name="geographic-output"/>
          <p:cNvCxnSpPr/>
          <p:nvPr/>
        </p:nvCxnSpPr>
        <p:spPr>
          <a:xfrm>
            <a:off x="8972550" y="6111240"/>
            <a:ext cx="1" cy="161925"/>
          </a:xfrm>
          <a:custGeom>
            <a:avLst/>
            <a:gdLst/>
            <a:ahLst/>
            <a:cxnLst/>
            <a:pathLst>
              <a:path w="1" h="161925" fill="none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headEnd type="none"/>
            <a:tailEnd type="none" w="sm" len="sm"/>
          </a:ln>
        </p:spPr>
      </p:cxnSp>
      <p:cxnSp>
        <p:nvCxnSpPr>
          <p:cNvPr id="216" name="semantic-input"/>
          <p:cNvCxnSpPr/>
          <p:nvPr/>
        </p:nvCxnSpPr>
        <p:spPr>
          <a:xfrm>
            <a:off x="10858500" y="4644390"/>
            <a:ext cx="1" cy="209550"/>
          </a:xfrm>
          <a:custGeom>
            <a:avLst/>
            <a:gdLst/>
            <a:ahLst/>
            <a:cxnLst/>
            <a:pathLst>
              <a:path w="1" h="209550" fill="none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19" name="shape-67"/>
          <p:cNvSpPr>
            <a:spLocks noGrp="1"/>
          </p:cNvSpPr>
          <p:nvPr/>
        </p:nvSpPr>
        <p:spPr>
          <a:xfrm>
            <a:off x="10029825" y="4853940"/>
            <a:ext cx="1657350" cy="1257300"/>
          </a:xfrm>
          <a:prstGeom prst="rect">
            <a:avLst/>
          </a:prstGeom>
          <a:solidFill>
            <a:srgbClr val="E4EDF3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20" name="Semantic"/>
          <p:cNvSpPr>
            <a:spLocks noGrp="1"/>
          </p:cNvSpPr>
          <p:nvPr/>
        </p:nvSpPr>
        <p:spPr>
          <a:xfrm>
            <a:off x="10077450" y="493966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Semantic</a:t>
            </a:r>
            <a:endParaRPr sz="19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22" name="semantic-output"/>
          <p:cNvCxnSpPr/>
          <p:nvPr/>
        </p:nvCxnSpPr>
        <p:spPr>
          <a:xfrm>
            <a:off x="10858500" y="6111240"/>
            <a:ext cx="1" cy="161925"/>
          </a:xfrm>
          <a:custGeom>
            <a:avLst/>
            <a:gdLst/>
            <a:ahLst/>
            <a:cxnLst/>
            <a:pathLst>
              <a:path w="1" h="161925" fill="none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0003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25" name="temporal attention link"/>
          <p:cNvSpPr>
            <a:spLocks noGrp="1"/>
          </p:cNvSpPr>
          <p:nvPr/>
        </p:nvSpPr>
        <p:spPr>
          <a:xfrm>
            <a:off x="6438900" y="5473065"/>
            <a:ext cx="1133475" cy="238125"/>
          </a:xfrm>
          <a:custGeom>
            <a:avLst/>
            <a:gdLst/>
            <a:ahLst/>
            <a:cxnLst/>
            <a:pathLst>
              <a:path w="1133475" h="238125">
                <a:moveTo>
                  <a:pt x="0" y="238125"/>
                </a:moveTo>
                <a:cubicBezTo>
                  <a:pt x="0" y="0"/>
                  <a:pt x="1133475" y="0"/>
                  <a:pt x="1133475" y="238125"/>
                </a:cubicBezTo>
              </a:path>
            </a:pathLst>
          </a:custGeom>
          <a:noFill/>
          <a:ln w="9525">
            <a:solidFill>
              <a:srgbClr val="75AEC7"/>
            </a:solidFill>
          </a:ln>
        </p:spPr>
      </p:sp>
      <p:sp>
        <p:nvSpPr>
          <p:cNvPr id="226" name="temporal attention link"/>
          <p:cNvSpPr>
            <a:spLocks noGrp="1"/>
          </p:cNvSpPr>
          <p:nvPr/>
        </p:nvSpPr>
        <p:spPr>
          <a:xfrm>
            <a:off x="6810375" y="5549265"/>
            <a:ext cx="762000" cy="161925"/>
          </a:xfrm>
          <a:custGeom>
            <a:avLst/>
            <a:gdLst/>
            <a:ahLst/>
            <a:cxnLst/>
            <a:pathLst>
              <a:path w="762000" h="161925">
                <a:moveTo>
                  <a:pt x="0" y="161925"/>
                </a:moveTo>
                <a:cubicBezTo>
                  <a:pt x="0" y="0"/>
                  <a:pt x="762000" y="0"/>
                  <a:pt x="762000" y="161925"/>
                </a:cubicBezTo>
              </a:path>
            </a:pathLst>
          </a:custGeom>
          <a:noFill/>
          <a:ln w="9525">
            <a:solidFill>
              <a:srgbClr val="75AEC7"/>
            </a:solidFill>
          </a:ln>
        </p:spPr>
      </p:sp>
      <p:sp>
        <p:nvSpPr>
          <p:cNvPr id="227" name="temporal attention link"/>
          <p:cNvSpPr>
            <a:spLocks noGrp="1"/>
          </p:cNvSpPr>
          <p:nvPr/>
        </p:nvSpPr>
        <p:spPr>
          <a:xfrm>
            <a:off x="7181850" y="5615940"/>
            <a:ext cx="390525" cy="95250"/>
          </a:xfrm>
          <a:custGeom>
            <a:avLst/>
            <a:gdLst/>
            <a:ahLst/>
            <a:cxnLst/>
            <a:pathLst>
              <a:path w="390525" h="95250">
                <a:moveTo>
                  <a:pt x="0" y="95250"/>
                </a:moveTo>
                <a:cubicBezTo>
                  <a:pt x="0" y="0"/>
                  <a:pt x="390525" y="0"/>
                  <a:pt x="390525" y="95250"/>
                </a:cubicBezTo>
              </a:path>
            </a:pathLst>
          </a:custGeom>
          <a:noFill/>
          <a:ln w="9525">
            <a:solidFill>
              <a:srgbClr val="75AEC7"/>
            </a:solidFill>
          </a:ln>
        </p:spPr>
      </p:sp>
      <p:sp>
        <p:nvSpPr>
          <p:cNvPr id="228" name="resource node"/>
          <p:cNvSpPr>
            <a:spLocks noGrp="1"/>
          </p:cNvSpPr>
          <p:nvPr/>
        </p:nvSpPr>
        <p:spPr>
          <a:xfrm>
            <a:off x="6386513" y="565880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229" name="resource node"/>
          <p:cNvSpPr>
            <a:spLocks noGrp="1"/>
          </p:cNvSpPr>
          <p:nvPr/>
        </p:nvSpPr>
        <p:spPr>
          <a:xfrm>
            <a:off x="6757988" y="565880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230" name="resource node"/>
          <p:cNvSpPr>
            <a:spLocks noGrp="1"/>
          </p:cNvSpPr>
          <p:nvPr/>
        </p:nvSpPr>
        <p:spPr>
          <a:xfrm>
            <a:off x="7129463" y="5658803"/>
            <a:ext cx="104775" cy="10477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231" name="resource node"/>
          <p:cNvSpPr>
            <a:spLocks noGrp="1"/>
          </p:cNvSpPr>
          <p:nvPr/>
        </p:nvSpPr>
        <p:spPr>
          <a:xfrm>
            <a:off x="7519988" y="5658803"/>
            <a:ext cx="104775" cy="104775"/>
          </a:xfrm>
          <a:prstGeom prst="ellipse">
            <a:avLst/>
          </a:prstGeom>
          <a:solidFill>
            <a:srgbClr val="356B91"/>
          </a:solidFill>
          <a:ln w="16535">
            <a:solidFill>
              <a:srgbClr val="356B91"/>
            </a:solidFill>
          </a:ln>
        </p:spPr>
      </p:sp>
      <p:sp>
        <p:nvSpPr>
          <p:cNvPr id="232" name="line-71"/>
          <p:cNvSpPr>
            <a:spLocks noGrp="1"/>
          </p:cNvSpPr>
          <p:nvPr/>
        </p:nvSpPr>
        <p:spPr>
          <a:xfrm>
            <a:off x="8712518" y="5395436"/>
            <a:ext cx="260032" cy="167164"/>
          </a:xfrm>
          <a:custGeom>
            <a:avLst/>
            <a:gdLst/>
            <a:ahLst/>
            <a:cxnLst/>
            <a:pathLst>
              <a:path w="260032" h="167164">
                <a:moveTo>
                  <a:pt x="260032" y="167164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24566C"/>
            </a:solidFill>
            <a:prstDash val="solid"/>
          </a:ln>
        </p:spPr>
      </p:sp>
      <p:sp>
        <p:nvSpPr>
          <p:cNvPr id="233" name="line-72"/>
          <p:cNvSpPr>
            <a:spLocks noGrp="1"/>
          </p:cNvSpPr>
          <p:nvPr/>
        </p:nvSpPr>
        <p:spPr>
          <a:xfrm>
            <a:off x="8972550" y="5370671"/>
            <a:ext cx="222885" cy="191929"/>
          </a:xfrm>
          <a:custGeom>
            <a:avLst/>
            <a:gdLst/>
            <a:ahLst/>
            <a:cxnLst/>
            <a:pathLst>
              <a:path w="222885" h="191929">
                <a:moveTo>
                  <a:pt x="0" y="191929"/>
                </a:moveTo>
                <a:lnTo>
                  <a:pt x="222885" y="0"/>
                </a:lnTo>
              </a:path>
            </a:pathLst>
          </a:custGeom>
          <a:noFill/>
          <a:ln w="20320">
            <a:solidFill>
              <a:srgbClr val="24566C"/>
            </a:solidFill>
            <a:prstDash val="solid"/>
          </a:ln>
        </p:spPr>
      </p:sp>
      <p:sp>
        <p:nvSpPr>
          <p:cNvPr id="234" name="line-73"/>
          <p:cNvSpPr>
            <a:spLocks noGrp="1"/>
          </p:cNvSpPr>
          <p:nvPr/>
        </p:nvSpPr>
        <p:spPr>
          <a:xfrm>
            <a:off x="8687753" y="5562600"/>
            <a:ext cx="284797" cy="185738"/>
          </a:xfrm>
          <a:custGeom>
            <a:avLst/>
            <a:gdLst/>
            <a:ahLst/>
            <a:cxnLst/>
            <a:pathLst>
              <a:path w="284797" h="185738">
                <a:moveTo>
                  <a:pt x="284797" y="0"/>
                </a:moveTo>
                <a:lnTo>
                  <a:pt x="0" y="185738"/>
                </a:lnTo>
              </a:path>
            </a:pathLst>
          </a:custGeom>
          <a:noFill/>
          <a:ln w="20320">
            <a:solidFill>
              <a:srgbClr val="24566C"/>
            </a:solidFill>
            <a:prstDash val="solid"/>
          </a:ln>
        </p:spPr>
      </p:sp>
      <p:sp>
        <p:nvSpPr>
          <p:cNvPr id="235" name="line-74"/>
          <p:cNvSpPr>
            <a:spLocks noGrp="1"/>
          </p:cNvSpPr>
          <p:nvPr/>
        </p:nvSpPr>
        <p:spPr>
          <a:xfrm>
            <a:off x="8972550" y="5562600"/>
            <a:ext cx="260032" cy="179546"/>
          </a:xfrm>
          <a:custGeom>
            <a:avLst/>
            <a:gdLst/>
            <a:ahLst/>
            <a:cxnLst/>
            <a:pathLst>
              <a:path w="260032" h="179546">
                <a:moveTo>
                  <a:pt x="0" y="0"/>
                </a:moveTo>
                <a:lnTo>
                  <a:pt x="260032" y="179546"/>
                </a:lnTo>
              </a:path>
            </a:pathLst>
          </a:custGeom>
          <a:noFill/>
          <a:ln w="20320">
            <a:solidFill>
              <a:srgbClr val="24566C"/>
            </a:solidFill>
            <a:prstDash val="solid"/>
          </a:ln>
        </p:spPr>
      </p:sp>
      <p:sp>
        <p:nvSpPr>
          <p:cNvPr id="236" name="line-75"/>
          <p:cNvSpPr>
            <a:spLocks noGrp="1"/>
          </p:cNvSpPr>
          <p:nvPr/>
        </p:nvSpPr>
        <p:spPr>
          <a:xfrm>
            <a:off x="8687753" y="5395436"/>
            <a:ext cx="24765" cy="352901"/>
          </a:xfrm>
          <a:custGeom>
            <a:avLst/>
            <a:gdLst/>
            <a:ahLst/>
            <a:cxnLst/>
            <a:pathLst>
              <a:path w="24765" h="352901">
                <a:moveTo>
                  <a:pt x="24765" y="0"/>
                </a:moveTo>
                <a:lnTo>
                  <a:pt x="0" y="352901"/>
                </a:lnTo>
              </a:path>
            </a:pathLst>
          </a:custGeom>
          <a:noFill/>
          <a:ln w="20320">
            <a:solidFill>
              <a:srgbClr val="24566C"/>
            </a:solidFill>
            <a:prstDash val="solid"/>
          </a:ln>
        </p:spPr>
      </p:sp>
      <p:sp>
        <p:nvSpPr>
          <p:cNvPr id="237" name="line-76"/>
          <p:cNvSpPr>
            <a:spLocks noGrp="1"/>
          </p:cNvSpPr>
          <p:nvPr/>
        </p:nvSpPr>
        <p:spPr>
          <a:xfrm>
            <a:off x="9195435" y="5370671"/>
            <a:ext cx="37147" cy="371475"/>
          </a:xfrm>
          <a:custGeom>
            <a:avLst/>
            <a:gdLst/>
            <a:ahLst/>
            <a:cxnLst/>
            <a:pathLst>
              <a:path w="37147" h="371475">
                <a:moveTo>
                  <a:pt x="0" y="0"/>
                </a:moveTo>
                <a:lnTo>
                  <a:pt x="37147" y="371475"/>
                </a:lnTo>
              </a:path>
            </a:pathLst>
          </a:custGeom>
          <a:noFill/>
          <a:ln w="20320">
            <a:solidFill>
              <a:srgbClr val="24566C"/>
            </a:solidFill>
            <a:prstDash val="solid"/>
          </a:ln>
        </p:spPr>
      </p:sp>
      <p:sp>
        <p:nvSpPr>
          <p:cNvPr id="238" name="resource node"/>
          <p:cNvSpPr>
            <a:spLocks noGrp="1"/>
          </p:cNvSpPr>
          <p:nvPr/>
        </p:nvSpPr>
        <p:spPr>
          <a:xfrm>
            <a:off x="8877300" y="5467350"/>
            <a:ext cx="190500" cy="190500"/>
          </a:xfrm>
          <a:prstGeom prst="ellipse">
            <a:avLst/>
          </a:prstGeom>
          <a:solidFill>
            <a:srgbClr val="337F68"/>
          </a:solidFill>
          <a:ln w="20320">
            <a:solidFill>
              <a:srgbClr val="24566C"/>
            </a:solidFill>
          </a:ln>
        </p:spPr>
      </p:sp>
      <p:sp>
        <p:nvSpPr>
          <p:cNvPr id="239" name="resource node"/>
          <p:cNvSpPr>
            <a:spLocks noGrp="1"/>
          </p:cNvSpPr>
          <p:nvPr/>
        </p:nvSpPr>
        <p:spPr>
          <a:xfrm>
            <a:off x="8645843" y="5328761"/>
            <a:ext cx="133350" cy="13335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4566C"/>
            </a:solidFill>
          </a:ln>
        </p:spPr>
      </p:sp>
      <p:sp>
        <p:nvSpPr>
          <p:cNvPr id="240" name="resource node"/>
          <p:cNvSpPr>
            <a:spLocks noGrp="1"/>
          </p:cNvSpPr>
          <p:nvPr/>
        </p:nvSpPr>
        <p:spPr>
          <a:xfrm>
            <a:off x="9128760" y="5303996"/>
            <a:ext cx="133350" cy="13335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4566C"/>
            </a:solidFill>
          </a:ln>
        </p:spPr>
      </p:sp>
      <p:sp>
        <p:nvSpPr>
          <p:cNvPr id="241" name="resource node"/>
          <p:cNvSpPr>
            <a:spLocks noGrp="1"/>
          </p:cNvSpPr>
          <p:nvPr/>
        </p:nvSpPr>
        <p:spPr>
          <a:xfrm>
            <a:off x="8621078" y="5681663"/>
            <a:ext cx="133350" cy="13335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4566C"/>
            </a:solidFill>
          </a:ln>
        </p:spPr>
      </p:sp>
      <p:sp>
        <p:nvSpPr>
          <p:cNvPr id="242" name="resource node"/>
          <p:cNvSpPr>
            <a:spLocks noGrp="1"/>
          </p:cNvSpPr>
          <p:nvPr/>
        </p:nvSpPr>
        <p:spPr>
          <a:xfrm>
            <a:off x="9165908" y="5675471"/>
            <a:ext cx="133350" cy="13335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4566C"/>
            </a:solidFill>
          </a:ln>
        </p:spPr>
      </p:sp>
      <p:sp>
        <p:nvSpPr>
          <p:cNvPr id="243" name="similarity-0-0"/>
          <p:cNvSpPr>
            <a:spLocks noGrp="1"/>
          </p:cNvSpPr>
          <p:nvPr/>
        </p:nvSpPr>
        <p:spPr>
          <a:xfrm>
            <a:off x="10258425" y="546354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4" name="similarity-0-1"/>
          <p:cNvSpPr>
            <a:spLocks noGrp="1"/>
          </p:cNvSpPr>
          <p:nvPr/>
        </p:nvSpPr>
        <p:spPr>
          <a:xfrm>
            <a:off x="10344150" y="54635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5" name="similarity-0-2"/>
          <p:cNvSpPr>
            <a:spLocks noGrp="1"/>
          </p:cNvSpPr>
          <p:nvPr/>
        </p:nvSpPr>
        <p:spPr>
          <a:xfrm>
            <a:off x="10429875" y="54635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6" name="similarity-0-3"/>
          <p:cNvSpPr>
            <a:spLocks noGrp="1"/>
          </p:cNvSpPr>
          <p:nvPr/>
        </p:nvSpPr>
        <p:spPr>
          <a:xfrm>
            <a:off x="10515600" y="54635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7" name="similarity-0-4"/>
          <p:cNvSpPr>
            <a:spLocks noGrp="1"/>
          </p:cNvSpPr>
          <p:nvPr/>
        </p:nvSpPr>
        <p:spPr>
          <a:xfrm>
            <a:off x="10601325" y="5463540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8" name="similarity-1-0"/>
          <p:cNvSpPr>
            <a:spLocks noGrp="1"/>
          </p:cNvSpPr>
          <p:nvPr/>
        </p:nvSpPr>
        <p:spPr>
          <a:xfrm>
            <a:off x="10258425" y="554926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9" name="similarity-1-1"/>
          <p:cNvSpPr>
            <a:spLocks noGrp="1"/>
          </p:cNvSpPr>
          <p:nvPr/>
        </p:nvSpPr>
        <p:spPr>
          <a:xfrm>
            <a:off x="10344150" y="554926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0" name="similarity-1-2"/>
          <p:cNvSpPr>
            <a:spLocks noGrp="1"/>
          </p:cNvSpPr>
          <p:nvPr/>
        </p:nvSpPr>
        <p:spPr>
          <a:xfrm>
            <a:off x="10429875" y="554926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1" name="similarity-1-3"/>
          <p:cNvSpPr>
            <a:spLocks noGrp="1"/>
          </p:cNvSpPr>
          <p:nvPr/>
        </p:nvSpPr>
        <p:spPr>
          <a:xfrm>
            <a:off x="10515600" y="554926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2" name="similarity-1-4"/>
          <p:cNvSpPr>
            <a:spLocks noGrp="1"/>
          </p:cNvSpPr>
          <p:nvPr/>
        </p:nvSpPr>
        <p:spPr>
          <a:xfrm>
            <a:off x="10601325" y="554926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3" name="similarity-2-0"/>
          <p:cNvSpPr>
            <a:spLocks noGrp="1"/>
          </p:cNvSpPr>
          <p:nvPr/>
        </p:nvSpPr>
        <p:spPr>
          <a:xfrm>
            <a:off x="10258425" y="563499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4" name="similarity-2-1"/>
          <p:cNvSpPr>
            <a:spLocks noGrp="1"/>
          </p:cNvSpPr>
          <p:nvPr/>
        </p:nvSpPr>
        <p:spPr>
          <a:xfrm>
            <a:off x="10344150" y="563499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5" name="similarity-2-2"/>
          <p:cNvSpPr>
            <a:spLocks noGrp="1"/>
          </p:cNvSpPr>
          <p:nvPr/>
        </p:nvSpPr>
        <p:spPr>
          <a:xfrm>
            <a:off x="10429875" y="563499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6" name="similarity-2-3"/>
          <p:cNvSpPr>
            <a:spLocks noGrp="1"/>
          </p:cNvSpPr>
          <p:nvPr/>
        </p:nvSpPr>
        <p:spPr>
          <a:xfrm>
            <a:off x="10515600" y="563499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7" name="similarity-2-4"/>
          <p:cNvSpPr>
            <a:spLocks noGrp="1"/>
          </p:cNvSpPr>
          <p:nvPr/>
        </p:nvSpPr>
        <p:spPr>
          <a:xfrm>
            <a:off x="10601325" y="563499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8" name="similarity-3-0"/>
          <p:cNvSpPr>
            <a:spLocks noGrp="1"/>
          </p:cNvSpPr>
          <p:nvPr/>
        </p:nvSpPr>
        <p:spPr>
          <a:xfrm>
            <a:off x="10258425" y="57207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9" name="similarity-3-1"/>
          <p:cNvSpPr>
            <a:spLocks noGrp="1"/>
          </p:cNvSpPr>
          <p:nvPr/>
        </p:nvSpPr>
        <p:spPr>
          <a:xfrm>
            <a:off x="10344150" y="5720715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0" name="similarity-3-2"/>
          <p:cNvSpPr>
            <a:spLocks noGrp="1"/>
          </p:cNvSpPr>
          <p:nvPr/>
        </p:nvSpPr>
        <p:spPr>
          <a:xfrm>
            <a:off x="10429875" y="57207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1" name="similarity-3-3"/>
          <p:cNvSpPr>
            <a:spLocks noGrp="1"/>
          </p:cNvSpPr>
          <p:nvPr/>
        </p:nvSpPr>
        <p:spPr>
          <a:xfrm>
            <a:off x="10515600" y="5720715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2" name="similarity-3-4"/>
          <p:cNvSpPr>
            <a:spLocks noGrp="1"/>
          </p:cNvSpPr>
          <p:nvPr/>
        </p:nvSpPr>
        <p:spPr>
          <a:xfrm>
            <a:off x="10601325" y="5720715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3" name="similarity-4-0"/>
          <p:cNvSpPr>
            <a:spLocks noGrp="1"/>
          </p:cNvSpPr>
          <p:nvPr/>
        </p:nvSpPr>
        <p:spPr>
          <a:xfrm>
            <a:off x="10258425" y="5806440"/>
            <a:ext cx="85725" cy="85725"/>
          </a:xfrm>
          <a:prstGeom prst="rect">
            <a:avLst/>
          </a:prstGeom>
          <a:solidFill>
            <a:srgbClr val="75AE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4" name="similarity-4-1"/>
          <p:cNvSpPr>
            <a:spLocks noGrp="1"/>
          </p:cNvSpPr>
          <p:nvPr/>
        </p:nvSpPr>
        <p:spPr>
          <a:xfrm>
            <a:off x="10344150" y="58064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5" name="similarity-4-2"/>
          <p:cNvSpPr>
            <a:spLocks noGrp="1"/>
          </p:cNvSpPr>
          <p:nvPr/>
        </p:nvSpPr>
        <p:spPr>
          <a:xfrm>
            <a:off x="10429875" y="58064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6" name="similarity-4-3"/>
          <p:cNvSpPr>
            <a:spLocks noGrp="1"/>
          </p:cNvSpPr>
          <p:nvPr/>
        </p:nvSpPr>
        <p:spPr>
          <a:xfrm>
            <a:off x="10515600" y="5806440"/>
            <a:ext cx="85725" cy="85725"/>
          </a:xfrm>
          <a:prstGeom prst="rect">
            <a:avLst/>
          </a:prstGeom>
          <a:solidFill>
            <a:srgbClr val="ED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7" name="similarity-4-4"/>
          <p:cNvSpPr>
            <a:spLocks noGrp="1"/>
          </p:cNvSpPr>
          <p:nvPr/>
        </p:nvSpPr>
        <p:spPr>
          <a:xfrm>
            <a:off x="10601325" y="5806440"/>
            <a:ext cx="85725" cy="85725"/>
          </a:xfrm>
          <a:prstGeom prst="rect">
            <a:avLst/>
          </a:prstGeom>
          <a:solidFill>
            <a:srgbClr val="356B9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8" name="shape-77"/>
          <p:cNvSpPr>
            <a:spLocks noGrp="1"/>
          </p:cNvSpPr>
          <p:nvPr/>
        </p:nvSpPr>
        <p:spPr>
          <a:xfrm>
            <a:off x="10258425" y="5463540"/>
            <a:ext cx="428625" cy="4286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269" name="line-78"/>
          <p:cNvSpPr>
            <a:spLocks noGrp="1"/>
          </p:cNvSpPr>
          <p:nvPr/>
        </p:nvSpPr>
        <p:spPr>
          <a:xfrm>
            <a:off x="11077575" y="5501640"/>
            <a:ext cx="123825" cy="142875"/>
          </a:xfrm>
          <a:custGeom>
            <a:avLst/>
            <a:gdLst/>
            <a:ahLst/>
            <a:cxnLst/>
            <a:pathLst>
              <a:path w="123825" h="142875">
                <a:moveTo>
                  <a:pt x="123825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A4CFE2"/>
            </a:solidFill>
            <a:prstDash val="solid"/>
          </a:ln>
        </p:spPr>
      </p:sp>
      <p:sp>
        <p:nvSpPr>
          <p:cNvPr id="270" name="line-79"/>
          <p:cNvSpPr>
            <a:spLocks noGrp="1"/>
          </p:cNvSpPr>
          <p:nvPr/>
        </p:nvSpPr>
        <p:spPr>
          <a:xfrm>
            <a:off x="11201400" y="5511165"/>
            <a:ext cx="257175" cy="133350"/>
          </a:xfrm>
          <a:custGeom>
            <a:avLst/>
            <a:gdLst/>
            <a:ahLst/>
            <a:cxnLst/>
            <a:pathLst>
              <a:path w="257175" h="133350">
                <a:moveTo>
                  <a:pt x="0" y="133350"/>
                </a:moveTo>
                <a:lnTo>
                  <a:pt x="257175" y="0"/>
                </a:lnTo>
              </a:path>
            </a:pathLst>
          </a:custGeom>
          <a:noFill/>
          <a:ln w="9525">
            <a:solidFill>
              <a:srgbClr val="A4CFE2"/>
            </a:solidFill>
            <a:prstDash val="solid"/>
          </a:ln>
        </p:spPr>
      </p:sp>
      <p:sp>
        <p:nvSpPr>
          <p:cNvPr id="271" name="line-80"/>
          <p:cNvSpPr>
            <a:spLocks noGrp="1"/>
          </p:cNvSpPr>
          <p:nvPr/>
        </p:nvSpPr>
        <p:spPr>
          <a:xfrm>
            <a:off x="11201400" y="5644515"/>
            <a:ext cx="133350" cy="152400"/>
          </a:xfrm>
          <a:custGeom>
            <a:avLst/>
            <a:gdLst/>
            <a:ahLst/>
            <a:cxnLst/>
            <a:pathLst>
              <a:path w="133350" h="152400">
                <a:moveTo>
                  <a:pt x="0" y="0"/>
                </a:moveTo>
                <a:lnTo>
                  <a:pt x="133350" y="152400"/>
                </a:lnTo>
              </a:path>
            </a:pathLst>
          </a:custGeom>
          <a:noFill/>
          <a:ln w="9525">
            <a:solidFill>
              <a:srgbClr val="A4CFE2"/>
            </a:solidFill>
            <a:prstDash val="solid"/>
          </a:ln>
        </p:spPr>
      </p:sp>
      <p:sp>
        <p:nvSpPr>
          <p:cNvPr id="272" name="resource node"/>
          <p:cNvSpPr>
            <a:spLocks noGrp="1"/>
          </p:cNvSpPr>
          <p:nvPr/>
        </p:nvSpPr>
        <p:spPr>
          <a:xfrm>
            <a:off x="11032808" y="545687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273" name="resource node"/>
          <p:cNvSpPr>
            <a:spLocks noGrp="1"/>
          </p:cNvSpPr>
          <p:nvPr/>
        </p:nvSpPr>
        <p:spPr>
          <a:xfrm>
            <a:off x="11413808" y="546639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274" name="resource node"/>
          <p:cNvSpPr>
            <a:spLocks noGrp="1"/>
          </p:cNvSpPr>
          <p:nvPr/>
        </p:nvSpPr>
        <p:spPr>
          <a:xfrm>
            <a:off x="11289983" y="575214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356B91"/>
            </a:solidFill>
          </a:ln>
        </p:spPr>
      </p:sp>
      <p:sp>
        <p:nvSpPr>
          <p:cNvPr id="275" name="resource node"/>
          <p:cNvSpPr>
            <a:spLocks noGrp="1"/>
          </p:cNvSpPr>
          <p:nvPr/>
        </p:nvSpPr>
        <p:spPr>
          <a:xfrm>
            <a:off x="11144250" y="5587365"/>
            <a:ext cx="114300" cy="114300"/>
          </a:xfrm>
          <a:prstGeom prst="ellipse">
            <a:avLst/>
          </a:prstGeom>
          <a:solidFill>
            <a:srgbClr val="356B91"/>
          </a:solidFill>
          <a:ln w="16535">
            <a:solidFill>
              <a:srgbClr val="356B91"/>
            </a:solidFill>
          </a:ln>
        </p:spPr>
      </p:sp>
      <p:sp>
        <p:nvSpPr>
          <p:cNvPr id="276" name="4 heads"/>
          <p:cNvSpPr>
            <a:spLocks noGrp="1"/>
          </p:cNvSpPr>
          <p:nvPr/>
        </p:nvSpPr>
        <p:spPr>
          <a:xfrm>
            <a:off x="6372225" y="585406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heads</a:t>
            </a:r>
            <a:endParaRPr sz="13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7" name="2 heads, Mᴳ"/>
          <p:cNvSpPr>
            <a:spLocks noGrp="1"/>
          </p:cNvSpPr>
          <p:nvPr/>
        </p:nvSpPr>
        <p:spPr>
          <a:xfrm>
            <a:off x="8258175" y="585406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heads, Mᴳ</a:t>
            </a:r>
            <a:endParaRPr sz="13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8" name="2 heads, Mˢ"/>
          <p:cNvSpPr>
            <a:spLocks noGrp="1"/>
          </p:cNvSpPr>
          <p:nvPr/>
        </p:nvSpPr>
        <p:spPr>
          <a:xfrm>
            <a:off x="10144125" y="585406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heads, Mˢ</a:t>
            </a:r>
            <a:endParaRPr sz="13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9" name="line-81"/>
          <p:cNvSpPr>
            <a:spLocks noGrp="1"/>
          </p:cNvSpPr>
          <p:nvPr/>
        </p:nvSpPr>
        <p:spPr>
          <a:xfrm>
            <a:off x="7086600" y="6273165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cxnSp>
        <p:nvCxnSpPr>
          <p:cNvPr id="280" name="attention-bus-to-concat"/>
          <p:cNvCxnSpPr/>
          <p:nvPr/>
        </p:nvCxnSpPr>
        <p:spPr>
          <a:xfrm>
            <a:off x="8953500" y="6273165"/>
            <a:ext cx="1" cy="161925"/>
          </a:xfrm>
          <a:custGeom>
            <a:avLst/>
            <a:gdLst/>
            <a:ahLst/>
            <a:cxnLst/>
            <a:pathLst>
              <a:path w="1" h="161925" fill="none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83" name="Concat + Linear"/>
          <p:cNvSpPr>
            <a:spLocks noGrp="1"/>
          </p:cNvSpPr>
          <p:nvPr/>
        </p:nvSpPr>
        <p:spPr>
          <a:xfrm>
            <a:off x="7915275" y="6435090"/>
            <a:ext cx="2076450" cy="3619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84" name="Concat + Linear"/>
          <p:cNvSpPr>
            <a:spLocks noGrp="1"/>
          </p:cNvSpPr>
          <p:nvPr/>
        </p:nvSpPr>
        <p:spPr>
          <a:xfrm>
            <a:off x="7953375" y="645414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Concat + Linear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85" name="concat-to-add"/>
          <p:cNvCxnSpPr/>
          <p:nvPr/>
        </p:nvCxnSpPr>
        <p:spPr>
          <a:xfrm>
            <a:off x="8953500" y="6797040"/>
            <a:ext cx="1" cy="76200"/>
          </a:xfrm>
          <a:custGeom>
            <a:avLst/>
            <a:gdLst/>
            <a:ahLst/>
            <a:cxnLst/>
            <a:pathLst>
              <a:path w="1" h="76200" fill="none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88" name="operator-+"/>
          <p:cNvSpPr>
            <a:spLocks noGrp="1"/>
          </p:cNvSpPr>
          <p:nvPr/>
        </p:nvSpPr>
        <p:spPr>
          <a:xfrm>
            <a:off x="8839200" y="6882765"/>
            <a:ext cx="228600" cy="228600"/>
          </a:xfrm>
          <a:prstGeom prst="ellipse">
            <a:avLst/>
          </a:prstGeom>
          <a:solidFill>
            <a:srgbClr val="FFFFFF"/>
          </a:solidFill>
          <a:ln w="20003">
            <a:solidFill>
              <a:srgbClr val="17202D"/>
            </a:solidFill>
          </a:ln>
        </p:spPr>
      </p:sp>
      <p:sp>
        <p:nvSpPr>
          <p:cNvPr id="289" name="+"/>
          <p:cNvSpPr>
            <a:spLocks noGrp="1"/>
          </p:cNvSpPr>
          <p:nvPr/>
        </p:nvSpPr>
        <p:spPr>
          <a:xfrm>
            <a:off x="8839200" y="688276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90" name="add-to-norm"/>
          <p:cNvCxnSpPr/>
          <p:nvPr/>
        </p:nvCxnSpPr>
        <p:spPr>
          <a:xfrm>
            <a:off x="8953500" y="7120890"/>
            <a:ext cx="1" cy="247650"/>
          </a:xfrm>
          <a:custGeom>
            <a:avLst/>
            <a:gdLst/>
            <a:ahLst/>
            <a:cxnLst/>
            <a:pathLst>
              <a:path w="1" h="247650" fill="none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93" name="LayerNorm"/>
          <p:cNvSpPr>
            <a:spLocks noGrp="1"/>
          </p:cNvSpPr>
          <p:nvPr/>
        </p:nvSpPr>
        <p:spPr>
          <a:xfrm>
            <a:off x="8124825" y="7368540"/>
            <a:ext cx="1657350" cy="323850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94" name="LayerNorm"/>
          <p:cNvSpPr>
            <a:spLocks noGrp="1"/>
          </p:cNvSpPr>
          <p:nvPr/>
        </p:nvSpPr>
        <p:spPr>
          <a:xfrm>
            <a:off x="8162925" y="738759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LayerNorm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95" name="norm-to-ffn"/>
          <p:cNvCxnSpPr/>
          <p:nvPr/>
        </p:nvCxnSpPr>
        <p:spPr>
          <a:xfrm>
            <a:off x="8953500" y="7692390"/>
            <a:ext cx="1" cy="285750"/>
          </a:xfrm>
          <a:custGeom>
            <a:avLst/>
            <a:gdLst/>
            <a:ahLst/>
            <a:cxnLst/>
            <a:pathLst>
              <a:path w="1" h="285750" fill="none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298" name="Feed-forward network"/>
          <p:cNvSpPr>
            <a:spLocks noGrp="1"/>
          </p:cNvSpPr>
          <p:nvPr/>
        </p:nvSpPr>
        <p:spPr>
          <a:xfrm>
            <a:off x="7867650" y="7978140"/>
            <a:ext cx="2171700" cy="381000"/>
          </a:xfrm>
          <a:prstGeom prst="rect">
            <a:avLst/>
          </a:prstGeom>
          <a:solidFill>
            <a:srgbClr val="DCEBF1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299" name="Feed-forward network"/>
          <p:cNvSpPr>
            <a:spLocks noGrp="1"/>
          </p:cNvSpPr>
          <p:nvPr/>
        </p:nvSpPr>
        <p:spPr>
          <a:xfrm>
            <a:off x="7905750" y="799719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5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Feed-forward network</a:t>
            </a:r>
            <a:endParaRPr sz="165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00" name="ffn-to-add"/>
          <p:cNvCxnSpPr/>
          <p:nvPr/>
        </p:nvCxnSpPr>
        <p:spPr>
          <a:xfrm>
            <a:off x="8953500" y="8359140"/>
            <a:ext cx="1" cy="219075"/>
          </a:xfrm>
          <a:custGeom>
            <a:avLst/>
            <a:gdLst/>
            <a:ahLst/>
            <a:cxnLst/>
            <a:pathLst>
              <a:path w="1" h="219075" fill="none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03" name="operator-+"/>
          <p:cNvSpPr>
            <a:spLocks noGrp="1"/>
          </p:cNvSpPr>
          <p:nvPr/>
        </p:nvSpPr>
        <p:spPr>
          <a:xfrm>
            <a:off x="8839200" y="8587740"/>
            <a:ext cx="228600" cy="228600"/>
          </a:xfrm>
          <a:prstGeom prst="ellipse">
            <a:avLst/>
          </a:prstGeom>
          <a:solidFill>
            <a:srgbClr val="FFFFFF"/>
          </a:solidFill>
          <a:ln w="20003">
            <a:solidFill>
              <a:srgbClr val="17202D"/>
            </a:solidFill>
          </a:ln>
        </p:spPr>
      </p:sp>
      <p:sp>
        <p:nvSpPr>
          <p:cNvPr id="304" name="+"/>
          <p:cNvSpPr>
            <a:spLocks noGrp="1"/>
          </p:cNvSpPr>
          <p:nvPr/>
        </p:nvSpPr>
        <p:spPr>
          <a:xfrm>
            <a:off x="8839200" y="858774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endParaRPr sz="1815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05" name="encoder-to-head-bus"/>
          <p:cNvCxnSpPr/>
          <p:nvPr/>
        </p:nvCxnSpPr>
        <p:spPr>
          <a:xfrm>
            <a:off x="8953500" y="8825865"/>
            <a:ext cx="1" cy="352425"/>
          </a:xfrm>
          <a:custGeom>
            <a:avLst/>
            <a:gdLst/>
            <a:ahLst/>
            <a:cxnLst/>
            <a:pathLst>
              <a:path w="1" h="352425" fill="none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cxnSp>
        <p:nvCxnSpPr>
          <p:cNvPr id="308" name="attention-residual"/>
          <p:cNvCxnSpPr/>
          <p:nvPr/>
        </p:nvCxnSpPr>
        <p:spPr>
          <a:xfrm>
            <a:off x="9058719" y="3910965"/>
            <a:ext cx="2714181" cy="3086100"/>
          </a:xfrm>
          <a:custGeom>
            <a:avLst/>
            <a:gdLst/>
            <a:ahLst/>
            <a:cxnLst/>
            <a:pathLst>
              <a:path w="2714181" h="3086100" fill="none">
                <a:moveTo>
                  <a:pt x="0" y="0"/>
                </a:moveTo>
                <a:lnTo>
                  <a:pt x="2714181" y="0"/>
                </a:lnTo>
                <a:lnTo>
                  <a:pt x="2714181" y="3086100"/>
                </a:lnTo>
                <a:lnTo>
                  <a:pt x="18606" y="3086100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  <a:tailEnd type="arrow" w="sm" len="sm"/>
          </a:ln>
        </p:spPr>
      </p:cxnSp>
      <p:cxnSp>
        <p:nvCxnSpPr>
          <p:cNvPr id="313" name="ffn-residual"/>
          <p:cNvCxnSpPr/>
          <p:nvPr/>
        </p:nvCxnSpPr>
        <p:spPr>
          <a:xfrm>
            <a:off x="7600950" y="7225665"/>
            <a:ext cx="1352550" cy="1476375"/>
          </a:xfrm>
          <a:custGeom>
            <a:avLst/>
            <a:gdLst/>
            <a:ahLst/>
            <a:cxnLst/>
            <a:pathLst>
              <a:path w="1352550" h="1476375" fill="none">
                <a:moveTo>
                  <a:pt x="1352550" y="0"/>
                </a:moveTo>
                <a:lnTo>
                  <a:pt x="0" y="0"/>
                </a:lnTo>
                <a:lnTo>
                  <a:pt x="0" y="1476375"/>
                </a:lnTo>
                <a:lnTo>
                  <a:pt x="1228725" y="1476375"/>
                </a:lnTo>
              </a:path>
            </a:pathLst>
          </a:custGeom>
          <a:noFill/>
          <a:ln w="14173">
            <a:solidFill>
              <a:srgbClr val="657482"/>
            </a:solidFill>
            <a:prstDash val="solid"/>
            <a:tailEnd type="arrow" w="sm" len="sm"/>
          </a:ln>
        </p:spPr>
      </p:cxnSp>
      <p:sp>
        <p:nvSpPr>
          <p:cNvPr id="318" name="residual"/>
          <p:cNvSpPr>
            <a:spLocks noGrp="1"/>
          </p:cNvSpPr>
          <p:nvPr/>
        </p:nvSpPr>
        <p:spPr>
          <a:xfrm>
            <a:off x="10325100" y="6758940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1">
                <a:solidFill>
                  <a:srgbClr val="5C636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1">
                <a:solidFill>
                  <a:srgbClr val="5C636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1">
                <a:solidFill>
                  <a:srgbClr val="5C636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residual</a:t>
            </a:r>
            <a:endParaRPr sz="1300" b="0" i="1">
              <a:solidFill>
                <a:srgbClr val="5C636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9" name="residual"/>
          <p:cNvSpPr>
            <a:spLocks noGrp="1"/>
          </p:cNvSpPr>
          <p:nvPr/>
        </p:nvSpPr>
        <p:spPr>
          <a:xfrm>
            <a:off x="7644384" y="8439912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1">
                <a:solidFill>
                  <a:srgbClr val="5C636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1">
                <a:solidFill>
                  <a:srgbClr val="5C636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1">
                <a:solidFill>
                  <a:srgbClr val="5C636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residual</a:t>
            </a:r>
            <a:endParaRPr sz="1300" b="0" i="1">
              <a:solidFill>
                <a:srgbClr val="5C636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0" name="line-110"/>
          <p:cNvSpPr>
            <a:spLocks noGrp="1"/>
          </p:cNvSpPr>
          <p:nvPr/>
        </p:nvSpPr>
        <p:spPr>
          <a:xfrm>
            <a:off x="9801225" y="5368290"/>
            <a:ext cx="2533650" cy="95"/>
          </a:xfrm>
          <a:custGeom>
            <a:avLst/>
            <a:gdLst/>
            <a:ahLst/>
            <a:cxnLst/>
            <a:pathLst>
              <a:path w="2533650" h="95">
                <a:moveTo>
                  <a:pt x="0" y="0"/>
                </a:moveTo>
                <a:lnTo>
                  <a:pt x="2533650" y="0"/>
                </a:lnTo>
              </a:path>
            </a:pathLst>
          </a:custGeom>
          <a:noFill/>
          <a:ln w="15355">
            <a:solidFill>
              <a:srgbClr val="337F68"/>
            </a:solidFill>
            <a:prstDash val="dash"/>
          </a:ln>
        </p:spPr>
      </p:sp>
      <p:sp>
        <p:nvSpPr>
          <p:cNvPr id="321" name="line-111"/>
          <p:cNvSpPr>
            <a:spLocks noGrp="1"/>
          </p:cNvSpPr>
          <p:nvPr/>
        </p:nvSpPr>
        <p:spPr>
          <a:xfrm>
            <a:off x="12334875" y="5368290"/>
            <a:ext cx="95" cy="304800"/>
          </a:xfrm>
          <a:custGeom>
            <a:avLst/>
            <a:gdLst/>
            <a:ahLst/>
            <a:cxnLst/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5355">
            <a:solidFill>
              <a:srgbClr val="337F68"/>
            </a:solidFill>
            <a:prstDash val="dash"/>
          </a:ln>
        </p:spPr>
      </p:sp>
      <p:sp>
        <p:nvSpPr>
          <p:cNvPr id="322" name="line-112"/>
          <p:cNvSpPr>
            <a:spLocks noGrp="1"/>
          </p:cNvSpPr>
          <p:nvPr/>
        </p:nvSpPr>
        <p:spPr>
          <a:xfrm>
            <a:off x="12334875" y="5673090"/>
            <a:ext cx="238125" cy="95"/>
          </a:xfrm>
          <a:custGeom>
            <a:avLst/>
            <a:gdLst/>
            <a:ahLst/>
            <a:cxnLst/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5355">
            <a:solidFill>
              <a:srgbClr val="337F68"/>
            </a:solidFill>
            <a:prstDash val="dash"/>
          </a:ln>
        </p:spPr>
      </p:sp>
      <p:sp>
        <p:nvSpPr>
          <p:cNvPr id="323" name="H(t)"/>
          <p:cNvSpPr>
            <a:spLocks noGrp="1"/>
          </p:cNvSpPr>
          <p:nvPr/>
        </p:nvSpPr>
        <p:spPr>
          <a:xfrm>
            <a:off x="9164955" y="891159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1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0" i="1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1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H(t)</a:t>
            </a:r>
            <a:endParaRPr sz="1800" b="0" i="1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4" name="line-113"/>
          <p:cNvSpPr>
            <a:spLocks noGrp="1"/>
          </p:cNvSpPr>
          <p:nvPr/>
        </p:nvSpPr>
        <p:spPr>
          <a:xfrm>
            <a:off x="6972300" y="9178290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cxnSp>
        <p:nvCxnSpPr>
          <p:cNvPr id="325" name="event-fusion-input"/>
          <p:cNvCxnSpPr/>
          <p:nvPr/>
        </p:nvCxnSpPr>
        <p:spPr>
          <a:xfrm>
            <a:off x="6972300" y="9178290"/>
            <a:ext cx="1" cy="238125"/>
          </a:xfrm>
          <a:custGeom>
            <a:avLst/>
            <a:gdLst/>
            <a:ahLst/>
            <a:cxnLst/>
            <a:pathLst>
              <a:path w="1" h="238125" fill="none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28" name="Regime + precursor&#10;fusion (b)"/>
          <p:cNvSpPr>
            <a:spLocks noGrp="1"/>
          </p:cNvSpPr>
          <p:nvPr/>
        </p:nvSpPr>
        <p:spPr>
          <a:xfrm>
            <a:off x="6096000" y="9416415"/>
            <a:ext cx="1762125" cy="428625"/>
          </a:xfrm>
          <a:prstGeom prst="rect">
            <a:avLst/>
          </a:prstGeom>
          <a:solidFill>
            <a:srgbClr val="F9D3B8"/>
          </a:solidFill>
          <a:ln w="15355">
            <a:solidFill>
              <a:srgbClr val="B96A43"/>
            </a:solidFill>
            <a:prstDash val="solid"/>
          </a:ln>
        </p:spPr>
      </p:sp>
      <p:sp>
        <p:nvSpPr>
          <p:cNvPr id="329" name="Regime + precursor&#10;fusion (b)"/>
          <p:cNvSpPr>
            <a:spLocks noGrp="1"/>
          </p:cNvSpPr>
          <p:nvPr/>
        </p:nvSpPr>
        <p:spPr>
          <a:xfrm>
            <a:off x="6134100" y="9435465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 + precursor</a:t>
            </a:r>
            <a:endParaRPr sz="15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fusion (b)</a:t>
            </a:r>
            <a:endParaRPr sz="15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30" name="event-head-input"/>
          <p:cNvCxnSpPr/>
          <p:nvPr/>
        </p:nvCxnSpPr>
        <p:spPr>
          <a:xfrm>
            <a:off x="6972300" y="9845040"/>
            <a:ext cx="1" cy="228600"/>
          </a:xfrm>
          <a:custGeom>
            <a:avLst/>
            <a:gdLst/>
            <a:ahLst/>
            <a:cxnLst/>
            <a:pathLst>
              <a:path w="1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33" name="Event heads&#10;w, s, d, prefix"/>
          <p:cNvSpPr>
            <a:spLocks noGrp="1"/>
          </p:cNvSpPr>
          <p:nvPr/>
        </p:nvSpPr>
        <p:spPr>
          <a:xfrm>
            <a:off x="6096000" y="10073640"/>
            <a:ext cx="1762125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34" name="Event heads&#10;w, s, d, prefix"/>
          <p:cNvSpPr>
            <a:spLocks noGrp="1"/>
          </p:cNvSpPr>
          <p:nvPr/>
        </p:nvSpPr>
        <p:spPr>
          <a:xfrm>
            <a:off x="6134100" y="10092690"/>
            <a:ext cx="16859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Event heads</a:t>
            </a:r>
            <a:endParaRPr sz="17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35" name="event-head-output"/>
          <p:cNvCxnSpPr/>
          <p:nvPr/>
        </p:nvCxnSpPr>
        <p:spPr>
          <a:xfrm>
            <a:off x="6972300" y="10578465"/>
            <a:ext cx="1" cy="228600"/>
          </a:xfrm>
          <a:custGeom>
            <a:avLst/>
            <a:gdLst/>
            <a:ahLst/>
            <a:cxnLst/>
            <a:pathLst>
              <a:path w="1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cxnSp>
        <p:nvCxnSpPr>
          <p:cNvPr id="338" name="state-fusion-input"/>
          <p:cNvCxnSpPr/>
          <p:nvPr/>
        </p:nvCxnSpPr>
        <p:spPr>
          <a:xfrm>
            <a:off x="8963025" y="9178290"/>
            <a:ext cx="1" cy="238125"/>
          </a:xfrm>
          <a:custGeom>
            <a:avLst/>
            <a:gdLst/>
            <a:ahLst/>
            <a:cxnLst/>
            <a:pathLst>
              <a:path w="1" h="238125" fill="none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41" name="Skip + order-progress&#10;fusion"/>
          <p:cNvSpPr>
            <a:spLocks noGrp="1"/>
          </p:cNvSpPr>
          <p:nvPr/>
        </p:nvSpPr>
        <p:spPr>
          <a:xfrm>
            <a:off x="8048625" y="9416415"/>
            <a:ext cx="1838325" cy="4286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42" name="Skip + order-progress&#10;fusion"/>
          <p:cNvSpPr>
            <a:spLocks noGrp="1"/>
          </p:cNvSpPr>
          <p:nvPr/>
        </p:nvSpPr>
        <p:spPr>
          <a:xfrm>
            <a:off x="8086725" y="9435465"/>
            <a:ext cx="17621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Skip + order-progress</a:t>
            </a:r>
            <a:endParaRPr sz="15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fusion</a:t>
            </a:r>
            <a:endParaRPr sz="15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43" name="state-head-input"/>
          <p:cNvCxnSpPr/>
          <p:nvPr/>
        </p:nvCxnSpPr>
        <p:spPr>
          <a:xfrm>
            <a:off x="8963025" y="9845040"/>
            <a:ext cx="1" cy="228600"/>
          </a:xfrm>
          <a:custGeom>
            <a:avLst/>
            <a:gdLst/>
            <a:ahLst/>
            <a:cxnLst/>
            <a:pathLst>
              <a:path w="1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46" name="State / remaining&#10;time decoders"/>
          <p:cNvSpPr>
            <a:spLocks noGrp="1"/>
          </p:cNvSpPr>
          <p:nvPr/>
        </p:nvSpPr>
        <p:spPr>
          <a:xfrm>
            <a:off x="8048625" y="10073640"/>
            <a:ext cx="1838325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47" name="State / remaining&#10;time decoders"/>
          <p:cNvSpPr>
            <a:spLocks noGrp="1"/>
          </p:cNvSpPr>
          <p:nvPr/>
        </p:nvSpPr>
        <p:spPr>
          <a:xfrm>
            <a:off x="8086725" y="10092690"/>
            <a:ext cx="17621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State / remaining</a:t>
            </a:r>
            <a:endParaRPr sz="17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decoders</a:t>
            </a:r>
            <a:endParaRPr sz="17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48" name="state-head-output"/>
          <p:cNvCxnSpPr/>
          <p:nvPr/>
        </p:nvCxnSpPr>
        <p:spPr>
          <a:xfrm>
            <a:off x="8963025" y="10578465"/>
            <a:ext cx="1" cy="228600"/>
          </a:xfrm>
          <a:custGeom>
            <a:avLst/>
            <a:gdLst/>
            <a:ahLst/>
            <a:cxnLst/>
            <a:pathLst>
              <a:path w="1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cxnSp>
        <p:nvCxnSpPr>
          <p:cNvPr id="351" name="cause-fusion-input"/>
          <p:cNvCxnSpPr/>
          <p:nvPr/>
        </p:nvCxnSpPr>
        <p:spPr>
          <a:xfrm>
            <a:off x="11020425" y="9178290"/>
            <a:ext cx="1" cy="238125"/>
          </a:xfrm>
          <a:custGeom>
            <a:avLst/>
            <a:gdLst/>
            <a:ahLst/>
            <a:cxnLst/>
            <a:pathLst>
              <a:path w="1" h="238125" fill="none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54" name="Graph pooling&#10;+ node evidence"/>
          <p:cNvSpPr>
            <a:spLocks noGrp="1"/>
          </p:cNvSpPr>
          <p:nvPr/>
        </p:nvSpPr>
        <p:spPr>
          <a:xfrm>
            <a:off x="10163175" y="9416415"/>
            <a:ext cx="1714500" cy="4286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55" name="Graph pooling&#10;+ node evidence"/>
          <p:cNvSpPr>
            <a:spLocks noGrp="1"/>
          </p:cNvSpPr>
          <p:nvPr/>
        </p:nvSpPr>
        <p:spPr>
          <a:xfrm>
            <a:off x="10201275" y="9435465"/>
            <a:ext cx="16383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Graph pooling</a:t>
            </a:r>
            <a:endParaRPr sz="15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node evidence</a:t>
            </a:r>
            <a:endParaRPr sz="15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56" name="cause-head-input"/>
          <p:cNvCxnSpPr/>
          <p:nvPr/>
        </p:nvCxnSpPr>
        <p:spPr>
          <a:xfrm>
            <a:off x="11020425" y="9845040"/>
            <a:ext cx="1" cy="228600"/>
          </a:xfrm>
          <a:custGeom>
            <a:avLst/>
            <a:gdLst/>
            <a:ahLst/>
            <a:cxnLst/>
            <a:pathLst>
              <a:path w="1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59" name="Process-cause&#10;classifier"/>
          <p:cNvSpPr>
            <a:spLocks noGrp="1"/>
          </p:cNvSpPr>
          <p:nvPr/>
        </p:nvSpPr>
        <p:spPr>
          <a:xfrm>
            <a:off x="10163175" y="10073640"/>
            <a:ext cx="1714500" cy="504825"/>
          </a:xfrm>
          <a:prstGeom prst="rect">
            <a:avLst/>
          </a:prstGeom>
          <a:solidFill>
            <a:srgbClr val="E7EBEF"/>
          </a:solidFill>
          <a:ln w="15355">
            <a:solidFill>
              <a:srgbClr val="5C636B"/>
            </a:solidFill>
            <a:prstDash val="solid"/>
          </a:ln>
        </p:spPr>
      </p:sp>
      <p:sp>
        <p:nvSpPr>
          <p:cNvPr id="360" name="Process-cause&#10;classifier"/>
          <p:cNvSpPr>
            <a:spLocks noGrp="1"/>
          </p:cNvSpPr>
          <p:nvPr/>
        </p:nvSpPr>
        <p:spPr>
          <a:xfrm>
            <a:off x="10201275" y="10092690"/>
            <a:ext cx="16383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Process-cause</a:t>
            </a:r>
            <a:endParaRPr sz="17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classifier</a:t>
            </a:r>
            <a:endParaRPr sz="17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61" name="cause-head-output"/>
          <p:cNvCxnSpPr/>
          <p:nvPr/>
        </p:nvCxnSpPr>
        <p:spPr>
          <a:xfrm>
            <a:off x="11020425" y="10578465"/>
            <a:ext cx="1" cy="228600"/>
          </a:xfrm>
          <a:custGeom>
            <a:avLst/>
            <a:gdLst/>
            <a:ahLst/>
            <a:cxnLst/>
            <a:pathLst>
              <a:path w="1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  <a:tailEnd type="arrow" w="sm" len="sm"/>
          </a:ln>
        </p:spPr>
      </p:cxnSp>
      <p:sp>
        <p:nvSpPr>
          <p:cNvPr id="364" name="line-141"/>
          <p:cNvSpPr>
            <a:spLocks noGrp="1"/>
          </p:cNvSpPr>
          <p:nvPr/>
        </p:nvSpPr>
        <p:spPr>
          <a:xfrm>
            <a:off x="6972300" y="10807065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22860">
            <a:solidFill>
              <a:srgbClr val="17202D"/>
            </a:solidFill>
            <a:prstDash val="solid"/>
          </a:ln>
        </p:spPr>
      </p:sp>
      <p:sp>
        <p:nvSpPr>
          <p:cNvPr id="365" name="Training loss"/>
          <p:cNvSpPr>
            <a:spLocks noGrp="1"/>
          </p:cNvSpPr>
          <p:nvPr/>
        </p:nvSpPr>
        <p:spPr>
          <a:xfrm>
            <a:off x="6143625" y="11149965"/>
            <a:ext cx="1381125" cy="371475"/>
          </a:xfrm>
          <a:prstGeom prst="rect">
            <a:avLst/>
          </a:prstGeom>
          <a:solidFill>
            <a:srgbClr val="F9D3B8"/>
          </a:solidFill>
          <a:ln w="15355">
            <a:solidFill>
              <a:srgbClr val="B96A43"/>
            </a:solidFill>
            <a:prstDash val="solid"/>
          </a:ln>
        </p:spPr>
      </p:sp>
      <p:sp>
        <p:nvSpPr>
          <p:cNvPr id="366" name="Training loss"/>
          <p:cNvSpPr>
            <a:spLocks noGrp="1"/>
          </p:cNvSpPr>
          <p:nvPr/>
        </p:nvSpPr>
        <p:spPr>
          <a:xfrm>
            <a:off x="6181725" y="11169015"/>
            <a:ext cx="13049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Training loss</a:t>
            </a:r>
            <a:endParaRPr sz="17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67" name="predictions-to-loss"/>
          <p:cNvCxnSpPr/>
          <p:nvPr/>
        </p:nvCxnSpPr>
        <p:spPr>
          <a:xfrm>
            <a:off x="6838950" y="10807065"/>
            <a:ext cx="133350" cy="342900"/>
          </a:xfrm>
          <a:custGeom>
            <a:avLst/>
            <a:gdLst/>
            <a:ahLst/>
            <a:cxnLst/>
            <a:pathLst>
              <a:path w="133350" h="342900" fill="none">
                <a:moveTo>
                  <a:pt x="133350" y="0"/>
                </a:moveTo>
                <a:lnTo>
                  <a:pt x="0" y="342900"/>
                </a:lnTo>
              </a:path>
            </a:pathLst>
          </a:custGeom>
          <a:noFill/>
          <a:ln w="15355">
            <a:solidFill>
              <a:srgbClr val="B96A43"/>
            </a:solidFill>
            <a:prstDash val="dash"/>
            <a:tailEnd type="arrow" w="sm" len="sm"/>
          </a:ln>
        </p:spPr>
      </p:cxnSp>
      <p:sp>
        <p:nvSpPr>
          <p:cNvPr id="371" name="Event decoding&#10;and report assembly"/>
          <p:cNvSpPr>
            <a:spLocks noGrp="1"/>
          </p:cNvSpPr>
          <p:nvPr/>
        </p:nvSpPr>
        <p:spPr>
          <a:xfrm>
            <a:off x="8324850" y="11045190"/>
            <a:ext cx="3276600" cy="542925"/>
          </a:xfrm>
          <a:prstGeom prst="rect">
            <a:avLst/>
          </a:prstGeom>
          <a:solidFill>
            <a:srgbClr val="A4CFE2"/>
          </a:solidFill>
          <a:ln w="19050">
            <a:solidFill>
              <a:srgbClr val="356B91"/>
            </a:solidFill>
            <a:prstDash val="solid"/>
          </a:ln>
        </p:spPr>
      </p:sp>
      <p:sp>
        <p:nvSpPr>
          <p:cNvPr id="372" name="Event decoding&#10;and report assembly"/>
          <p:cNvSpPr>
            <a:spLocks noGrp="1"/>
          </p:cNvSpPr>
          <p:nvPr/>
        </p:nvSpPr>
        <p:spPr>
          <a:xfrm>
            <a:off x="8362950" y="11064240"/>
            <a:ext cx="32004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Event decoding</a:t>
            </a:r>
            <a:endParaRPr sz="19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and report assembly</a:t>
            </a:r>
            <a:endParaRPr sz="19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73" name="predictions-to-decoder"/>
          <p:cNvCxnSpPr/>
          <p:nvPr/>
        </p:nvCxnSpPr>
        <p:spPr>
          <a:xfrm>
            <a:off x="9963150" y="10807065"/>
            <a:ext cx="1" cy="238125"/>
          </a:xfrm>
          <a:custGeom>
            <a:avLst/>
            <a:gdLst/>
            <a:ahLst/>
            <a:cxnLst/>
            <a:pathLst>
              <a:path w="1" h="238125" fill="none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8898">
            <a:solidFill>
              <a:srgbClr val="356B91"/>
            </a:solidFill>
            <a:prstDash val="solid"/>
            <a:tailEnd type="arrow" w="sm" len="sm"/>
          </a:ln>
        </p:spPr>
      </p:cxnSp>
      <p:cxnSp>
        <p:nvCxnSpPr>
          <p:cNvPr id="376" name="decoder-to-report"/>
          <p:cNvCxnSpPr/>
          <p:nvPr/>
        </p:nvCxnSpPr>
        <p:spPr>
          <a:xfrm>
            <a:off x="11601450" y="10159365"/>
            <a:ext cx="971550" cy="1152525"/>
          </a:xfrm>
          <a:custGeom>
            <a:avLst/>
            <a:gdLst/>
            <a:ahLst/>
            <a:cxnLst/>
            <a:pathLst>
              <a:path w="971550" h="1152525" fill="none">
                <a:moveTo>
                  <a:pt x="0" y="1152525"/>
                </a:moveTo>
                <a:lnTo>
                  <a:pt x="971550" y="0"/>
                </a:lnTo>
              </a:path>
            </a:pathLst>
          </a:custGeom>
          <a:noFill/>
          <a:ln w="23622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381" name="Operational evidence"/>
          <p:cNvSpPr>
            <a:spLocks noGrp="1"/>
          </p:cNvSpPr>
          <p:nvPr/>
        </p:nvSpPr>
        <p:spPr>
          <a:xfrm>
            <a:off x="523875" y="3987165"/>
            <a:ext cx="4743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Operational evidence</a:t>
            </a:r>
            <a:endParaRPr sz="20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2" name="line-154"/>
          <p:cNvSpPr>
            <a:spLocks noGrp="1"/>
          </p:cNvSpPr>
          <p:nvPr/>
        </p:nvSpPr>
        <p:spPr>
          <a:xfrm>
            <a:off x="752475" y="492061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83" name="line-155"/>
          <p:cNvSpPr>
            <a:spLocks noGrp="1"/>
          </p:cNvSpPr>
          <p:nvPr/>
        </p:nvSpPr>
        <p:spPr>
          <a:xfrm>
            <a:off x="752475" y="4791075"/>
            <a:ext cx="242888" cy="97155"/>
          </a:xfrm>
          <a:custGeom>
            <a:avLst/>
            <a:gdLst/>
            <a:ahLst/>
            <a:cxnLst/>
            <a:pathLst>
              <a:path w="242888" h="97155">
                <a:moveTo>
                  <a:pt x="0" y="97155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84" name="line-156"/>
          <p:cNvSpPr>
            <a:spLocks noGrp="1"/>
          </p:cNvSpPr>
          <p:nvPr/>
        </p:nvSpPr>
        <p:spPr>
          <a:xfrm>
            <a:off x="995363" y="4645343"/>
            <a:ext cx="242888" cy="145732"/>
          </a:xfrm>
          <a:custGeom>
            <a:avLst/>
            <a:gdLst/>
            <a:ahLst/>
            <a:cxnLst/>
            <a:pathLst>
              <a:path w="242888" h="145732">
                <a:moveTo>
                  <a:pt x="0" y="145732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85" name="line-157"/>
          <p:cNvSpPr>
            <a:spLocks noGrp="1"/>
          </p:cNvSpPr>
          <p:nvPr/>
        </p:nvSpPr>
        <p:spPr>
          <a:xfrm>
            <a:off x="1238250" y="462915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16193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86" name="line-158"/>
          <p:cNvSpPr>
            <a:spLocks noGrp="1"/>
          </p:cNvSpPr>
          <p:nvPr/>
        </p:nvSpPr>
        <p:spPr>
          <a:xfrm>
            <a:off x="1481138" y="462915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87" name="resource node"/>
          <p:cNvSpPr>
            <a:spLocks noGrp="1"/>
          </p:cNvSpPr>
          <p:nvPr/>
        </p:nvSpPr>
        <p:spPr>
          <a:xfrm>
            <a:off x="730568" y="486632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88" name="resource node"/>
          <p:cNvSpPr>
            <a:spLocks noGrp="1"/>
          </p:cNvSpPr>
          <p:nvPr/>
        </p:nvSpPr>
        <p:spPr>
          <a:xfrm>
            <a:off x="973455" y="476916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89" name="resource node"/>
          <p:cNvSpPr>
            <a:spLocks noGrp="1"/>
          </p:cNvSpPr>
          <p:nvPr/>
        </p:nvSpPr>
        <p:spPr>
          <a:xfrm>
            <a:off x="1216343" y="4623435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90" name="resource node"/>
          <p:cNvSpPr>
            <a:spLocks noGrp="1"/>
          </p:cNvSpPr>
          <p:nvPr/>
        </p:nvSpPr>
        <p:spPr>
          <a:xfrm>
            <a:off x="1459230" y="460724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91" name="resource node"/>
          <p:cNvSpPr>
            <a:spLocks noGrp="1"/>
          </p:cNvSpPr>
          <p:nvPr/>
        </p:nvSpPr>
        <p:spPr>
          <a:xfrm>
            <a:off x="1702118" y="4623435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92" name="line-159"/>
          <p:cNvSpPr>
            <a:spLocks noGrp="1"/>
          </p:cNvSpPr>
          <p:nvPr/>
        </p:nvSpPr>
        <p:spPr>
          <a:xfrm>
            <a:off x="2362200" y="492061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93" name="line-160"/>
          <p:cNvSpPr>
            <a:spLocks noGrp="1"/>
          </p:cNvSpPr>
          <p:nvPr/>
        </p:nvSpPr>
        <p:spPr>
          <a:xfrm>
            <a:off x="2362200" y="4888230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94" name="line-161"/>
          <p:cNvSpPr>
            <a:spLocks noGrp="1"/>
          </p:cNvSpPr>
          <p:nvPr/>
        </p:nvSpPr>
        <p:spPr>
          <a:xfrm>
            <a:off x="2605088" y="4677728"/>
            <a:ext cx="242888" cy="210503"/>
          </a:xfrm>
          <a:custGeom>
            <a:avLst/>
            <a:gdLst/>
            <a:ahLst/>
            <a:cxnLst/>
            <a:pathLst>
              <a:path w="242888" h="210503">
                <a:moveTo>
                  <a:pt x="0" y="210503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95" name="line-162"/>
          <p:cNvSpPr>
            <a:spLocks noGrp="1"/>
          </p:cNvSpPr>
          <p:nvPr/>
        </p:nvSpPr>
        <p:spPr>
          <a:xfrm>
            <a:off x="2847975" y="4677728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96" name="line-163"/>
          <p:cNvSpPr>
            <a:spLocks noGrp="1"/>
          </p:cNvSpPr>
          <p:nvPr/>
        </p:nvSpPr>
        <p:spPr>
          <a:xfrm>
            <a:off x="3090863" y="4677728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397" name="resource node"/>
          <p:cNvSpPr>
            <a:spLocks noGrp="1"/>
          </p:cNvSpPr>
          <p:nvPr/>
        </p:nvSpPr>
        <p:spPr>
          <a:xfrm>
            <a:off x="2340293" y="486632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98" name="resource node"/>
          <p:cNvSpPr>
            <a:spLocks noGrp="1"/>
          </p:cNvSpPr>
          <p:nvPr/>
        </p:nvSpPr>
        <p:spPr>
          <a:xfrm>
            <a:off x="2583180" y="486632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399" name="resource node"/>
          <p:cNvSpPr>
            <a:spLocks noGrp="1"/>
          </p:cNvSpPr>
          <p:nvPr/>
        </p:nvSpPr>
        <p:spPr>
          <a:xfrm>
            <a:off x="2826068" y="4655820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00" name="resource node"/>
          <p:cNvSpPr>
            <a:spLocks noGrp="1"/>
          </p:cNvSpPr>
          <p:nvPr/>
        </p:nvSpPr>
        <p:spPr>
          <a:xfrm>
            <a:off x="3068955" y="4655820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01" name="resource node"/>
          <p:cNvSpPr>
            <a:spLocks noGrp="1"/>
          </p:cNvSpPr>
          <p:nvPr/>
        </p:nvSpPr>
        <p:spPr>
          <a:xfrm>
            <a:off x="3311843" y="467201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02" name="line-164"/>
          <p:cNvSpPr>
            <a:spLocks noGrp="1"/>
          </p:cNvSpPr>
          <p:nvPr/>
        </p:nvSpPr>
        <p:spPr>
          <a:xfrm>
            <a:off x="3971925" y="492061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403" name="line-165"/>
          <p:cNvSpPr>
            <a:spLocks noGrp="1"/>
          </p:cNvSpPr>
          <p:nvPr/>
        </p:nvSpPr>
        <p:spPr>
          <a:xfrm>
            <a:off x="3971925" y="4855845"/>
            <a:ext cx="242888" cy="32385"/>
          </a:xfrm>
          <a:custGeom>
            <a:avLst/>
            <a:gdLst/>
            <a:ahLst/>
            <a:cxnLst/>
            <a:pathLst>
              <a:path w="242888" h="32385">
                <a:moveTo>
                  <a:pt x="0" y="32385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404" name="line-166"/>
          <p:cNvSpPr>
            <a:spLocks noGrp="1"/>
          </p:cNvSpPr>
          <p:nvPr/>
        </p:nvSpPr>
        <p:spPr>
          <a:xfrm>
            <a:off x="4214813" y="4855845"/>
            <a:ext cx="242888" cy="16192"/>
          </a:xfrm>
          <a:custGeom>
            <a:avLst/>
            <a:gdLst/>
            <a:ahLst/>
            <a:cxnLst/>
            <a:pathLst>
              <a:path w="242888" h="16192">
                <a:moveTo>
                  <a:pt x="0" y="0"/>
                </a:moveTo>
                <a:lnTo>
                  <a:pt x="242888" y="16192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405" name="line-167"/>
          <p:cNvSpPr>
            <a:spLocks noGrp="1"/>
          </p:cNvSpPr>
          <p:nvPr/>
        </p:nvSpPr>
        <p:spPr>
          <a:xfrm>
            <a:off x="4457700" y="4693920"/>
            <a:ext cx="242888" cy="178117"/>
          </a:xfrm>
          <a:custGeom>
            <a:avLst/>
            <a:gdLst/>
            <a:ahLst/>
            <a:cxnLst/>
            <a:pathLst>
              <a:path w="242888" h="178117">
                <a:moveTo>
                  <a:pt x="0" y="178117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406" name="line-168"/>
          <p:cNvSpPr>
            <a:spLocks noGrp="1"/>
          </p:cNvSpPr>
          <p:nvPr/>
        </p:nvSpPr>
        <p:spPr>
          <a:xfrm>
            <a:off x="4700588" y="4629150"/>
            <a:ext cx="242888" cy="64770"/>
          </a:xfrm>
          <a:custGeom>
            <a:avLst/>
            <a:gdLst/>
            <a:ahLst/>
            <a:cxnLst/>
            <a:pathLst>
              <a:path w="242888" h="64770">
                <a:moveTo>
                  <a:pt x="0" y="64770"/>
                </a:moveTo>
                <a:lnTo>
                  <a:pt x="24288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407" name="resource node"/>
          <p:cNvSpPr>
            <a:spLocks noGrp="1"/>
          </p:cNvSpPr>
          <p:nvPr/>
        </p:nvSpPr>
        <p:spPr>
          <a:xfrm>
            <a:off x="3950018" y="486632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08" name="resource node"/>
          <p:cNvSpPr>
            <a:spLocks noGrp="1"/>
          </p:cNvSpPr>
          <p:nvPr/>
        </p:nvSpPr>
        <p:spPr>
          <a:xfrm>
            <a:off x="4192905" y="483393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09" name="resource node"/>
          <p:cNvSpPr>
            <a:spLocks noGrp="1"/>
          </p:cNvSpPr>
          <p:nvPr/>
        </p:nvSpPr>
        <p:spPr>
          <a:xfrm>
            <a:off x="4435793" y="4850130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10" name="resource node"/>
          <p:cNvSpPr>
            <a:spLocks noGrp="1"/>
          </p:cNvSpPr>
          <p:nvPr/>
        </p:nvSpPr>
        <p:spPr>
          <a:xfrm>
            <a:off x="4678680" y="467201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11" name="resource node"/>
          <p:cNvSpPr>
            <a:spLocks noGrp="1"/>
          </p:cNvSpPr>
          <p:nvPr/>
        </p:nvSpPr>
        <p:spPr>
          <a:xfrm>
            <a:off x="4921568" y="460724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412" name="Queue"/>
          <p:cNvSpPr>
            <a:spLocks noGrp="1"/>
          </p:cNvSpPr>
          <p:nvPr/>
        </p:nvSpPr>
        <p:spPr>
          <a:xfrm>
            <a:off x="695325" y="432054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Queue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3" name="Stall / shortage"/>
          <p:cNvSpPr>
            <a:spLocks noGrp="1"/>
          </p:cNvSpPr>
          <p:nvPr/>
        </p:nvSpPr>
        <p:spPr>
          <a:xfrm>
            <a:off x="2066925" y="432054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Stall / shortage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4" name="Logistics"/>
          <p:cNvSpPr>
            <a:spLocks noGrp="1"/>
          </p:cNvSpPr>
          <p:nvPr/>
        </p:nvSpPr>
        <p:spPr>
          <a:xfrm>
            <a:off x="3895725" y="4320540"/>
            <a:ext cx="1133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Logistics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15" name="evidence-to-rules"/>
          <p:cNvCxnSpPr/>
          <p:nvPr/>
        </p:nvCxnSpPr>
        <p:spPr>
          <a:xfrm>
            <a:off x="2847975" y="5025390"/>
            <a:ext cx="1" cy="180975"/>
          </a:xfrm>
          <a:custGeom>
            <a:avLst/>
            <a:gdLst/>
            <a:ahLst/>
            <a:cxnLst/>
            <a:pathLst>
              <a:path w="1" h="180975" fill="none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355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418" name="Resource-specific rules + persistence"/>
          <p:cNvSpPr>
            <a:spLocks noGrp="1"/>
          </p:cNvSpPr>
          <p:nvPr/>
        </p:nvSpPr>
        <p:spPr>
          <a:xfrm>
            <a:off x="504825" y="5263515"/>
            <a:ext cx="47815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Resource-specific rules + persistence</a:t>
            </a:r>
            <a:endParaRPr sz="18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9" name="shape-172"/>
          <p:cNvSpPr>
            <a:spLocks noGrp="1"/>
          </p:cNvSpPr>
          <p:nvPr/>
        </p:nvSpPr>
        <p:spPr>
          <a:xfrm>
            <a:off x="16668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0" name="shape-173"/>
          <p:cNvSpPr>
            <a:spLocks noGrp="1"/>
          </p:cNvSpPr>
          <p:nvPr/>
        </p:nvSpPr>
        <p:spPr>
          <a:xfrm>
            <a:off x="16668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1" name="shape-174"/>
          <p:cNvSpPr>
            <a:spLocks noGrp="1"/>
          </p:cNvSpPr>
          <p:nvPr/>
        </p:nvSpPr>
        <p:spPr>
          <a:xfrm>
            <a:off x="17811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2" name="shape-175"/>
          <p:cNvSpPr>
            <a:spLocks noGrp="1"/>
          </p:cNvSpPr>
          <p:nvPr/>
        </p:nvSpPr>
        <p:spPr>
          <a:xfrm>
            <a:off x="17811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3" name="shape-176"/>
          <p:cNvSpPr>
            <a:spLocks noGrp="1"/>
          </p:cNvSpPr>
          <p:nvPr/>
        </p:nvSpPr>
        <p:spPr>
          <a:xfrm>
            <a:off x="18954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4" name="shape-177"/>
          <p:cNvSpPr>
            <a:spLocks noGrp="1"/>
          </p:cNvSpPr>
          <p:nvPr/>
        </p:nvSpPr>
        <p:spPr>
          <a:xfrm>
            <a:off x="18954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5" name="shape-178"/>
          <p:cNvSpPr>
            <a:spLocks noGrp="1"/>
          </p:cNvSpPr>
          <p:nvPr/>
        </p:nvSpPr>
        <p:spPr>
          <a:xfrm>
            <a:off x="20097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6" name="shape-179"/>
          <p:cNvSpPr>
            <a:spLocks noGrp="1"/>
          </p:cNvSpPr>
          <p:nvPr/>
        </p:nvSpPr>
        <p:spPr>
          <a:xfrm>
            <a:off x="20097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7" name="shape-180"/>
          <p:cNvSpPr>
            <a:spLocks noGrp="1"/>
          </p:cNvSpPr>
          <p:nvPr/>
        </p:nvSpPr>
        <p:spPr>
          <a:xfrm>
            <a:off x="21240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8" name="shape-181"/>
          <p:cNvSpPr>
            <a:spLocks noGrp="1"/>
          </p:cNvSpPr>
          <p:nvPr/>
        </p:nvSpPr>
        <p:spPr>
          <a:xfrm>
            <a:off x="21240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9" name="shape-182"/>
          <p:cNvSpPr>
            <a:spLocks noGrp="1"/>
          </p:cNvSpPr>
          <p:nvPr/>
        </p:nvSpPr>
        <p:spPr>
          <a:xfrm>
            <a:off x="22383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0" name="shape-183"/>
          <p:cNvSpPr>
            <a:spLocks noGrp="1"/>
          </p:cNvSpPr>
          <p:nvPr/>
        </p:nvSpPr>
        <p:spPr>
          <a:xfrm>
            <a:off x="22383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1" name="shape-184"/>
          <p:cNvSpPr>
            <a:spLocks noGrp="1"/>
          </p:cNvSpPr>
          <p:nvPr/>
        </p:nvSpPr>
        <p:spPr>
          <a:xfrm>
            <a:off x="23526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2" name="shape-185"/>
          <p:cNvSpPr>
            <a:spLocks noGrp="1"/>
          </p:cNvSpPr>
          <p:nvPr/>
        </p:nvSpPr>
        <p:spPr>
          <a:xfrm>
            <a:off x="23526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3" name="shape-186"/>
          <p:cNvSpPr>
            <a:spLocks noGrp="1"/>
          </p:cNvSpPr>
          <p:nvPr/>
        </p:nvSpPr>
        <p:spPr>
          <a:xfrm>
            <a:off x="24669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4" name="shape-187"/>
          <p:cNvSpPr>
            <a:spLocks noGrp="1"/>
          </p:cNvSpPr>
          <p:nvPr/>
        </p:nvSpPr>
        <p:spPr>
          <a:xfrm>
            <a:off x="24669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5" name="shape-188"/>
          <p:cNvSpPr>
            <a:spLocks noGrp="1"/>
          </p:cNvSpPr>
          <p:nvPr/>
        </p:nvSpPr>
        <p:spPr>
          <a:xfrm>
            <a:off x="25812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6" name="shape-189"/>
          <p:cNvSpPr>
            <a:spLocks noGrp="1"/>
          </p:cNvSpPr>
          <p:nvPr/>
        </p:nvSpPr>
        <p:spPr>
          <a:xfrm>
            <a:off x="25812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7" name="shape-190"/>
          <p:cNvSpPr>
            <a:spLocks noGrp="1"/>
          </p:cNvSpPr>
          <p:nvPr/>
        </p:nvSpPr>
        <p:spPr>
          <a:xfrm>
            <a:off x="26955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8" name="shape-191"/>
          <p:cNvSpPr>
            <a:spLocks noGrp="1"/>
          </p:cNvSpPr>
          <p:nvPr/>
        </p:nvSpPr>
        <p:spPr>
          <a:xfrm>
            <a:off x="26955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9" name="shape-192"/>
          <p:cNvSpPr>
            <a:spLocks noGrp="1"/>
          </p:cNvSpPr>
          <p:nvPr/>
        </p:nvSpPr>
        <p:spPr>
          <a:xfrm>
            <a:off x="28098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0" name="shape-193"/>
          <p:cNvSpPr>
            <a:spLocks noGrp="1"/>
          </p:cNvSpPr>
          <p:nvPr/>
        </p:nvSpPr>
        <p:spPr>
          <a:xfrm>
            <a:off x="28098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1" name="shape-194"/>
          <p:cNvSpPr>
            <a:spLocks noGrp="1"/>
          </p:cNvSpPr>
          <p:nvPr/>
        </p:nvSpPr>
        <p:spPr>
          <a:xfrm>
            <a:off x="29241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2" name="shape-195"/>
          <p:cNvSpPr>
            <a:spLocks noGrp="1"/>
          </p:cNvSpPr>
          <p:nvPr/>
        </p:nvSpPr>
        <p:spPr>
          <a:xfrm>
            <a:off x="29241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3" name="shape-196"/>
          <p:cNvSpPr>
            <a:spLocks noGrp="1"/>
          </p:cNvSpPr>
          <p:nvPr/>
        </p:nvSpPr>
        <p:spPr>
          <a:xfrm>
            <a:off x="30384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4" name="shape-197"/>
          <p:cNvSpPr>
            <a:spLocks noGrp="1"/>
          </p:cNvSpPr>
          <p:nvPr/>
        </p:nvSpPr>
        <p:spPr>
          <a:xfrm>
            <a:off x="30384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5" name="shape-198"/>
          <p:cNvSpPr>
            <a:spLocks noGrp="1"/>
          </p:cNvSpPr>
          <p:nvPr/>
        </p:nvSpPr>
        <p:spPr>
          <a:xfrm>
            <a:off x="31527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6" name="shape-199"/>
          <p:cNvSpPr>
            <a:spLocks noGrp="1"/>
          </p:cNvSpPr>
          <p:nvPr/>
        </p:nvSpPr>
        <p:spPr>
          <a:xfrm>
            <a:off x="31527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7" name="shape-200"/>
          <p:cNvSpPr>
            <a:spLocks noGrp="1"/>
          </p:cNvSpPr>
          <p:nvPr/>
        </p:nvSpPr>
        <p:spPr>
          <a:xfrm>
            <a:off x="32670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8" name="shape-201"/>
          <p:cNvSpPr>
            <a:spLocks noGrp="1"/>
          </p:cNvSpPr>
          <p:nvPr/>
        </p:nvSpPr>
        <p:spPr>
          <a:xfrm>
            <a:off x="32670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9" name="shape-202"/>
          <p:cNvSpPr>
            <a:spLocks noGrp="1"/>
          </p:cNvSpPr>
          <p:nvPr/>
        </p:nvSpPr>
        <p:spPr>
          <a:xfrm>
            <a:off x="33813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0" name="shape-203"/>
          <p:cNvSpPr>
            <a:spLocks noGrp="1"/>
          </p:cNvSpPr>
          <p:nvPr/>
        </p:nvSpPr>
        <p:spPr>
          <a:xfrm>
            <a:off x="33813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1" name="shape-204"/>
          <p:cNvSpPr>
            <a:spLocks noGrp="1"/>
          </p:cNvSpPr>
          <p:nvPr/>
        </p:nvSpPr>
        <p:spPr>
          <a:xfrm>
            <a:off x="34956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2" name="shape-205"/>
          <p:cNvSpPr>
            <a:spLocks noGrp="1"/>
          </p:cNvSpPr>
          <p:nvPr/>
        </p:nvSpPr>
        <p:spPr>
          <a:xfrm>
            <a:off x="34956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3" name="shape-206"/>
          <p:cNvSpPr>
            <a:spLocks noGrp="1"/>
          </p:cNvSpPr>
          <p:nvPr/>
        </p:nvSpPr>
        <p:spPr>
          <a:xfrm>
            <a:off x="36099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4" name="shape-207"/>
          <p:cNvSpPr>
            <a:spLocks noGrp="1"/>
          </p:cNvSpPr>
          <p:nvPr/>
        </p:nvSpPr>
        <p:spPr>
          <a:xfrm>
            <a:off x="36099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5" name="shape-208"/>
          <p:cNvSpPr>
            <a:spLocks noGrp="1"/>
          </p:cNvSpPr>
          <p:nvPr/>
        </p:nvSpPr>
        <p:spPr>
          <a:xfrm>
            <a:off x="37242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6" name="shape-209"/>
          <p:cNvSpPr>
            <a:spLocks noGrp="1"/>
          </p:cNvSpPr>
          <p:nvPr/>
        </p:nvSpPr>
        <p:spPr>
          <a:xfrm>
            <a:off x="37242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7" name="shape-210"/>
          <p:cNvSpPr>
            <a:spLocks noGrp="1"/>
          </p:cNvSpPr>
          <p:nvPr/>
        </p:nvSpPr>
        <p:spPr>
          <a:xfrm>
            <a:off x="38385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8" name="shape-211"/>
          <p:cNvSpPr>
            <a:spLocks noGrp="1"/>
          </p:cNvSpPr>
          <p:nvPr/>
        </p:nvSpPr>
        <p:spPr>
          <a:xfrm>
            <a:off x="38385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9" name="shape-212"/>
          <p:cNvSpPr>
            <a:spLocks noGrp="1"/>
          </p:cNvSpPr>
          <p:nvPr/>
        </p:nvSpPr>
        <p:spPr>
          <a:xfrm>
            <a:off x="39528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0" name="shape-213"/>
          <p:cNvSpPr>
            <a:spLocks noGrp="1"/>
          </p:cNvSpPr>
          <p:nvPr/>
        </p:nvSpPr>
        <p:spPr>
          <a:xfrm>
            <a:off x="39528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1" name="shape-214"/>
          <p:cNvSpPr>
            <a:spLocks noGrp="1"/>
          </p:cNvSpPr>
          <p:nvPr/>
        </p:nvSpPr>
        <p:spPr>
          <a:xfrm>
            <a:off x="40671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2" name="shape-215"/>
          <p:cNvSpPr>
            <a:spLocks noGrp="1"/>
          </p:cNvSpPr>
          <p:nvPr/>
        </p:nvSpPr>
        <p:spPr>
          <a:xfrm>
            <a:off x="40671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3" name="shape-216"/>
          <p:cNvSpPr>
            <a:spLocks noGrp="1"/>
          </p:cNvSpPr>
          <p:nvPr/>
        </p:nvSpPr>
        <p:spPr>
          <a:xfrm>
            <a:off x="41814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4" name="shape-217"/>
          <p:cNvSpPr>
            <a:spLocks noGrp="1"/>
          </p:cNvSpPr>
          <p:nvPr/>
        </p:nvSpPr>
        <p:spPr>
          <a:xfrm>
            <a:off x="41814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5" name="shape-218"/>
          <p:cNvSpPr>
            <a:spLocks noGrp="1"/>
          </p:cNvSpPr>
          <p:nvPr/>
        </p:nvSpPr>
        <p:spPr>
          <a:xfrm>
            <a:off x="4295775" y="5768340"/>
            <a:ext cx="104775" cy="161925"/>
          </a:xfrm>
          <a:prstGeom prst="rect">
            <a:avLst/>
          </a:prstGeom>
          <a:solidFill>
            <a:srgbClr val="E8AD85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6" name="shape-219"/>
          <p:cNvSpPr>
            <a:spLocks noGrp="1"/>
          </p:cNvSpPr>
          <p:nvPr/>
        </p:nvSpPr>
        <p:spPr>
          <a:xfrm>
            <a:off x="4295775" y="6111240"/>
            <a:ext cx="104775" cy="161925"/>
          </a:xfrm>
          <a:prstGeom prst="rect">
            <a:avLst/>
          </a:prstGeom>
          <a:solidFill>
            <a:srgbClr val="B96A4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7" name="shape-220"/>
          <p:cNvSpPr>
            <a:spLocks noGrp="1"/>
          </p:cNvSpPr>
          <p:nvPr/>
        </p:nvSpPr>
        <p:spPr>
          <a:xfrm>
            <a:off x="44100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8" name="shape-221"/>
          <p:cNvSpPr>
            <a:spLocks noGrp="1"/>
          </p:cNvSpPr>
          <p:nvPr/>
        </p:nvSpPr>
        <p:spPr>
          <a:xfrm>
            <a:off x="44100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9" name="shape-222"/>
          <p:cNvSpPr>
            <a:spLocks noGrp="1"/>
          </p:cNvSpPr>
          <p:nvPr/>
        </p:nvSpPr>
        <p:spPr>
          <a:xfrm>
            <a:off x="45243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0" name="shape-223"/>
          <p:cNvSpPr>
            <a:spLocks noGrp="1"/>
          </p:cNvSpPr>
          <p:nvPr/>
        </p:nvSpPr>
        <p:spPr>
          <a:xfrm>
            <a:off x="45243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1" name="shape-224"/>
          <p:cNvSpPr>
            <a:spLocks noGrp="1"/>
          </p:cNvSpPr>
          <p:nvPr/>
        </p:nvSpPr>
        <p:spPr>
          <a:xfrm>
            <a:off x="46386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2" name="shape-225"/>
          <p:cNvSpPr>
            <a:spLocks noGrp="1"/>
          </p:cNvSpPr>
          <p:nvPr/>
        </p:nvSpPr>
        <p:spPr>
          <a:xfrm>
            <a:off x="46386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3" name="shape-226"/>
          <p:cNvSpPr>
            <a:spLocks noGrp="1"/>
          </p:cNvSpPr>
          <p:nvPr/>
        </p:nvSpPr>
        <p:spPr>
          <a:xfrm>
            <a:off x="4752975" y="57683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4" name="shape-227"/>
          <p:cNvSpPr>
            <a:spLocks noGrp="1"/>
          </p:cNvSpPr>
          <p:nvPr/>
        </p:nvSpPr>
        <p:spPr>
          <a:xfrm>
            <a:off x="4752975" y="6111240"/>
            <a:ext cx="104775" cy="161925"/>
          </a:xfrm>
          <a:prstGeom prst="rect">
            <a:avLst/>
          </a:prstGeom>
          <a:solidFill>
            <a:srgbClr val="FBE9DB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5" name="Raw"/>
          <p:cNvSpPr>
            <a:spLocks noGrp="1"/>
          </p:cNvSpPr>
          <p:nvPr/>
        </p:nvSpPr>
        <p:spPr>
          <a:xfrm>
            <a:off x="685800" y="573976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Raw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6" name="Sustained"/>
          <p:cNvSpPr>
            <a:spLocks noGrp="1"/>
          </p:cNvSpPr>
          <p:nvPr/>
        </p:nvSpPr>
        <p:spPr>
          <a:xfrm>
            <a:off x="457200" y="608266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Sustained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78" name="sustained-to-target"/>
          <p:cNvCxnSpPr/>
          <p:nvPr/>
        </p:nvCxnSpPr>
        <p:spPr>
          <a:xfrm>
            <a:off x="1514475" y="6273165"/>
            <a:ext cx="1285875" cy="495300"/>
          </a:xfrm>
          <a:custGeom>
            <a:avLst/>
            <a:gdLst/>
            <a:ahLst/>
            <a:cxnLst/>
            <a:pathLst>
              <a:path w="1285875" h="495300" fill="none">
                <a:moveTo>
                  <a:pt x="1285875" y="0"/>
                </a:moveTo>
                <a:lnTo>
                  <a:pt x="1285875" y="66675"/>
                </a:lnTo>
                <a:lnTo>
                  <a:pt x="0" y="66675"/>
                </a:lnTo>
                <a:lnTo>
                  <a:pt x="0" y="49530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483" name="vector-0-0"/>
          <p:cNvSpPr>
            <a:spLocks noGrp="1"/>
          </p:cNvSpPr>
          <p:nvPr/>
        </p:nvSpPr>
        <p:spPr>
          <a:xfrm>
            <a:off x="1076325" y="6787515"/>
            <a:ext cx="123825" cy="1238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4" name="vector-0-1"/>
          <p:cNvSpPr>
            <a:spLocks noGrp="1"/>
          </p:cNvSpPr>
          <p:nvPr/>
        </p:nvSpPr>
        <p:spPr>
          <a:xfrm>
            <a:off x="1200150" y="6787515"/>
            <a:ext cx="123825" cy="1238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5" name="vector-0-2"/>
          <p:cNvSpPr>
            <a:spLocks noGrp="1"/>
          </p:cNvSpPr>
          <p:nvPr/>
        </p:nvSpPr>
        <p:spPr>
          <a:xfrm>
            <a:off x="1323975" y="6787515"/>
            <a:ext cx="123825" cy="1238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6" name="vector-0-3"/>
          <p:cNvSpPr>
            <a:spLocks noGrp="1"/>
          </p:cNvSpPr>
          <p:nvPr/>
        </p:nvSpPr>
        <p:spPr>
          <a:xfrm>
            <a:off x="1447800" y="6787515"/>
            <a:ext cx="123825" cy="1238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7" name="vector-0-4"/>
          <p:cNvSpPr>
            <a:spLocks noGrp="1"/>
          </p:cNvSpPr>
          <p:nvPr/>
        </p:nvSpPr>
        <p:spPr>
          <a:xfrm>
            <a:off x="1571625" y="6787515"/>
            <a:ext cx="123825" cy="1238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8" name="vector-0-5"/>
          <p:cNvSpPr>
            <a:spLocks noGrp="1"/>
          </p:cNvSpPr>
          <p:nvPr/>
        </p:nvSpPr>
        <p:spPr>
          <a:xfrm>
            <a:off x="1695450" y="6787515"/>
            <a:ext cx="123825" cy="1238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9" name="vector-0-6"/>
          <p:cNvSpPr>
            <a:spLocks noGrp="1"/>
          </p:cNvSpPr>
          <p:nvPr/>
        </p:nvSpPr>
        <p:spPr>
          <a:xfrm>
            <a:off x="1819275" y="6787515"/>
            <a:ext cx="123825" cy="1238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0" name="vector-0-7"/>
          <p:cNvSpPr>
            <a:spLocks noGrp="1"/>
          </p:cNvSpPr>
          <p:nvPr/>
        </p:nvSpPr>
        <p:spPr>
          <a:xfrm>
            <a:off x="1943100" y="6787515"/>
            <a:ext cx="123825" cy="1238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1" name="vector-0-8"/>
          <p:cNvSpPr>
            <a:spLocks noGrp="1"/>
          </p:cNvSpPr>
          <p:nvPr/>
        </p:nvSpPr>
        <p:spPr>
          <a:xfrm>
            <a:off x="2066925" y="6787515"/>
            <a:ext cx="123825" cy="1238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2" name="shape-233"/>
          <p:cNvSpPr>
            <a:spLocks noGrp="1"/>
          </p:cNvSpPr>
          <p:nvPr/>
        </p:nvSpPr>
        <p:spPr>
          <a:xfrm>
            <a:off x="1076325" y="6787515"/>
            <a:ext cx="1114425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493" name="Event / state targets"/>
          <p:cNvSpPr>
            <a:spLocks noGrp="1"/>
          </p:cNvSpPr>
          <p:nvPr/>
        </p:nvSpPr>
        <p:spPr>
          <a:xfrm>
            <a:off x="352425" y="7063740"/>
            <a:ext cx="24098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Event / state targets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494" name="logistics-to-cause-target"/>
          <p:cNvCxnSpPr/>
          <p:nvPr/>
        </p:nvCxnSpPr>
        <p:spPr>
          <a:xfrm>
            <a:off x="4819650" y="4749165"/>
            <a:ext cx="419100" cy="2095500"/>
          </a:xfrm>
          <a:custGeom>
            <a:avLst/>
            <a:gdLst/>
            <a:ahLst/>
            <a:cxnLst/>
            <a:pathLst>
              <a:path w="419100" h="2095500" fill="none">
                <a:moveTo>
                  <a:pt x="276225" y="0"/>
                </a:moveTo>
                <a:lnTo>
                  <a:pt x="419100" y="0"/>
                </a:lnTo>
                <a:lnTo>
                  <a:pt x="419100" y="2095500"/>
                </a:lnTo>
                <a:lnTo>
                  <a:pt x="0" y="2095500"/>
                </a:lnTo>
              </a:path>
            </a:pathLst>
          </a:custGeom>
          <a:noFill/>
          <a:ln w="1299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499" name="vector-0-0"/>
          <p:cNvSpPr>
            <a:spLocks noGrp="1"/>
          </p:cNvSpPr>
          <p:nvPr/>
        </p:nvSpPr>
        <p:spPr>
          <a:xfrm>
            <a:off x="4076700" y="6787515"/>
            <a:ext cx="123825" cy="1238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0" name="vector-0-1"/>
          <p:cNvSpPr>
            <a:spLocks noGrp="1"/>
          </p:cNvSpPr>
          <p:nvPr/>
        </p:nvSpPr>
        <p:spPr>
          <a:xfrm>
            <a:off x="4200525" y="6787515"/>
            <a:ext cx="123825" cy="1238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1" name="vector-0-2"/>
          <p:cNvSpPr>
            <a:spLocks noGrp="1"/>
          </p:cNvSpPr>
          <p:nvPr/>
        </p:nvSpPr>
        <p:spPr>
          <a:xfrm>
            <a:off x="4324350" y="6787515"/>
            <a:ext cx="123825" cy="1238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2" name="vector-0-3"/>
          <p:cNvSpPr>
            <a:spLocks noGrp="1"/>
          </p:cNvSpPr>
          <p:nvPr/>
        </p:nvSpPr>
        <p:spPr>
          <a:xfrm>
            <a:off x="4448175" y="6787515"/>
            <a:ext cx="123825" cy="1238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3" name="vector-0-4"/>
          <p:cNvSpPr>
            <a:spLocks noGrp="1"/>
          </p:cNvSpPr>
          <p:nvPr/>
        </p:nvSpPr>
        <p:spPr>
          <a:xfrm>
            <a:off x="4572000" y="6787515"/>
            <a:ext cx="123825" cy="1238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4" name="vector-0-5"/>
          <p:cNvSpPr>
            <a:spLocks noGrp="1"/>
          </p:cNvSpPr>
          <p:nvPr/>
        </p:nvSpPr>
        <p:spPr>
          <a:xfrm>
            <a:off x="4695825" y="6787515"/>
            <a:ext cx="123825" cy="1238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5" name="shape-239"/>
          <p:cNvSpPr>
            <a:spLocks noGrp="1"/>
          </p:cNvSpPr>
          <p:nvPr/>
        </p:nvSpPr>
        <p:spPr>
          <a:xfrm>
            <a:off x="4076700" y="6787515"/>
            <a:ext cx="742950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506" name="Cause targets"/>
          <p:cNvSpPr>
            <a:spLocks noGrp="1"/>
          </p:cNvSpPr>
          <p:nvPr/>
        </p:nvSpPr>
        <p:spPr>
          <a:xfrm>
            <a:off x="3486150" y="7063740"/>
            <a:ext cx="1657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Cause targets</a:t>
            </a:r>
            <a:endParaRPr sz="16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7" name="line-240"/>
          <p:cNvSpPr>
            <a:spLocks noGrp="1"/>
          </p:cNvSpPr>
          <p:nvPr/>
        </p:nvSpPr>
        <p:spPr>
          <a:xfrm>
            <a:off x="2209800" y="6844665"/>
            <a:ext cx="323850" cy="95"/>
          </a:xfrm>
          <a:custGeom>
            <a:avLst/>
            <a:gdLst/>
            <a:ahLst/>
            <a:cxnLst/>
            <a:pathLst>
              <a:path w="323850" h="95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/>
          <a:ln w="13583">
            <a:solidFill>
              <a:srgbClr val="B96A43"/>
            </a:solidFill>
            <a:prstDash val="dash"/>
          </a:ln>
        </p:spPr>
      </p:sp>
      <p:sp>
        <p:nvSpPr>
          <p:cNvPr id="508" name="line-241"/>
          <p:cNvSpPr>
            <a:spLocks noGrp="1"/>
          </p:cNvSpPr>
          <p:nvPr/>
        </p:nvSpPr>
        <p:spPr>
          <a:xfrm>
            <a:off x="2533650" y="6854190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3583">
            <a:solidFill>
              <a:srgbClr val="B96A43"/>
            </a:solidFill>
            <a:prstDash val="dash"/>
          </a:ln>
        </p:spPr>
      </p:sp>
      <p:sp>
        <p:nvSpPr>
          <p:cNvPr id="509" name="line-242"/>
          <p:cNvSpPr>
            <a:spLocks noGrp="1"/>
          </p:cNvSpPr>
          <p:nvPr/>
        </p:nvSpPr>
        <p:spPr>
          <a:xfrm flipV="1">
            <a:off x="2524760" y="7390130"/>
            <a:ext cx="2571115" cy="76200"/>
          </a:xfrm>
          <a:custGeom>
            <a:avLst/>
            <a:gdLst/>
            <a:ahLst/>
            <a:cxnLst/>
            <a:pathLst>
              <a:path w="4343400" h="9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13583">
            <a:solidFill>
              <a:srgbClr val="B96A43"/>
            </a:solidFill>
            <a:prstDash val="dash"/>
          </a:ln>
        </p:spPr>
      </p:sp>
      <p:sp>
        <p:nvSpPr>
          <p:cNvPr id="510" name="line-243"/>
          <p:cNvSpPr>
            <a:spLocks noGrp="1"/>
          </p:cNvSpPr>
          <p:nvPr/>
        </p:nvSpPr>
        <p:spPr>
          <a:xfrm>
            <a:off x="4819650" y="6854190"/>
            <a:ext cx="276225" cy="95"/>
          </a:xfrm>
          <a:custGeom>
            <a:avLst/>
            <a:gdLst/>
            <a:ahLst/>
            <a:cxnLst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3583">
            <a:solidFill>
              <a:srgbClr val="B96A43"/>
            </a:solidFill>
            <a:prstDash val="dash"/>
          </a:ln>
        </p:spPr>
      </p:sp>
      <p:sp>
        <p:nvSpPr>
          <p:cNvPr id="511" name="line-244"/>
          <p:cNvSpPr>
            <a:spLocks noGrp="1"/>
          </p:cNvSpPr>
          <p:nvPr/>
        </p:nvSpPr>
        <p:spPr>
          <a:xfrm flipH="1">
            <a:off x="5096510" y="6854190"/>
            <a:ext cx="142240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B96A43"/>
            </a:solidFill>
            <a:prstDash val="dash"/>
          </a:ln>
        </p:spPr>
        <p:txBody>
          <a:bodyPr/>
          <a:p>
            <a:endParaRPr lang="zh-CN" altLang="en-US"/>
          </a:p>
        </p:txBody>
      </p:sp>
      <p:cxnSp>
        <p:nvCxnSpPr>
          <p:cNvPr id="512" name="supervision-to-loss"/>
          <p:cNvCxnSpPr/>
          <p:nvPr/>
        </p:nvCxnSpPr>
        <p:spPr>
          <a:xfrm>
            <a:off x="5095875" y="7444740"/>
            <a:ext cx="1047750" cy="3886200"/>
          </a:xfrm>
          <a:custGeom>
            <a:avLst/>
            <a:gdLst/>
            <a:ahLst/>
            <a:cxnLst/>
            <a:pathLst>
              <a:path w="1047750" h="3886200" fill="none">
                <a:moveTo>
                  <a:pt x="0" y="0"/>
                </a:moveTo>
                <a:lnTo>
                  <a:pt x="514350" y="0"/>
                </a:lnTo>
                <a:lnTo>
                  <a:pt x="514350" y="3886200"/>
                </a:lnTo>
                <a:lnTo>
                  <a:pt x="1047750" y="3886200"/>
                </a:lnTo>
              </a:path>
            </a:pathLst>
          </a:custGeom>
          <a:noFill/>
          <a:ln w="15355">
            <a:solidFill>
              <a:srgbClr val="B96A43"/>
            </a:solidFill>
            <a:prstDash val="dash"/>
            <a:tailEnd type="arrow" w="sm" len="sm"/>
          </a:ln>
        </p:spPr>
      </p:cxnSp>
      <p:sp>
        <p:nvSpPr>
          <p:cNvPr id="517" name="training supervision"/>
          <p:cNvSpPr>
            <a:spLocks noGrp="1"/>
          </p:cNvSpPr>
          <p:nvPr/>
        </p:nvSpPr>
        <p:spPr>
          <a:xfrm>
            <a:off x="2505075" y="7511415"/>
            <a:ext cx="255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r>
              <a:rPr sz="13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Supervision</a:t>
            </a:r>
            <a:endParaRPr sz="1300" b="0" i="1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18" name="line-250"/>
          <p:cNvSpPr>
            <a:spLocks noGrp="1"/>
          </p:cNvSpPr>
          <p:nvPr/>
        </p:nvSpPr>
        <p:spPr>
          <a:xfrm>
            <a:off x="533400" y="7920990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F9D3B8"/>
            </a:solidFill>
            <a:prstDash val="solid"/>
          </a:ln>
        </p:spPr>
      </p:sp>
      <p:sp>
        <p:nvSpPr>
          <p:cNvPr id="519" name="History-derived conditioning"/>
          <p:cNvSpPr>
            <a:spLocks noGrp="1"/>
          </p:cNvSpPr>
          <p:nvPr/>
        </p:nvSpPr>
        <p:spPr>
          <a:xfrm>
            <a:off x="514350" y="8073390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History-derived conditioning</a:t>
            </a:r>
            <a:endParaRPr sz="20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0" name="Rule-based regime IDs"/>
          <p:cNvSpPr>
            <a:spLocks noGrp="1"/>
          </p:cNvSpPr>
          <p:nvPr/>
        </p:nvSpPr>
        <p:spPr>
          <a:xfrm>
            <a:off x="523875" y="8454390"/>
            <a:ext cx="21145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Rule-based regime IDs</a:t>
            </a:r>
            <a:endParaRPr sz="15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1" name="resource node"/>
          <p:cNvSpPr>
            <a:spLocks noGrp="1"/>
          </p:cNvSpPr>
          <p:nvPr/>
        </p:nvSpPr>
        <p:spPr>
          <a:xfrm>
            <a:off x="819150" y="877824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22" name="resource node"/>
          <p:cNvSpPr>
            <a:spLocks noGrp="1"/>
          </p:cNvSpPr>
          <p:nvPr/>
        </p:nvSpPr>
        <p:spPr>
          <a:xfrm>
            <a:off x="1028700" y="877824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23" name="resource node"/>
          <p:cNvSpPr>
            <a:spLocks noGrp="1"/>
          </p:cNvSpPr>
          <p:nvPr/>
        </p:nvSpPr>
        <p:spPr>
          <a:xfrm>
            <a:off x="1238250" y="877824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24" name="resource node"/>
          <p:cNvSpPr>
            <a:spLocks noGrp="1"/>
          </p:cNvSpPr>
          <p:nvPr/>
        </p:nvSpPr>
        <p:spPr>
          <a:xfrm>
            <a:off x="1447800" y="8778240"/>
            <a:ext cx="114300" cy="114300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25" name="resource node"/>
          <p:cNvSpPr>
            <a:spLocks noGrp="1"/>
          </p:cNvSpPr>
          <p:nvPr/>
        </p:nvSpPr>
        <p:spPr>
          <a:xfrm>
            <a:off x="1657350" y="877824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26" name="resource node"/>
          <p:cNvSpPr>
            <a:spLocks noGrp="1"/>
          </p:cNvSpPr>
          <p:nvPr/>
        </p:nvSpPr>
        <p:spPr>
          <a:xfrm>
            <a:off x="1866900" y="8778240"/>
            <a:ext cx="114300" cy="1143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cxnSp>
        <p:nvCxnSpPr>
          <p:cNvPr id="527" name="regime-ids-to-embedding"/>
          <p:cNvCxnSpPr/>
          <p:nvPr/>
        </p:nvCxnSpPr>
        <p:spPr>
          <a:xfrm>
            <a:off x="2190750" y="8835390"/>
            <a:ext cx="885825" cy="1"/>
          </a:xfrm>
          <a:custGeom>
            <a:avLst/>
            <a:gdLst/>
            <a:ahLst/>
            <a:cxnLst/>
            <a:pathLst>
              <a:path w="885825" h="1" fill="none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15355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530" name="vector-0-0"/>
          <p:cNvSpPr>
            <a:spLocks noGrp="1"/>
          </p:cNvSpPr>
          <p:nvPr/>
        </p:nvSpPr>
        <p:spPr>
          <a:xfrm>
            <a:off x="3105150" y="8768715"/>
            <a:ext cx="123825" cy="1238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1" name="vector-0-1"/>
          <p:cNvSpPr>
            <a:spLocks noGrp="1"/>
          </p:cNvSpPr>
          <p:nvPr/>
        </p:nvSpPr>
        <p:spPr>
          <a:xfrm>
            <a:off x="3228975" y="8768715"/>
            <a:ext cx="123825" cy="1238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2" name="vector-0-2"/>
          <p:cNvSpPr>
            <a:spLocks noGrp="1"/>
          </p:cNvSpPr>
          <p:nvPr/>
        </p:nvSpPr>
        <p:spPr>
          <a:xfrm>
            <a:off x="3352800" y="8768715"/>
            <a:ext cx="123825" cy="1238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3" name="vector-0-3"/>
          <p:cNvSpPr>
            <a:spLocks noGrp="1"/>
          </p:cNvSpPr>
          <p:nvPr/>
        </p:nvSpPr>
        <p:spPr>
          <a:xfrm>
            <a:off x="3476625" y="8768715"/>
            <a:ext cx="123825" cy="1238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4" name="vector-0-4"/>
          <p:cNvSpPr>
            <a:spLocks noGrp="1"/>
          </p:cNvSpPr>
          <p:nvPr/>
        </p:nvSpPr>
        <p:spPr>
          <a:xfrm>
            <a:off x="3600450" y="8768715"/>
            <a:ext cx="123825" cy="1238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5" name="vector-0-5"/>
          <p:cNvSpPr>
            <a:spLocks noGrp="1"/>
          </p:cNvSpPr>
          <p:nvPr/>
        </p:nvSpPr>
        <p:spPr>
          <a:xfrm>
            <a:off x="3724275" y="8768715"/>
            <a:ext cx="123825" cy="1238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6" name="vector-0-6"/>
          <p:cNvSpPr>
            <a:spLocks noGrp="1"/>
          </p:cNvSpPr>
          <p:nvPr/>
        </p:nvSpPr>
        <p:spPr>
          <a:xfrm>
            <a:off x="3848100" y="8768715"/>
            <a:ext cx="123825" cy="1238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7" name="vector-0-7"/>
          <p:cNvSpPr>
            <a:spLocks noGrp="1"/>
          </p:cNvSpPr>
          <p:nvPr/>
        </p:nvSpPr>
        <p:spPr>
          <a:xfrm>
            <a:off x="3971925" y="8768715"/>
            <a:ext cx="123825" cy="1238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8" name="shape-254"/>
          <p:cNvSpPr>
            <a:spLocks noGrp="1"/>
          </p:cNvSpPr>
          <p:nvPr/>
        </p:nvSpPr>
        <p:spPr>
          <a:xfrm>
            <a:off x="3105150" y="8768715"/>
            <a:ext cx="990600" cy="123825"/>
          </a:xfrm>
          <a:prstGeom prst="rect">
            <a:avLst/>
          </a:prstGeom>
          <a:noFill/>
          <a:ln w="5715">
            <a:solidFill>
              <a:srgbClr val="536779"/>
            </a:solidFill>
            <a:prstDash val="solid"/>
          </a:ln>
        </p:spPr>
      </p:sp>
      <p:sp>
        <p:nvSpPr>
          <p:cNvPr id="539" name="Regime embedding"/>
          <p:cNvSpPr>
            <a:spLocks noGrp="1"/>
          </p:cNvSpPr>
          <p:nvPr/>
        </p:nvSpPr>
        <p:spPr>
          <a:xfrm>
            <a:off x="2886075" y="8454390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 embedding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40" name="regime-to-fusion"/>
          <p:cNvCxnSpPr/>
          <p:nvPr/>
        </p:nvCxnSpPr>
        <p:spPr>
          <a:xfrm>
            <a:off x="4095750" y="8835390"/>
            <a:ext cx="2000250" cy="676275"/>
          </a:xfrm>
          <a:custGeom>
            <a:avLst/>
            <a:gdLst/>
            <a:ahLst/>
            <a:cxnLst/>
            <a:pathLst>
              <a:path w="2000250" h="676275" fill="none">
                <a:moveTo>
                  <a:pt x="0" y="0"/>
                </a:moveTo>
                <a:lnTo>
                  <a:pt x="2000250" y="676275"/>
                </a:lnTo>
              </a:path>
            </a:pathLst>
          </a:custGeom>
          <a:noFill/>
          <a:ln w="16535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545" name="Local + neighbour cues"/>
          <p:cNvSpPr>
            <a:spLocks noGrp="1"/>
          </p:cNvSpPr>
          <p:nvPr/>
        </p:nvSpPr>
        <p:spPr>
          <a:xfrm>
            <a:off x="514350" y="9254490"/>
            <a:ext cx="22383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+ neighbour cues</a:t>
            </a:r>
            <a:endParaRPr sz="15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46" name="Precursor MLP"/>
          <p:cNvSpPr>
            <a:spLocks noGrp="1"/>
          </p:cNvSpPr>
          <p:nvPr/>
        </p:nvSpPr>
        <p:spPr>
          <a:xfrm>
            <a:off x="3181350" y="9197340"/>
            <a:ext cx="1666875" cy="342900"/>
          </a:xfrm>
          <a:prstGeom prst="rect">
            <a:avLst/>
          </a:prstGeom>
          <a:solidFill>
            <a:srgbClr val="F9D3B8"/>
          </a:solidFill>
          <a:ln w="15355">
            <a:solidFill>
              <a:srgbClr val="B96A43"/>
            </a:solidFill>
            <a:prstDash val="solid"/>
          </a:ln>
        </p:spPr>
      </p:sp>
      <p:sp>
        <p:nvSpPr>
          <p:cNvPr id="547" name="Precursor MLP"/>
          <p:cNvSpPr>
            <a:spLocks noGrp="1"/>
          </p:cNvSpPr>
          <p:nvPr/>
        </p:nvSpPr>
        <p:spPr>
          <a:xfrm>
            <a:off x="3219450" y="9216390"/>
            <a:ext cx="1590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Precursor MLP</a:t>
            </a:r>
            <a:endParaRPr sz="1800" b="1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48" name="local-cues-to-precursor"/>
          <p:cNvCxnSpPr/>
          <p:nvPr/>
        </p:nvCxnSpPr>
        <p:spPr>
          <a:xfrm>
            <a:off x="2752725" y="9368790"/>
            <a:ext cx="428625" cy="1"/>
          </a:xfrm>
          <a:custGeom>
            <a:avLst/>
            <a:gdLst/>
            <a:ahLst/>
            <a:cxnLst/>
            <a:pathLst>
              <a:path w="428625" h="1" fill="none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cxnSp>
        <p:nvCxnSpPr>
          <p:cNvPr id="551" name="precursor-to-fusion"/>
          <p:cNvCxnSpPr/>
          <p:nvPr/>
        </p:nvCxnSpPr>
        <p:spPr>
          <a:xfrm>
            <a:off x="4848225" y="9368790"/>
            <a:ext cx="1247775" cy="371475"/>
          </a:xfrm>
          <a:custGeom>
            <a:avLst/>
            <a:gdLst/>
            <a:ahLst/>
            <a:cxnLst/>
            <a:pathLst>
              <a:path w="1247775" h="371475" fill="none">
                <a:moveTo>
                  <a:pt x="0" y="0"/>
                </a:moveTo>
                <a:lnTo>
                  <a:pt x="1247775" y="371475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555" name="line-267"/>
          <p:cNvSpPr>
            <a:spLocks noGrp="1"/>
          </p:cNvSpPr>
          <p:nvPr/>
        </p:nvSpPr>
        <p:spPr>
          <a:xfrm>
            <a:off x="533400" y="9816465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F9D3B8"/>
            </a:solidFill>
            <a:prstDash val="solid"/>
          </a:ln>
        </p:spPr>
      </p:sp>
      <p:sp>
        <p:nvSpPr>
          <p:cNvPr id="556" name="Short-pattern clustering"/>
          <p:cNvSpPr>
            <a:spLocks noGrp="1"/>
          </p:cNvSpPr>
          <p:nvPr/>
        </p:nvSpPr>
        <p:spPr>
          <a:xfrm>
            <a:off x="514350" y="994981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Clustered temporal-pattern</a:t>
            </a:r>
            <a:endParaRPr lang="en-US" sz="16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20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1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construction</a:t>
            </a:r>
            <a:endParaRPr lang="en-US" sz="1600" b="1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57" name="Activity patches&#10;(length 3)"/>
          <p:cNvSpPr>
            <a:spLocks noGrp="1"/>
          </p:cNvSpPr>
          <p:nvPr/>
        </p:nvSpPr>
        <p:spPr>
          <a:xfrm>
            <a:off x="571500" y="10397490"/>
            <a:ext cx="1514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Activity patches</a:t>
            </a:r>
            <a:endParaRPr sz="15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(length 3)</a:t>
            </a:r>
            <a:endParaRPr sz="15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58" name="line-268"/>
          <p:cNvSpPr>
            <a:spLocks noGrp="1"/>
          </p:cNvSpPr>
          <p:nvPr/>
        </p:nvSpPr>
        <p:spPr>
          <a:xfrm>
            <a:off x="762000" y="1111186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59" name="line-269"/>
          <p:cNvSpPr>
            <a:spLocks noGrp="1"/>
          </p:cNvSpPr>
          <p:nvPr/>
        </p:nvSpPr>
        <p:spPr>
          <a:xfrm>
            <a:off x="762000" y="10974705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560" name="line-270"/>
          <p:cNvSpPr>
            <a:spLocks noGrp="1"/>
          </p:cNvSpPr>
          <p:nvPr/>
        </p:nvSpPr>
        <p:spPr>
          <a:xfrm>
            <a:off x="1319213" y="10974705"/>
            <a:ext cx="557213" cy="68580"/>
          </a:xfrm>
          <a:custGeom>
            <a:avLst/>
            <a:gdLst/>
            <a:ahLst/>
            <a:cxnLst/>
            <a:pathLst>
              <a:path w="557213" h="68580">
                <a:moveTo>
                  <a:pt x="0" y="0"/>
                </a:moveTo>
                <a:lnTo>
                  <a:pt x="557213" y="6858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561" name="resource node"/>
          <p:cNvSpPr>
            <a:spLocks noGrp="1"/>
          </p:cNvSpPr>
          <p:nvPr/>
        </p:nvSpPr>
        <p:spPr>
          <a:xfrm>
            <a:off x="740093" y="1107281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62" name="resource node"/>
          <p:cNvSpPr>
            <a:spLocks noGrp="1"/>
          </p:cNvSpPr>
          <p:nvPr/>
        </p:nvSpPr>
        <p:spPr>
          <a:xfrm>
            <a:off x="1297305" y="1095279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63" name="resource node"/>
          <p:cNvSpPr>
            <a:spLocks noGrp="1"/>
          </p:cNvSpPr>
          <p:nvPr/>
        </p:nvSpPr>
        <p:spPr>
          <a:xfrm>
            <a:off x="1854518" y="1102137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64" name="line-271"/>
          <p:cNvSpPr>
            <a:spLocks noGrp="1"/>
          </p:cNvSpPr>
          <p:nvPr/>
        </p:nvSpPr>
        <p:spPr>
          <a:xfrm>
            <a:off x="762000" y="1136904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65" name="line-272"/>
          <p:cNvSpPr>
            <a:spLocks noGrp="1"/>
          </p:cNvSpPr>
          <p:nvPr/>
        </p:nvSpPr>
        <p:spPr>
          <a:xfrm>
            <a:off x="762000" y="11231880"/>
            <a:ext cx="557213" cy="60008"/>
          </a:xfrm>
          <a:custGeom>
            <a:avLst/>
            <a:gdLst/>
            <a:ahLst/>
            <a:cxnLst/>
            <a:pathLst>
              <a:path w="557213" h="60008">
                <a:moveTo>
                  <a:pt x="0" y="0"/>
                </a:moveTo>
                <a:lnTo>
                  <a:pt x="557213" y="60008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566" name="line-273"/>
          <p:cNvSpPr>
            <a:spLocks noGrp="1"/>
          </p:cNvSpPr>
          <p:nvPr/>
        </p:nvSpPr>
        <p:spPr>
          <a:xfrm>
            <a:off x="1319213" y="11291888"/>
            <a:ext cx="557213" cy="60007"/>
          </a:xfrm>
          <a:custGeom>
            <a:avLst/>
            <a:gdLst/>
            <a:ahLst/>
            <a:cxnLst/>
            <a:pathLst>
              <a:path w="557213" h="60007">
                <a:moveTo>
                  <a:pt x="0" y="0"/>
                </a:moveTo>
                <a:lnTo>
                  <a:pt x="557213" y="60007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567" name="resource node"/>
          <p:cNvSpPr>
            <a:spLocks noGrp="1"/>
          </p:cNvSpPr>
          <p:nvPr/>
        </p:nvSpPr>
        <p:spPr>
          <a:xfrm>
            <a:off x="740093" y="1120997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68" name="resource node"/>
          <p:cNvSpPr>
            <a:spLocks noGrp="1"/>
          </p:cNvSpPr>
          <p:nvPr/>
        </p:nvSpPr>
        <p:spPr>
          <a:xfrm>
            <a:off x="1297305" y="11269980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69" name="resource node"/>
          <p:cNvSpPr>
            <a:spLocks noGrp="1"/>
          </p:cNvSpPr>
          <p:nvPr/>
        </p:nvSpPr>
        <p:spPr>
          <a:xfrm>
            <a:off x="1854518" y="1132998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70" name="line-274"/>
          <p:cNvSpPr>
            <a:spLocks noGrp="1"/>
          </p:cNvSpPr>
          <p:nvPr/>
        </p:nvSpPr>
        <p:spPr>
          <a:xfrm>
            <a:off x="762000" y="1162621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71" name="line-275"/>
          <p:cNvSpPr>
            <a:spLocks noGrp="1"/>
          </p:cNvSpPr>
          <p:nvPr/>
        </p:nvSpPr>
        <p:spPr>
          <a:xfrm>
            <a:off x="762000" y="11591925"/>
            <a:ext cx="557213" cy="17145"/>
          </a:xfrm>
          <a:custGeom>
            <a:avLst/>
            <a:gdLst/>
            <a:ahLst/>
            <a:cxnLst/>
            <a:pathLst>
              <a:path w="557213" h="17145">
                <a:moveTo>
                  <a:pt x="0" y="1714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572" name="line-276"/>
          <p:cNvSpPr>
            <a:spLocks noGrp="1"/>
          </p:cNvSpPr>
          <p:nvPr/>
        </p:nvSpPr>
        <p:spPr>
          <a:xfrm>
            <a:off x="1319213" y="11471910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573" name="resource node"/>
          <p:cNvSpPr>
            <a:spLocks noGrp="1"/>
          </p:cNvSpPr>
          <p:nvPr/>
        </p:nvSpPr>
        <p:spPr>
          <a:xfrm>
            <a:off x="740093" y="1158716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74" name="resource node"/>
          <p:cNvSpPr>
            <a:spLocks noGrp="1"/>
          </p:cNvSpPr>
          <p:nvPr/>
        </p:nvSpPr>
        <p:spPr>
          <a:xfrm>
            <a:off x="1297305" y="1157001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75" name="resource node"/>
          <p:cNvSpPr>
            <a:spLocks noGrp="1"/>
          </p:cNvSpPr>
          <p:nvPr/>
        </p:nvSpPr>
        <p:spPr>
          <a:xfrm>
            <a:off x="1854518" y="1145000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cxnSp>
        <p:nvCxnSpPr>
          <p:cNvPr id="576" name="patches-to-clusters"/>
          <p:cNvCxnSpPr/>
          <p:nvPr/>
        </p:nvCxnSpPr>
        <p:spPr>
          <a:xfrm>
            <a:off x="2000250" y="11311890"/>
            <a:ext cx="400050" cy="1"/>
          </a:xfrm>
          <a:custGeom>
            <a:avLst/>
            <a:gdLst/>
            <a:ahLst/>
            <a:cxnLst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579" name="resource node"/>
          <p:cNvSpPr>
            <a:spLocks noGrp="1"/>
          </p:cNvSpPr>
          <p:nvPr/>
        </p:nvSpPr>
        <p:spPr>
          <a:xfrm>
            <a:off x="2533650" y="10988040"/>
            <a:ext cx="57150" cy="57150"/>
          </a:xfrm>
          <a:prstGeom prst="ellipse">
            <a:avLst/>
          </a:prstGeom>
          <a:solidFill>
            <a:srgbClr val="E8AD85"/>
          </a:solidFill>
          <a:ln w="16535">
            <a:solidFill>
              <a:srgbClr val="E8AD85"/>
            </a:solidFill>
          </a:ln>
        </p:spPr>
      </p:sp>
      <p:sp>
        <p:nvSpPr>
          <p:cNvPr id="580" name="resource node"/>
          <p:cNvSpPr>
            <a:spLocks noGrp="1"/>
          </p:cNvSpPr>
          <p:nvPr/>
        </p:nvSpPr>
        <p:spPr>
          <a:xfrm>
            <a:off x="2695575" y="10940415"/>
            <a:ext cx="57150" cy="57150"/>
          </a:xfrm>
          <a:prstGeom prst="ellipse">
            <a:avLst/>
          </a:prstGeom>
          <a:solidFill>
            <a:srgbClr val="E8AD85"/>
          </a:solidFill>
          <a:ln w="16535">
            <a:solidFill>
              <a:srgbClr val="E8AD85"/>
            </a:solidFill>
          </a:ln>
        </p:spPr>
      </p:sp>
      <p:sp>
        <p:nvSpPr>
          <p:cNvPr id="581" name="resource node"/>
          <p:cNvSpPr>
            <a:spLocks noGrp="1"/>
          </p:cNvSpPr>
          <p:nvPr/>
        </p:nvSpPr>
        <p:spPr>
          <a:xfrm>
            <a:off x="2733675" y="11102340"/>
            <a:ext cx="57150" cy="57150"/>
          </a:xfrm>
          <a:prstGeom prst="ellipse">
            <a:avLst/>
          </a:prstGeom>
          <a:solidFill>
            <a:srgbClr val="E8AD85"/>
          </a:solidFill>
          <a:ln w="16535">
            <a:solidFill>
              <a:srgbClr val="E8AD85"/>
            </a:solidFill>
          </a:ln>
        </p:spPr>
      </p:sp>
      <p:sp>
        <p:nvSpPr>
          <p:cNvPr id="582" name="resource node"/>
          <p:cNvSpPr>
            <a:spLocks noGrp="1"/>
          </p:cNvSpPr>
          <p:nvPr/>
        </p:nvSpPr>
        <p:spPr>
          <a:xfrm>
            <a:off x="2552700" y="11149965"/>
            <a:ext cx="57150" cy="57150"/>
          </a:xfrm>
          <a:prstGeom prst="ellipse">
            <a:avLst/>
          </a:prstGeom>
          <a:solidFill>
            <a:srgbClr val="E8AD85"/>
          </a:solidFill>
          <a:ln w="16535">
            <a:solidFill>
              <a:srgbClr val="E8AD85"/>
            </a:solidFill>
          </a:ln>
        </p:spPr>
      </p:sp>
      <p:sp>
        <p:nvSpPr>
          <p:cNvPr id="583" name="resource node"/>
          <p:cNvSpPr>
            <a:spLocks noGrp="1"/>
          </p:cNvSpPr>
          <p:nvPr/>
        </p:nvSpPr>
        <p:spPr>
          <a:xfrm>
            <a:off x="2619375" y="11035665"/>
            <a:ext cx="57150" cy="57150"/>
          </a:xfrm>
          <a:prstGeom prst="ellipse">
            <a:avLst/>
          </a:prstGeom>
          <a:solidFill>
            <a:srgbClr val="E8AD85"/>
          </a:solidFill>
          <a:ln w="16535">
            <a:solidFill>
              <a:srgbClr val="E8AD85"/>
            </a:solidFill>
          </a:ln>
        </p:spPr>
      </p:sp>
      <p:sp>
        <p:nvSpPr>
          <p:cNvPr id="584" name="resource node"/>
          <p:cNvSpPr>
            <a:spLocks noGrp="1"/>
          </p:cNvSpPr>
          <p:nvPr/>
        </p:nvSpPr>
        <p:spPr>
          <a:xfrm>
            <a:off x="2603183" y="1101947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85" name="resource node"/>
          <p:cNvSpPr>
            <a:spLocks noGrp="1"/>
          </p:cNvSpPr>
          <p:nvPr/>
        </p:nvSpPr>
        <p:spPr>
          <a:xfrm>
            <a:off x="3019425" y="11188065"/>
            <a:ext cx="57150" cy="57150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86" name="resource node"/>
          <p:cNvSpPr>
            <a:spLocks noGrp="1"/>
          </p:cNvSpPr>
          <p:nvPr/>
        </p:nvSpPr>
        <p:spPr>
          <a:xfrm>
            <a:off x="3181350" y="11140440"/>
            <a:ext cx="57150" cy="57150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87" name="resource node"/>
          <p:cNvSpPr>
            <a:spLocks noGrp="1"/>
          </p:cNvSpPr>
          <p:nvPr/>
        </p:nvSpPr>
        <p:spPr>
          <a:xfrm>
            <a:off x="3219450" y="11302365"/>
            <a:ext cx="57150" cy="57150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88" name="resource node"/>
          <p:cNvSpPr>
            <a:spLocks noGrp="1"/>
          </p:cNvSpPr>
          <p:nvPr/>
        </p:nvSpPr>
        <p:spPr>
          <a:xfrm>
            <a:off x="3038475" y="11349990"/>
            <a:ext cx="57150" cy="57150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89" name="resource node"/>
          <p:cNvSpPr>
            <a:spLocks noGrp="1"/>
          </p:cNvSpPr>
          <p:nvPr/>
        </p:nvSpPr>
        <p:spPr>
          <a:xfrm>
            <a:off x="3105150" y="11235690"/>
            <a:ext cx="57150" cy="57150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590" name="resource node"/>
          <p:cNvSpPr>
            <a:spLocks noGrp="1"/>
          </p:cNvSpPr>
          <p:nvPr/>
        </p:nvSpPr>
        <p:spPr>
          <a:xfrm>
            <a:off x="3088958" y="11219498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91" name="resource node"/>
          <p:cNvSpPr>
            <a:spLocks noGrp="1"/>
          </p:cNvSpPr>
          <p:nvPr/>
        </p:nvSpPr>
        <p:spPr>
          <a:xfrm>
            <a:off x="2619375" y="11540490"/>
            <a:ext cx="57150" cy="57150"/>
          </a:xfrm>
          <a:prstGeom prst="ellipse">
            <a:avLst/>
          </a:prstGeom>
          <a:solidFill>
            <a:srgbClr val="955034"/>
          </a:solidFill>
          <a:ln w="16535">
            <a:solidFill>
              <a:srgbClr val="955034"/>
            </a:solidFill>
          </a:ln>
        </p:spPr>
      </p:sp>
      <p:sp>
        <p:nvSpPr>
          <p:cNvPr id="592" name="resource node"/>
          <p:cNvSpPr>
            <a:spLocks noGrp="1"/>
          </p:cNvSpPr>
          <p:nvPr/>
        </p:nvSpPr>
        <p:spPr>
          <a:xfrm>
            <a:off x="2781300" y="11492865"/>
            <a:ext cx="57150" cy="57150"/>
          </a:xfrm>
          <a:prstGeom prst="ellipse">
            <a:avLst/>
          </a:prstGeom>
          <a:solidFill>
            <a:srgbClr val="955034"/>
          </a:solidFill>
          <a:ln w="16535">
            <a:solidFill>
              <a:srgbClr val="955034"/>
            </a:solidFill>
          </a:ln>
        </p:spPr>
      </p:sp>
      <p:sp>
        <p:nvSpPr>
          <p:cNvPr id="593" name="resource node"/>
          <p:cNvSpPr>
            <a:spLocks noGrp="1"/>
          </p:cNvSpPr>
          <p:nvPr/>
        </p:nvSpPr>
        <p:spPr>
          <a:xfrm>
            <a:off x="2819400" y="11654790"/>
            <a:ext cx="57150" cy="57150"/>
          </a:xfrm>
          <a:prstGeom prst="ellipse">
            <a:avLst/>
          </a:prstGeom>
          <a:solidFill>
            <a:srgbClr val="955034"/>
          </a:solidFill>
          <a:ln w="16535">
            <a:solidFill>
              <a:srgbClr val="955034"/>
            </a:solidFill>
          </a:ln>
        </p:spPr>
      </p:sp>
      <p:sp>
        <p:nvSpPr>
          <p:cNvPr id="594" name="resource node"/>
          <p:cNvSpPr>
            <a:spLocks noGrp="1"/>
          </p:cNvSpPr>
          <p:nvPr/>
        </p:nvSpPr>
        <p:spPr>
          <a:xfrm>
            <a:off x="2638425" y="11702415"/>
            <a:ext cx="57150" cy="57150"/>
          </a:xfrm>
          <a:prstGeom prst="ellipse">
            <a:avLst/>
          </a:prstGeom>
          <a:solidFill>
            <a:srgbClr val="955034"/>
          </a:solidFill>
          <a:ln w="16535">
            <a:solidFill>
              <a:srgbClr val="955034"/>
            </a:solidFill>
          </a:ln>
        </p:spPr>
      </p:sp>
      <p:sp>
        <p:nvSpPr>
          <p:cNvPr id="595" name="resource node"/>
          <p:cNvSpPr>
            <a:spLocks noGrp="1"/>
          </p:cNvSpPr>
          <p:nvPr/>
        </p:nvSpPr>
        <p:spPr>
          <a:xfrm>
            <a:off x="2705100" y="11588115"/>
            <a:ext cx="57150" cy="57150"/>
          </a:xfrm>
          <a:prstGeom prst="ellipse">
            <a:avLst/>
          </a:prstGeom>
          <a:solidFill>
            <a:srgbClr val="955034"/>
          </a:solidFill>
          <a:ln w="16535">
            <a:solidFill>
              <a:srgbClr val="955034"/>
            </a:solidFill>
          </a:ln>
        </p:spPr>
      </p:sp>
      <p:sp>
        <p:nvSpPr>
          <p:cNvPr id="596" name="resource node"/>
          <p:cNvSpPr>
            <a:spLocks noGrp="1"/>
          </p:cNvSpPr>
          <p:nvPr/>
        </p:nvSpPr>
        <p:spPr>
          <a:xfrm>
            <a:off x="2688908" y="11571923"/>
            <a:ext cx="89535" cy="89535"/>
          </a:xfrm>
          <a:prstGeom prst="ellipse">
            <a:avLst/>
          </a:prstGeom>
          <a:solidFill>
            <a:srgbClr val="FFFFFF"/>
          </a:solidFill>
          <a:ln w="16535">
            <a:solidFill>
              <a:srgbClr val="B96A43"/>
            </a:solidFill>
          </a:ln>
        </p:spPr>
      </p:sp>
      <p:sp>
        <p:nvSpPr>
          <p:cNvPr id="597" name="k-means"/>
          <p:cNvSpPr>
            <a:spLocks noGrp="1"/>
          </p:cNvSpPr>
          <p:nvPr/>
        </p:nvSpPr>
        <p:spPr>
          <a:xfrm>
            <a:off x="2381250" y="10530840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k-means</a:t>
            </a:r>
            <a:endParaRPr sz="1800" b="1" i="1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98" name="clusters-to-prototypes"/>
          <p:cNvCxnSpPr/>
          <p:nvPr/>
        </p:nvCxnSpPr>
        <p:spPr>
          <a:xfrm>
            <a:off x="3390900" y="11311890"/>
            <a:ext cx="419100" cy="1"/>
          </a:xfrm>
          <a:custGeom>
            <a:avLst/>
            <a:gdLst/>
            <a:ahLst/>
            <a:cxnLst/>
            <a:pathLst>
              <a:path w="419100" h="1" fill="none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601" name="line-283"/>
          <p:cNvSpPr>
            <a:spLocks noGrp="1"/>
          </p:cNvSpPr>
          <p:nvPr/>
        </p:nvSpPr>
        <p:spPr>
          <a:xfrm>
            <a:off x="4010025" y="1111186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2" name="line-284"/>
          <p:cNvSpPr>
            <a:spLocks noGrp="1"/>
          </p:cNvSpPr>
          <p:nvPr/>
        </p:nvSpPr>
        <p:spPr>
          <a:xfrm>
            <a:off x="4010025" y="10974705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03" name="line-285"/>
          <p:cNvSpPr>
            <a:spLocks noGrp="1"/>
          </p:cNvSpPr>
          <p:nvPr/>
        </p:nvSpPr>
        <p:spPr>
          <a:xfrm>
            <a:off x="4452938" y="10974705"/>
            <a:ext cx="442913" cy="68580"/>
          </a:xfrm>
          <a:custGeom>
            <a:avLst/>
            <a:gdLst/>
            <a:ahLst/>
            <a:cxnLst/>
            <a:pathLst>
              <a:path w="442913" h="68580">
                <a:moveTo>
                  <a:pt x="0" y="0"/>
                </a:moveTo>
                <a:lnTo>
                  <a:pt x="442913" y="6858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04" name="resource node"/>
          <p:cNvSpPr>
            <a:spLocks noGrp="1"/>
          </p:cNvSpPr>
          <p:nvPr/>
        </p:nvSpPr>
        <p:spPr>
          <a:xfrm>
            <a:off x="3988118" y="1107281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05" name="resource node"/>
          <p:cNvSpPr>
            <a:spLocks noGrp="1"/>
          </p:cNvSpPr>
          <p:nvPr/>
        </p:nvSpPr>
        <p:spPr>
          <a:xfrm>
            <a:off x="4431030" y="1095279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06" name="resource node"/>
          <p:cNvSpPr>
            <a:spLocks noGrp="1"/>
          </p:cNvSpPr>
          <p:nvPr/>
        </p:nvSpPr>
        <p:spPr>
          <a:xfrm>
            <a:off x="4873943" y="1102137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07" name="line-286"/>
          <p:cNvSpPr>
            <a:spLocks noGrp="1"/>
          </p:cNvSpPr>
          <p:nvPr/>
        </p:nvSpPr>
        <p:spPr>
          <a:xfrm>
            <a:off x="4010025" y="1136904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8" name="line-287"/>
          <p:cNvSpPr>
            <a:spLocks noGrp="1"/>
          </p:cNvSpPr>
          <p:nvPr/>
        </p:nvSpPr>
        <p:spPr>
          <a:xfrm>
            <a:off x="4010025" y="11231880"/>
            <a:ext cx="442913" cy="60008"/>
          </a:xfrm>
          <a:custGeom>
            <a:avLst/>
            <a:gdLst/>
            <a:ahLst/>
            <a:cxnLst/>
            <a:pathLst>
              <a:path w="442913" h="60008">
                <a:moveTo>
                  <a:pt x="0" y="0"/>
                </a:moveTo>
                <a:lnTo>
                  <a:pt x="442913" y="60008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09" name="line-288"/>
          <p:cNvSpPr>
            <a:spLocks noGrp="1"/>
          </p:cNvSpPr>
          <p:nvPr/>
        </p:nvSpPr>
        <p:spPr>
          <a:xfrm>
            <a:off x="4452938" y="11291888"/>
            <a:ext cx="442913" cy="60007"/>
          </a:xfrm>
          <a:custGeom>
            <a:avLst/>
            <a:gdLst/>
            <a:ahLst/>
            <a:cxnLst/>
            <a:pathLst>
              <a:path w="442913" h="60007">
                <a:moveTo>
                  <a:pt x="0" y="0"/>
                </a:moveTo>
                <a:lnTo>
                  <a:pt x="442913" y="60007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10" name="resource node"/>
          <p:cNvSpPr>
            <a:spLocks noGrp="1"/>
          </p:cNvSpPr>
          <p:nvPr/>
        </p:nvSpPr>
        <p:spPr>
          <a:xfrm>
            <a:off x="3988118" y="1120997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11" name="resource node"/>
          <p:cNvSpPr>
            <a:spLocks noGrp="1"/>
          </p:cNvSpPr>
          <p:nvPr/>
        </p:nvSpPr>
        <p:spPr>
          <a:xfrm>
            <a:off x="4431030" y="11269980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12" name="resource node"/>
          <p:cNvSpPr>
            <a:spLocks noGrp="1"/>
          </p:cNvSpPr>
          <p:nvPr/>
        </p:nvSpPr>
        <p:spPr>
          <a:xfrm>
            <a:off x="4873943" y="1132998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13" name="line-289"/>
          <p:cNvSpPr>
            <a:spLocks noGrp="1"/>
          </p:cNvSpPr>
          <p:nvPr/>
        </p:nvSpPr>
        <p:spPr>
          <a:xfrm>
            <a:off x="4010025" y="1162621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14" name="line-290"/>
          <p:cNvSpPr>
            <a:spLocks noGrp="1"/>
          </p:cNvSpPr>
          <p:nvPr/>
        </p:nvSpPr>
        <p:spPr>
          <a:xfrm>
            <a:off x="4010025" y="11591925"/>
            <a:ext cx="442913" cy="17145"/>
          </a:xfrm>
          <a:custGeom>
            <a:avLst/>
            <a:gdLst/>
            <a:ahLst/>
            <a:cxnLst/>
            <a:pathLst>
              <a:path w="442913" h="17145">
                <a:moveTo>
                  <a:pt x="0" y="1714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15" name="line-291"/>
          <p:cNvSpPr>
            <a:spLocks noGrp="1"/>
          </p:cNvSpPr>
          <p:nvPr/>
        </p:nvSpPr>
        <p:spPr>
          <a:xfrm>
            <a:off x="4452938" y="11471910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16" name="resource node"/>
          <p:cNvSpPr>
            <a:spLocks noGrp="1"/>
          </p:cNvSpPr>
          <p:nvPr/>
        </p:nvSpPr>
        <p:spPr>
          <a:xfrm>
            <a:off x="3988118" y="1158716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17" name="resource node"/>
          <p:cNvSpPr>
            <a:spLocks noGrp="1"/>
          </p:cNvSpPr>
          <p:nvPr/>
        </p:nvSpPr>
        <p:spPr>
          <a:xfrm>
            <a:off x="4431030" y="1157001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18" name="resource node"/>
          <p:cNvSpPr>
            <a:spLocks noGrp="1"/>
          </p:cNvSpPr>
          <p:nvPr/>
        </p:nvSpPr>
        <p:spPr>
          <a:xfrm>
            <a:off x="4873943" y="1145000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19" name="…"/>
          <p:cNvSpPr>
            <a:spLocks noGrp="1"/>
          </p:cNvSpPr>
          <p:nvPr/>
        </p:nvSpPr>
        <p:spPr>
          <a:xfrm>
            <a:off x="4981575" y="11235690"/>
            <a:ext cx="238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5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  <a:endParaRPr sz="165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20" name="16 prototypes P"/>
          <p:cNvSpPr>
            <a:spLocks noGrp="1"/>
          </p:cNvSpPr>
          <p:nvPr/>
        </p:nvSpPr>
        <p:spPr>
          <a:xfrm>
            <a:off x="3800475" y="11769090"/>
            <a:ext cx="14573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 prototypes P</a:t>
            </a:r>
            <a:endParaRPr sz="150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21" name="Earlier precursor"/>
          <p:cNvSpPr>
            <a:spLocks noGrp="1"/>
          </p:cNvSpPr>
          <p:nvPr/>
        </p:nvSpPr>
        <p:spPr>
          <a:xfrm>
            <a:off x="12830175" y="91059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Earlier precursor</a:t>
            </a:r>
            <a:endParaRPr sz="16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22" name="Later constraint"/>
          <p:cNvSpPr>
            <a:spLocks noGrp="1"/>
          </p:cNvSpPr>
          <p:nvPr/>
        </p:nvSpPr>
        <p:spPr>
          <a:xfrm>
            <a:off x="12830175" y="138684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6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Later constraint</a:t>
            </a:r>
            <a:endParaRPr sz="16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23" name="line-292"/>
          <p:cNvSpPr>
            <a:spLocks noGrp="1"/>
          </p:cNvSpPr>
          <p:nvPr/>
        </p:nvSpPr>
        <p:spPr>
          <a:xfrm>
            <a:off x="14620875" y="113919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4E8DE"/>
            </a:solidFill>
            <a:prstDash val="solid"/>
          </a:ln>
        </p:spPr>
      </p:sp>
      <p:sp>
        <p:nvSpPr>
          <p:cNvPr id="624" name="line-293"/>
          <p:cNvSpPr>
            <a:spLocks noGrp="1"/>
          </p:cNvSpPr>
          <p:nvPr/>
        </p:nvSpPr>
        <p:spPr>
          <a:xfrm>
            <a:off x="14620875" y="1139190"/>
            <a:ext cx="489395" cy="95"/>
          </a:xfrm>
          <a:custGeom>
            <a:avLst/>
            <a:gdLst/>
            <a:ahLst/>
            <a:cxnLst/>
            <a:pathLst>
              <a:path w="489395" h="95">
                <a:moveTo>
                  <a:pt x="0" y="0"/>
                </a:moveTo>
                <a:lnTo>
                  <a:pt x="489395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25" name="line-294"/>
          <p:cNvSpPr>
            <a:spLocks noGrp="1"/>
          </p:cNvSpPr>
          <p:nvPr/>
        </p:nvSpPr>
        <p:spPr>
          <a:xfrm>
            <a:off x="15110270" y="90106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26" name="line-295"/>
          <p:cNvSpPr>
            <a:spLocks noGrp="1"/>
          </p:cNvSpPr>
          <p:nvPr/>
        </p:nvSpPr>
        <p:spPr>
          <a:xfrm>
            <a:off x="15110270" y="901065"/>
            <a:ext cx="838962" cy="95"/>
          </a:xfrm>
          <a:custGeom>
            <a:avLst/>
            <a:gdLst/>
            <a:ahLst/>
            <a:cxnLst/>
            <a:pathLst>
              <a:path w="838962" h="95">
                <a:moveTo>
                  <a:pt x="0" y="0"/>
                </a:moveTo>
                <a:lnTo>
                  <a:pt x="838962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27" name="line-296"/>
          <p:cNvSpPr>
            <a:spLocks noGrp="1"/>
          </p:cNvSpPr>
          <p:nvPr/>
        </p:nvSpPr>
        <p:spPr>
          <a:xfrm>
            <a:off x="15949232" y="90106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28" name="line-297"/>
          <p:cNvSpPr>
            <a:spLocks noGrp="1"/>
          </p:cNvSpPr>
          <p:nvPr/>
        </p:nvSpPr>
        <p:spPr>
          <a:xfrm>
            <a:off x="15949232" y="1139190"/>
            <a:ext cx="2167318" cy="95"/>
          </a:xfrm>
          <a:custGeom>
            <a:avLst/>
            <a:gdLst/>
            <a:ahLst/>
            <a:cxnLst/>
            <a:pathLst>
              <a:path w="2167318" h="95">
                <a:moveTo>
                  <a:pt x="0" y="0"/>
                </a:moveTo>
                <a:lnTo>
                  <a:pt x="2167318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29" name="line-298"/>
          <p:cNvSpPr>
            <a:spLocks noGrp="1"/>
          </p:cNvSpPr>
          <p:nvPr/>
        </p:nvSpPr>
        <p:spPr>
          <a:xfrm>
            <a:off x="14620875" y="161544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4E8DE"/>
            </a:solidFill>
            <a:prstDash val="solid"/>
          </a:ln>
        </p:spPr>
      </p:sp>
      <p:sp>
        <p:nvSpPr>
          <p:cNvPr id="630" name="line-299"/>
          <p:cNvSpPr>
            <a:spLocks noGrp="1"/>
          </p:cNvSpPr>
          <p:nvPr/>
        </p:nvSpPr>
        <p:spPr>
          <a:xfrm>
            <a:off x="14620875" y="1615440"/>
            <a:ext cx="1957578" cy="95"/>
          </a:xfrm>
          <a:custGeom>
            <a:avLst/>
            <a:gdLst/>
            <a:ahLst/>
            <a:cxnLst/>
            <a:pathLst>
              <a:path w="1957578" h="95">
                <a:moveTo>
                  <a:pt x="0" y="0"/>
                </a:moveTo>
                <a:lnTo>
                  <a:pt x="1957578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31" name="line-300"/>
          <p:cNvSpPr>
            <a:spLocks noGrp="1"/>
          </p:cNvSpPr>
          <p:nvPr/>
        </p:nvSpPr>
        <p:spPr>
          <a:xfrm>
            <a:off x="16578453" y="137731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32" name="line-301"/>
          <p:cNvSpPr>
            <a:spLocks noGrp="1"/>
          </p:cNvSpPr>
          <p:nvPr/>
        </p:nvSpPr>
        <p:spPr>
          <a:xfrm>
            <a:off x="16578453" y="1377315"/>
            <a:ext cx="943832" cy="95"/>
          </a:xfrm>
          <a:custGeom>
            <a:avLst/>
            <a:gdLst/>
            <a:ahLst/>
            <a:cxnLst/>
            <a:pathLst>
              <a:path w="943832" h="95">
                <a:moveTo>
                  <a:pt x="0" y="0"/>
                </a:moveTo>
                <a:lnTo>
                  <a:pt x="943832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33" name="line-302"/>
          <p:cNvSpPr>
            <a:spLocks noGrp="1"/>
          </p:cNvSpPr>
          <p:nvPr/>
        </p:nvSpPr>
        <p:spPr>
          <a:xfrm>
            <a:off x="17522285" y="137731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34" name="line-303"/>
          <p:cNvSpPr>
            <a:spLocks noGrp="1"/>
          </p:cNvSpPr>
          <p:nvPr/>
        </p:nvSpPr>
        <p:spPr>
          <a:xfrm>
            <a:off x="17522285" y="1615440"/>
            <a:ext cx="594265" cy="95"/>
          </a:xfrm>
          <a:custGeom>
            <a:avLst/>
            <a:gdLst/>
            <a:ahLst/>
            <a:cxnLst/>
            <a:pathLst>
              <a:path w="594265" h="95">
                <a:moveTo>
                  <a:pt x="0" y="0"/>
                </a:moveTo>
                <a:lnTo>
                  <a:pt x="594265" y="0"/>
                </a:lnTo>
              </a:path>
            </a:pathLst>
          </a:custGeom>
          <a:noFill/>
          <a:ln w="21260">
            <a:solidFill>
              <a:srgbClr val="337F68"/>
            </a:solidFill>
            <a:prstDash val="solid"/>
          </a:ln>
        </p:spPr>
      </p:sp>
      <p:sp>
        <p:nvSpPr>
          <p:cNvPr id="635" name="line-304"/>
          <p:cNvSpPr>
            <a:spLocks noGrp="1"/>
          </p:cNvSpPr>
          <p:nvPr/>
        </p:nvSpPr>
        <p:spPr>
          <a:xfrm>
            <a:off x="15106650" y="853440"/>
            <a:ext cx="95" cy="942975"/>
          </a:xfrm>
          <a:custGeom>
            <a:avLst/>
            <a:gdLst/>
            <a:ahLst/>
            <a:cxnLst/>
            <a:pathLst>
              <a:path w="95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/>
          <a:ln w="7620">
            <a:solidFill>
              <a:srgbClr val="A6DCBC"/>
            </a:solidFill>
            <a:prstDash val="dash"/>
          </a:ln>
        </p:spPr>
      </p:sp>
      <p:sp>
        <p:nvSpPr>
          <p:cNvPr id="636" name="line-305"/>
          <p:cNvSpPr>
            <a:spLocks noGrp="1"/>
          </p:cNvSpPr>
          <p:nvPr/>
        </p:nvSpPr>
        <p:spPr>
          <a:xfrm>
            <a:off x="16583025" y="1329690"/>
            <a:ext cx="95" cy="466725"/>
          </a:xfrm>
          <a:custGeom>
            <a:avLst/>
            <a:gdLst/>
            <a:ahLst/>
            <a:cxnLst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7620">
            <a:solidFill>
              <a:srgbClr val="A6DCBC"/>
            </a:solidFill>
            <a:prstDash val="dash"/>
          </a:ln>
        </p:spPr>
      </p:sp>
      <p:cxnSp>
        <p:nvCxnSpPr>
          <p:cNvPr id="637" name="lag-annotation"/>
          <p:cNvCxnSpPr/>
          <p:nvPr/>
        </p:nvCxnSpPr>
        <p:spPr>
          <a:xfrm>
            <a:off x="15106650" y="1758315"/>
            <a:ext cx="1476375" cy="1"/>
          </a:xfrm>
          <a:custGeom>
            <a:avLst/>
            <a:gdLst/>
            <a:ahLst/>
            <a:cxnLst/>
            <a:pathLst>
              <a:path w="1476375" h="1" fill="none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2993">
            <a:solidFill>
              <a:srgbClr val="337F68"/>
            </a:solidFill>
            <a:prstDash val="solid"/>
            <a:tailEnd type="arrow" w="sm" len="sm"/>
          </a:ln>
        </p:spPr>
      </p:cxnSp>
      <p:sp>
        <p:nvSpPr>
          <p:cNvPr id="640" name="lag"/>
          <p:cNvSpPr>
            <a:spLocks noGrp="1"/>
          </p:cNvSpPr>
          <p:nvPr/>
        </p:nvSpPr>
        <p:spPr>
          <a:xfrm>
            <a:off x="15621000" y="1796415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1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1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1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lag</a:t>
            </a:r>
            <a:endParaRPr sz="1300" b="0" i="1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1" name="Pattern matching"/>
          <p:cNvSpPr>
            <a:spLocks noGrp="1"/>
          </p:cNvSpPr>
          <p:nvPr/>
        </p:nvSpPr>
        <p:spPr>
          <a:xfrm>
            <a:off x="12811125" y="2063115"/>
            <a:ext cx="26765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0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Pattern matching</a:t>
            </a:r>
            <a:endParaRPr sz="2000" b="1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2" name="Queue query patch"/>
          <p:cNvSpPr>
            <a:spLocks noGrp="1"/>
          </p:cNvSpPr>
          <p:nvPr/>
        </p:nvSpPr>
        <p:spPr>
          <a:xfrm>
            <a:off x="12877800" y="2396490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Queue query patch</a:t>
            </a:r>
            <a:endParaRPr sz="15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3" name="Activity prototypes P (b)"/>
          <p:cNvSpPr>
            <a:spLocks noGrp="1"/>
          </p:cNvSpPr>
          <p:nvPr/>
        </p:nvSpPr>
        <p:spPr>
          <a:xfrm>
            <a:off x="15621000" y="2396490"/>
            <a:ext cx="2657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Activity prototypes P (b)</a:t>
            </a:r>
            <a:endParaRPr sz="150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4" name="line-309"/>
          <p:cNvSpPr>
            <a:spLocks noGrp="1"/>
          </p:cNvSpPr>
          <p:nvPr/>
        </p:nvSpPr>
        <p:spPr>
          <a:xfrm>
            <a:off x="13230225" y="3006090"/>
            <a:ext cx="1038225" cy="95"/>
          </a:xfrm>
          <a:custGeom>
            <a:avLst/>
            <a:gdLst/>
            <a:ahLst/>
            <a:cxnLst/>
            <a:pathLst>
              <a:path w="1038225" h="9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45" name="line-310"/>
          <p:cNvSpPr>
            <a:spLocks noGrp="1"/>
          </p:cNvSpPr>
          <p:nvPr/>
        </p:nvSpPr>
        <p:spPr>
          <a:xfrm>
            <a:off x="13230225" y="2799398"/>
            <a:ext cx="519113" cy="177165"/>
          </a:xfrm>
          <a:custGeom>
            <a:avLst/>
            <a:gdLst/>
            <a:ahLst/>
            <a:cxnLst/>
            <a:pathLst>
              <a:path w="519113" h="177165">
                <a:moveTo>
                  <a:pt x="0" y="177165"/>
                </a:moveTo>
                <a:lnTo>
                  <a:pt x="519113" y="0"/>
                </a:lnTo>
              </a:path>
            </a:pathLst>
          </a:custGeom>
          <a:noFill/>
          <a:ln w="21260">
            <a:solidFill>
              <a:srgbClr val="356B91"/>
            </a:solidFill>
            <a:prstDash val="solid"/>
          </a:ln>
        </p:spPr>
      </p:sp>
      <p:sp>
        <p:nvSpPr>
          <p:cNvPr id="646" name="line-311"/>
          <p:cNvSpPr>
            <a:spLocks noGrp="1"/>
          </p:cNvSpPr>
          <p:nvPr/>
        </p:nvSpPr>
        <p:spPr>
          <a:xfrm>
            <a:off x="13749338" y="2740343"/>
            <a:ext cx="519113" cy="59055"/>
          </a:xfrm>
          <a:custGeom>
            <a:avLst/>
            <a:gdLst/>
            <a:ahLst/>
            <a:cxnLst/>
            <a:pathLst>
              <a:path w="519113" h="59055">
                <a:moveTo>
                  <a:pt x="0" y="59055"/>
                </a:moveTo>
                <a:lnTo>
                  <a:pt x="519113" y="0"/>
                </a:lnTo>
              </a:path>
            </a:pathLst>
          </a:custGeom>
          <a:noFill/>
          <a:ln w="21260">
            <a:solidFill>
              <a:srgbClr val="356B91"/>
            </a:solidFill>
            <a:prstDash val="solid"/>
          </a:ln>
        </p:spPr>
      </p:sp>
      <p:sp>
        <p:nvSpPr>
          <p:cNvPr id="647" name="resource node"/>
          <p:cNvSpPr>
            <a:spLocks noGrp="1"/>
          </p:cNvSpPr>
          <p:nvPr/>
        </p:nvSpPr>
        <p:spPr>
          <a:xfrm>
            <a:off x="13208318" y="2954655"/>
            <a:ext cx="43815" cy="43815"/>
          </a:xfrm>
          <a:prstGeom prst="ellipse">
            <a:avLst/>
          </a:prstGeom>
          <a:solidFill>
            <a:srgbClr val="356B91"/>
          </a:solidFill>
          <a:ln w="16535">
            <a:solidFill>
              <a:srgbClr val="356B91"/>
            </a:solidFill>
          </a:ln>
        </p:spPr>
      </p:sp>
      <p:sp>
        <p:nvSpPr>
          <p:cNvPr id="648" name="resource node"/>
          <p:cNvSpPr>
            <a:spLocks noGrp="1"/>
          </p:cNvSpPr>
          <p:nvPr/>
        </p:nvSpPr>
        <p:spPr>
          <a:xfrm>
            <a:off x="13727430" y="2777490"/>
            <a:ext cx="43815" cy="43815"/>
          </a:xfrm>
          <a:prstGeom prst="ellipse">
            <a:avLst/>
          </a:prstGeom>
          <a:solidFill>
            <a:srgbClr val="356B91"/>
          </a:solidFill>
          <a:ln w="16535">
            <a:solidFill>
              <a:srgbClr val="356B91"/>
            </a:solidFill>
          </a:ln>
        </p:spPr>
      </p:sp>
      <p:sp>
        <p:nvSpPr>
          <p:cNvPr id="649" name="resource node"/>
          <p:cNvSpPr>
            <a:spLocks noGrp="1"/>
          </p:cNvSpPr>
          <p:nvPr/>
        </p:nvSpPr>
        <p:spPr>
          <a:xfrm>
            <a:off x="14246543" y="2718435"/>
            <a:ext cx="43815" cy="43815"/>
          </a:xfrm>
          <a:prstGeom prst="ellipse">
            <a:avLst/>
          </a:prstGeom>
          <a:solidFill>
            <a:srgbClr val="356B91"/>
          </a:solidFill>
          <a:ln w="16535">
            <a:solidFill>
              <a:srgbClr val="356B91"/>
            </a:solidFill>
          </a:ln>
        </p:spPr>
      </p:sp>
      <p:sp>
        <p:nvSpPr>
          <p:cNvPr id="650" name="line-312"/>
          <p:cNvSpPr>
            <a:spLocks noGrp="1"/>
          </p:cNvSpPr>
          <p:nvPr/>
        </p:nvSpPr>
        <p:spPr>
          <a:xfrm>
            <a:off x="15906750" y="298704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1" name="line-313"/>
          <p:cNvSpPr>
            <a:spLocks noGrp="1"/>
          </p:cNvSpPr>
          <p:nvPr/>
        </p:nvSpPr>
        <p:spPr>
          <a:xfrm>
            <a:off x="15906750" y="2781300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52" name="line-314"/>
          <p:cNvSpPr>
            <a:spLocks noGrp="1"/>
          </p:cNvSpPr>
          <p:nvPr/>
        </p:nvSpPr>
        <p:spPr>
          <a:xfrm>
            <a:off x="16130588" y="2781300"/>
            <a:ext cx="223838" cy="102870"/>
          </a:xfrm>
          <a:custGeom>
            <a:avLst/>
            <a:gdLst/>
            <a:ahLst/>
            <a:cxnLst/>
            <a:pathLst>
              <a:path w="223838" h="102870">
                <a:moveTo>
                  <a:pt x="0" y="0"/>
                </a:moveTo>
                <a:lnTo>
                  <a:pt x="223838" y="10287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53" name="resource node"/>
          <p:cNvSpPr>
            <a:spLocks noGrp="1"/>
          </p:cNvSpPr>
          <p:nvPr/>
        </p:nvSpPr>
        <p:spPr>
          <a:xfrm>
            <a:off x="15884843" y="2939415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54" name="resource node"/>
          <p:cNvSpPr>
            <a:spLocks noGrp="1"/>
          </p:cNvSpPr>
          <p:nvPr/>
        </p:nvSpPr>
        <p:spPr>
          <a:xfrm>
            <a:off x="16108680" y="2759392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55" name="resource node"/>
          <p:cNvSpPr>
            <a:spLocks noGrp="1"/>
          </p:cNvSpPr>
          <p:nvPr/>
        </p:nvSpPr>
        <p:spPr>
          <a:xfrm>
            <a:off x="16332518" y="2862263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56" name="line-315"/>
          <p:cNvSpPr>
            <a:spLocks noGrp="1"/>
          </p:cNvSpPr>
          <p:nvPr/>
        </p:nvSpPr>
        <p:spPr>
          <a:xfrm>
            <a:off x="16630650" y="298704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7" name="line-316"/>
          <p:cNvSpPr>
            <a:spLocks noGrp="1"/>
          </p:cNvSpPr>
          <p:nvPr/>
        </p:nvSpPr>
        <p:spPr>
          <a:xfrm>
            <a:off x="16630650" y="2781300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58" name="line-317"/>
          <p:cNvSpPr>
            <a:spLocks noGrp="1"/>
          </p:cNvSpPr>
          <p:nvPr/>
        </p:nvSpPr>
        <p:spPr>
          <a:xfrm>
            <a:off x="16854488" y="2871311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59" name="resource node"/>
          <p:cNvSpPr>
            <a:spLocks noGrp="1"/>
          </p:cNvSpPr>
          <p:nvPr/>
        </p:nvSpPr>
        <p:spPr>
          <a:xfrm>
            <a:off x="16608743" y="2759392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60" name="resource node"/>
          <p:cNvSpPr>
            <a:spLocks noGrp="1"/>
          </p:cNvSpPr>
          <p:nvPr/>
        </p:nvSpPr>
        <p:spPr>
          <a:xfrm>
            <a:off x="16832580" y="2849404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61" name="resource node"/>
          <p:cNvSpPr>
            <a:spLocks noGrp="1"/>
          </p:cNvSpPr>
          <p:nvPr/>
        </p:nvSpPr>
        <p:spPr>
          <a:xfrm>
            <a:off x="17056418" y="2939415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62" name="line-318"/>
          <p:cNvSpPr>
            <a:spLocks noGrp="1"/>
          </p:cNvSpPr>
          <p:nvPr/>
        </p:nvSpPr>
        <p:spPr>
          <a:xfrm>
            <a:off x="17354550" y="298704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63" name="line-319"/>
          <p:cNvSpPr>
            <a:spLocks noGrp="1"/>
          </p:cNvSpPr>
          <p:nvPr/>
        </p:nvSpPr>
        <p:spPr>
          <a:xfrm>
            <a:off x="17354550" y="2935605"/>
            <a:ext cx="223838" cy="25717"/>
          </a:xfrm>
          <a:custGeom>
            <a:avLst/>
            <a:gdLst/>
            <a:ahLst/>
            <a:cxnLst/>
            <a:pathLst>
              <a:path w="223838" h="25717">
                <a:moveTo>
                  <a:pt x="0" y="25717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64" name="line-320"/>
          <p:cNvSpPr>
            <a:spLocks noGrp="1"/>
          </p:cNvSpPr>
          <p:nvPr/>
        </p:nvSpPr>
        <p:spPr>
          <a:xfrm>
            <a:off x="17578388" y="2755583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21260">
            <a:solidFill>
              <a:srgbClr val="B96A43"/>
            </a:solidFill>
            <a:prstDash val="solid"/>
          </a:ln>
        </p:spPr>
      </p:sp>
      <p:sp>
        <p:nvSpPr>
          <p:cNvPr id="665" name="resource node"/>
          <p:cNvSpPr>
            <a:spLocks noGrp="1"/>
          </p:cNvSpPr>
          <p:nvPr/>
        </p:nvSpPr>
        <p:spPr>
          <a:xfrm>
            <a:off x="17332643" y="2939415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66" name="resource node"/>
          <p:cNvSpPr>
            <a:spLocks noGrp="1"/>
          </p:cNvSpPr>
          <p:nvPr/>
        </p:nvSpPr>
        <p:spPr>
          <a:xfrm>
            <a:off x="17556480" y="2913698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67" name="resource node"/>
          <p:cNvSpPr>
            <a:spLocks noGrp="1"/>
          </p:cNvSpPr>
          <p:nvPr/>
        </p:nvSpPr>
        <p:spPr>
          <a:xfrm>
            <a:off x="17780318" y="2733675"/>
            <a:ext cx="43815" cy="43815"/>
          </a:xfrm>
          <a:prstGeom prst="ellipse">
            <a:avLst/>
          </a:prstGeom>
          <a:solidFill>
            <a:srgbClr val="B96A43"/>
          </a:solidFill>
          <a:ln w="16535">
            <a:solidFill>
              <a:srgbClr val="B96A43"/>
            </a:solidFill>
          </a:ln>
        </p:spPr>
      </p:sp>
      <p:sp>
        <p:nvSpPr>
          <p:cNvPr id="668" name="shape-321"/>
          <p:cNvSpPr>
            <a:spLocks noGrp="1"/>
          </p:cNvSpPr>
          <p:nvPr/>
        </p:nvSpPr>
        <p:spPr>
          <a:xfrm>
            <a:off x="13296900" y="3225165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9" name="shape-322"/>
          <p:cNvSpPr>
            <a:spLocks noGrp="1"/>
          </p:cNvSpPr>
          <p:nvPr/>
        </p:nvSpPr>
        <p:spPr>
          <a:xfrm>
            <a:off x="13382625" y="3225165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0" name="shape-323"/>
          <p:cNvSpPr>
            <a:spLocks noGrp="1"/>
          </p:cNvSpPr>
          <p:nvPr/>
        </p:nvSpPr>
        <p:spPr>
          <a:xfrm>
            <a:off x="13468350" y="32251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1" name="shape-324"/>
          <p:cNvSpPr>
            <a:spLocks noGrp="1"/>
          </p:cNvSpPr>
          <p:nvPr/>
        </p:nvSpPr>
        <p:spPr>
          <a:xfrm>
            <a:off x="13554075" y="3225165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2" name="shape-325"/>
          <p:cNvSpPr>
            <a:spLocks noGrp="1"/>
          </p:cNvSpPr>
          <p:nvPr/>
        </p:nvSpPr>
        <p:spPr>
          <a:xfrm>
            <a:off x="13296900" y="3310890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3" name="shape-326"/>
          <p:cNvSpPr>
            <a:spLocks noGrp="1"/>
          </p:cNvSpPr>
          <p:nvPr/>
        </p:nvSpPr>
        <p:spPr>
          <a:xfrm>
            <a:off x="13382625" y="3310890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4" name="shape-327"/>
          <p:cNvSpPr>
            <a:spLocks noGrp="1"/>
          </p:cNvSpPr>
          <p:nvPr/>
        </p:nvSpPr>
        <p:spPr>
          <a:xfrm>
            <a:off x="13468350" y="331089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5" name="shape-328"/>
          <p:cNvSpPr>
            <a:spLocks noGrp="1"/>
          </p:cNvSpPr>
          <p:nvPr/>
        </p:nvSpPr>
        <p:spPr>
          <a:xfrm>
            <a:off x="13554075" y="3310890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6" name="shape-329"/>
          <p:cNvSpPr>
            <a:spLocks noGrp="1"/>
          </p:cNvSpPr>
          <p:nvPr/>
        </p:nvSpPr>
        <p:spPr>
          <a:xfrm>
            <a:off x="13296900" y="3396615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7" name="shape-330"/>
          <p:cNvSpPr>
            <a:spLocks noGrp="1"/>
          </p:cNvSpPr>
          <p:nvPr/>
        </p:nvSpPr>
        <p:spPr>
          <a:xfrm>
            <a:off x="13382625" y="3396615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8" name="shape-331"/>
          <p:cNvSpPr>
            <a:spLocks noGrp="1"/>
          </p:cNvSpPr>
          <p:nvPr/>
        </p:nvSpPr>
        <p:spPr>
          <a:xfrm>
            <a:off x="13468350" y="339661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9" name="shape-332"/>
          <p:cNvSpPr>
            <a:spLocks noGrp="1"/>
          </p:cNvSpPr>
          <p:nvPr/>
        </p:nvSpPr>
        <p:spPr>
          <a:xfrm>
            <a:off x="13554075" y="3396615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0" name="shape-333"/>
          <p:cNvSpPr>
            <a:spLocks noGrp="1"/>
          </p:cNvSpPr>
          <p:nvPr/>
        </p:nvSpPr>
        <p:spPr>
          <a:xfrm>
            <a:off x="13296900" y="348234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1" name="shape-334"/>
          <p:cNvSpPr>
            <a:spLocks noGrp="1"/>
          </p:cNvSpPr>
          <p:nvPr/>
        </p:nvSpPr>
        <p:spPr>
          <a:xfrm>
            <a:off x="13382625" y="348234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2" name="shape-335"/>
          <p:cNvSpPr>
            <a:spLocks noGrp="1"/>
          </p:cNvSpPr>
          <p:nvPr/>
        </p:nvSpPr>
        <p:spPr>
          <a:xfrm>
            <a:off x="13468350" y="348234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3" name="shape-336"/>
          <p:cNvSpPr>
            <a:spLocks noGrp="1"/>
          </p:cNvSpPr>
          <p:nvPr/>
        </p:nvSpPr>
        <p:spPr>
          <a:xfrm>
            <a:off x="13554075" y="348234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4" name="shape-337"/>
          <p:cNvSpPr>
            <a:spLocks noGrp="1"/>
          </p:cNvSpPr>
          <p:nvPr/>
        </p:nvSpPr>
        <p:spPr>
          <a:xfrm>
            <a:off x="13296900" y="3568065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5" name="shape-338"/>
          <p:cNvSpPr>
            <a:spLocks noGrp="1"/>
          </p:cNvSpPr>
          <p:nvPr/>
        </p:nvSpPr>
        <p:spPr>
          <a:xfrm>
            <a:off x="13382625" y="3568065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6" name="shape-339"/>
          <p:cNvSpPr>
            <a:spLocks noGrp="1"/>
          </p:cNvSpPr>
          <p:nvPr/>
        </p:nvSpPr>
        <p:spPr>
          <a:xfrm>
            <a:off x="13468350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7" name="shape-340"/>
          <p:cNvSpPr>
            <a:spLocks noGrp="1"/>
          </p:cNvSpPr>
          <p:nvPr/>
        </p:nvSpPr>
        <p:spPr>
          <a:xfrm>
            <a:off x="13554075" y="3568065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8" name="shape-341"/>
          <p:cNvSpPr>
            <a:spLocks noGrp="1"/>
          </p:cNvSpPr>
          <p:nvPr/>
        </p:nvSpPr>
        <p:spPr>
          <a:xfrm>
            <a:off x="13296900" y="3653790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9" name="shape-342"/>
          <p:cNvSpPr>
            <a:spLocks noGrp="1"/>
          </p:cNvSpPr>
          <p:nvPr/>
        </p:nvSpPr>
        <p:spPr>
          <a:xfrm>
            <a:off x="13382625" y="3653790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0" name="shape-343"/>
          <p:cNvSpPr>
            <a:spLocks noGrp="1"/>
          </p:cNvSpPr>
          <p:nvPr/>
        </p:nvSpPr>
        <p:spPr>
          <a:xfrm>
            <a:off x="13468350" y="365379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1" name="shape-344"/>
          <p:cNvSpPr>
            <a:spLocks noGrp="1"/>
          </p:cNvSpPr>
          <p:nvPr/>
        </p:nvSpPr>
        <p:spPr>
          <a:xfrm>
            <a:off x="13554075" y="3653790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2" name="shape-345"/>
          <p:cNvSpPr>
            <a:spLocks noGrp="1"/>
          </p:cNvSpPr>
          <p:nvPr/>
        </p:nvSpPr>
        <p:spPr>
          <a:xfrm>
            <a:off x="13296900" y="3225165"/>
            <a:ext cx="342900" cy="5143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693" name="shape-346"/>
          <p:cNvSpPr>
            <a:spLocks noGrp="1"/>
          </p:cNvSpPr>
          <p:nvPr/>
        </p:nvSpPr>
        <p:spPr>
          <a:xfrm>
            <a:off x="15792450" y="3310890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4" name="shape-347"/>
          <p:cNvSpPr>
            <a:spLocks noGrp="1"/>
          </p:cNvSpPr>
          <p:nvPr/>
        </p:nvSpPr>
        <p:spPr>
          <a:xfrm>
            <a:off x="15878175" y="3310890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5" name="shape-348"/>
          <p:cNvSpPr>
            <a:spLocks noGrp="1"/>
          </p:cNvSpPr>
          <p:nvPr/>
        </p:nvSpPr>
        <p:spPr>
          <a:xfrm>
            <a:off x="15963900" y="331089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6" name="shape-349"/>
          <p:cNvSpPr>
            <a:spLocks noGrp="1"/>
          </p:cNvSpPr>
          <p:nvPr/>
        </p:nvSpPr>
        <p:spPr>
          <a:xfrm>
            <a:off x="16049625" y="3310890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7" name="shape-350"/>
          <p:cNvSpPr>
            <a:spLocks noGrp="1"/>
          </p:cNvSpPr>
          <p:nvPr/>
        </p:nvSpPr>
        <p:spPr>
          <a:xfrm>
            <a:off x="15792450" y="3396615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8" name="shape-351"/>
          <p:cNvSpPr>
            <a:spLocks noGrp="1"/>
          </p:cNvSpPr>
          <p:nvPr/>
        </p:nvSpPr>
        <p:spPr>
          <a:xfrm>
            <a:off x="15878175" y="3396615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9" name="shape-352"/>
          <p:cNvSpPr>
            <a:spLocks noGrp="1"/>
          </p:cNvSpPr>
          <p:nvPr/>
        </p:nvSpPr>
        <p:spPr>
          <a:xfrm>
            <a:off x="15963900" y="339661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0" name="shape-353"/>
          <p:cNvSpPr>
            <a:spLocks noGrp="1"/>
          </p:cNvSpPr>
          <p:nvPr/>
        </p:nvSpPr>
        <p:spPr>
          <a:xfrm>
            <a:off x="16049625" y="3396615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1" name="shape-354"/>
          <p:cNvSpPr>
            <a:spLocks noGrp="1"/>
          </p:cNvSpPr>
          <p:nvPr/>
        </p:nvSpPr>
        <p:spPr>
          <a:xfrm>
            <a:off x="15792450" y="3482340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2" name="shape-355"/>
          <p:cNvSpPr>
            <a:spLocks noGrp="1"/>
          </p:cNvSpPr>
          <p:nvPr/>
        </p:nvSpPr>
        <p:spPr>
          <a:xfrm>
            <a:off x="15878175" y="3482340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3" name="shape-356"/>
          <p:cNvSpPr>
            <a:spLocks noGrp="1"/>
          </p:cNvSpPr>
          <p:nvPr/>
        </p:nvSpPr>
        <p:spPr>
          <a:xfrm>
            <a:off x="15963900" y="348234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4" name="shape-357"/>
          <p:cNvSpPr>
            <a:spLocks noGrp="1"/>
          </p:cNvSpPr>
          <p:nvPr/>
        </p:nvSpPr>
        <p:spPr>
          <a:xfrm>
            <a:off x="16049625" y="3482340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5" name="shape-358"/>
          <p:cNvSpPr>
            <a:spLocks noGrp="1"/>
          </p:cNvSpPr>
          <p:nvPr/>
        </p:nvSpPr>
        <p:spPr>
          <a:xfrm>
            <a:off x="15792450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6" name="shape-359"/>
          <p:cNvSpPr>
            <a:spLocks noGrp="1"/>
          </p:cNvSpPr>
          <p:nvPr/>
        </p:nvSpPr>
        <p:spPr>
          <a:xfrm>
            <a:off x="15878175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7" name="shape-360"/>
          <p:cNvSpPr>
            <a:spLocks noGrp="1"/>
          </p:cNvSpPr>
          <p:nvPr/>
        </p:nvSpPr>
        <p:spPr>
          <a:xfrm>
            <a:off x="15963900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8" name="shape-361"/>
          <p:cNvSpPr>
            <a:spLocks noGrp="1"/>
          </p:cNvSpPr>
          <p:nvPr/>
        </p:nvSpPr>
        <p:spPr>
          <a:xfrm>
            <a:off x="16049625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9" name="shape-362"/>
          <p:cNvSpPr>
            <a:spLocks noGrp="1"/>
          </p:cNvSpPr>
          <p:nvPr/>
        </p:nvSpPr>
        <p:spPr>
          <a:xfrm>
            <a:off x="15792450" y="3310890"/>
            <a:ext cx="342900" cy="3429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710" name="shape-363"/>
          <p:cNvSpPr>
            <a:spLocks noGrp="1"/>
          </p:cNvSpPr>
          <p:nvPr/>
        </p:nvSpPr>
        <p:spPr>
          <a:xfrm>
            <a:off x="17430750" y="3310890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1" name="shape-364"/>
          <p:cNvSpPr>
            <a:spLocks noGrp="1"/>
          </p:cNvSpPr>
          <p:nvPr/>
        </p:nvSpPr>
        <p:spPr>
          <a:xfrm>
            <a:off x="17516475" y="3310890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2" name="shape-365"/>
          <p:cNvSpPr>
            <a:spLocks noGrp="1"/>
          </p:cNvSpPr>
          <p:nvPr/>
        </p:nvSpPr>
        <p:spPr>
          <a:xfrm>
            <a:off x="17602200" y="331089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3" name="shape-366"/>
          <p:cNvSpPr>
            <a:spLocks noGrp="1"/>
          </p:cNvSpPr>
          <p:nvPr/>
        </p:nvSpPr>
        <p:spPr>
          <a:xfrm>
            <a:off x="17687925" y="3310890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4" name="shape-367"/>
          <p:cNvSpPr>
            <a:spLocks noGrp="1"/>
          </p:cNvSpPr>
          <p:nvPr/>
        </p:nvSpPr>
        <p:spPr>
          <a:xfrm>
            <a:off x="17430750" y="3396615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5" name="shape-368"/>
          <p:cNvSpPr>
            <a:spLocks noGrp="1"/>
          </p:cNvSpPr>
          <p:nvPr/>
        </p:nvSpPr>
        <p:spPr>
          <a:xfrm>
            <a:off x="17516475" y="3396615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6" name="shape-369"/>
          <p:cNvSpPr>
            <a:spLocks noGrp="1"/>
          </p:cNvSpPr>
          <p:nvPr/>
        </p:nvSpPr>
        <p:spPr>
          <a:xfrm>
            <a:off x="17602200" y="339661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7" name="shape-370"/>
          <p:cNvSpPr>
            <a:spLocks noGrp="1"/>
          </p:cNvSpPr>
          <p:nvPr/>
        </p:nvSpPr>
        <p:spPr>
          <a:xfrm>
            <a:off x="17687925" y="3396615"/>
            <a:ext cx="85725" cy="8572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8" name="shape-371"/>
          <p:cNvSpPr>
            <a:spLocks noGrp="1"/>
          </p:cNvSpPr>
          <p:nvPr/>
        </p:nvSpPr>
        <p:spPr>
          <a:xfrm>
            <a:off x="17430750" y="3482340"/>
            <a:ext cx="85725" cy="8572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9" name="shape-372"/>
          <p:cNvSpPr>
            <a:spLocks noGrp="1"/>
          </p:cNvSpPr>
          <p:nvPr/>
        </p:nvSpPr>
        <p:spPr>
          <a:xfrm>
            <a:off x="17516475" y="3482340"/>
            <a:ext cx="85725" cy="8572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0" name="shape-373"/>
          <p:cNvSpPr>
            <a:spLocks noGrp="1"/>
          </p:cNvSpPr>
          <p:nvPr/>
        </p:nvSpPr>
        <p:spPr>
          <a:xfrm>
            <a:off x="17602200" y="3482340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1" name="shape-374"/>
          <p:cNvSpPr>
            <a:spLocks noGrp="1"/>
          </p:cNvSpPr>
          <p:nvPr/>
        </p:nvSpPr>
        <p:spPr>
          <a:xfrm>
            <a:off x="17687925" y="3482340"/>
            <a:ext cx="85725" cy="8572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2" name="shape-375"/>
          <p:cNvSpPr>
            <a:spLocks noGrp="1"/>
          </p:cNvSpPr>
          <p:nvPr/>
        </p:nvSpPr>
        <p:spPr>
          <a:xfrm>
            <a:off x="17430750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3" name="shape-376"/>
          <p:cNvSpPr>
            <a:spLocks noGrp="1"/>
          </p:cNvSpPr>
          <p:nvPr/>
        </p:nvSpPr>
        <p:spPr>
          <a:xfrm>
            <a:off x="17516475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4" name="shape-377"/>
          <p:cNvSpPr>
            <a:spLocks noGrp="1"/>
          </p:cNvSpPr>
          <p:nvPr/>
        </p:nvSpPr>
        <p:spPr>
          <a:xfrm>
            <a:off x="17602200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5" name="shape-378"/>
          <p:cNvSpPr>
            <a:spLocks noGrp="1"/>
          </p:cNvSpPr>
          <p:nvPr/>
        </p:nvSpPr>
        <p:spPr>
          <a:xfrm>
            <a:off x="17687925" y="3568065"/>
            <a:ext cx="85725" cy="8572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6" name="shape-379"/>
          <p:cNvSpPr>
            <a:spLocks noGrp="1"/>
          </p:cNvSpPr>
          <p:nvPr/>
        </p:nvSpPr>
        <p:spPr>
          <a:xfrm>
            <a:off x="17430750" y="3310890"/>
            <a:ext cx="342900" cy="3429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727" name="Qᴾ"/>
          <p:cNvSpPr>
            <a:spLocks noGrp="1"/>
          </p:cNvSpPr>
          <p:nvPr/>
        </p:nvSpPr>
        <p:spPr>
          <a:xfrm>
            <a:off x="12849225" y="3358515"/>
            <a:ext cx="3905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Qᴾ</a:t>
            </a:r>
            <a:endParaRPr sz="1700" b="0" i="1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28" name="Kᴾ"/>
          <p:cNvSpPr>
            <a:spLocks noGrp="1"/>
          </p:cNvSpPr>
          <p:nvPr/>
        </p:nvSpPr>
        <p:spPr>
          <a:xfrm>
            <a:off x="15325725" y="335851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Kᴾ</a:t>
            </a:r>
            <a:endParaRPr sz="1700" b="0" i="1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29" name="Vᴾ"/>
          <p:cNvSpPr>
            <a:spLocks noGrp="1"/>
          </p:cNvSpPr>
          <p:nvPr/>
        </p:nvSpPr>
        <p:spPr>
          <a:xfrm>
            <a:off x="17849850" y="335851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00" b="0" i="1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Vᴾ</a:t>
            </a:r>
            <a:endParaRPr sz="1700" b="0" i="1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30" name="38 × 20"/>
          <p:cNvSpPr>
            <a:spLocks noGrp="1"/>
          </p:cNvSpPr>
          <p:nvPr/>
        </p:nvSpPr>
        <p:spPr>
          <a:xfrm>
            <a:off x="13049250" y="3796665"/>
            <a:ext cx="8667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38 × 20</a:t>
            </a:r>
            <a:endParaRPr sz="130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31" name="16 × 20"/>
          <p:cNvSpPr>
            <a:spLocks noGrp="1"/>
          </p:cNvSpPr>
          <p:nvPr/>
        </p:nvSpPr>
        <p:spPr>
          <a:xfrm>
            <a:off x="15506700" y="379666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 × 20</a:t>
            </a:r>
            <a:endParaRPr sz="130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32" name="16 × 20"/>
          <p:cNvSpPr>
            <a:spLocks noGrp="1"/>
          </p:cNvSpPr>
          <p:nvPr/>
        </p:nvSpPr>
        <p:spPr>
          <a:xfrm>
            <a:off x="17145000" y="379666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 × 20</a:t>
            </a:r>
            <a:endParaRPr sz="130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33" name="query-patch-to-q"/>
          <p:cNvCxnSpPr/>
          <p:nvPr/>
        </p:nvCxnSpPr>
        <p:spPr>
          <a:xfrm>
            <a:off x="13468350" y="3015615"/>
            <a:ext cx="285750" cy="209550"/>
          </a:xfrm>
          <a:custGeom>
            <a:avLst/>
            <a:gdLst/>
            <a:ahLst/>
            <a:cxnLst/>
            <a:pathLst>
              <a:path w="285750" h="209550" fill="none">
                <a:moveTo>
                  <a:pt x="285750" y="0"/>
                </a:moveTo>
                <a:lnTo>
                  <a:pt x="0" y="20955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cxnSp>
        <p:nvCxnSpPr>
          <p:cNvPr id="738" name="prototype-to-k"/>
          <p:cNvCxnSpPr/>
          <p:nvPr/>
        </p:nvCxnSpPr>
        <p:spPr>
          <a:xfrm>
            <a:off x="15963900" y="3015615"/>
            <a:ext cx="895350" cy="295275"/>
          </a:xfrm>
          <a:custGeom>
            <a:avLst/>
            <a:gdLst/>
            <a:ahLst/>
            <a:cxnLst/>
            <a:pathLst>
              <a:path w="895350" h="295275" fill="none">
                <a:moveTo>
                  <a:pt x="895350" y="0"/>
                </a:moveTo>
                <a:lnTo>
                  <a:pt x="0" y="295275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cxnSp>
        <p:nvCxnSpPr>
          <p:cNvPr id="743" name="prototype-to-v"/>
          <p:cNvCxnSpPr/>
          <p:nvPr/>
        </p:nvCxnSpPr>
        <p:spPr>
          <a:xfrm>
            <a:off x="16859250" y="3015615"/>
            <a:ext cx="742950" cy="295275"/>
          </a:xfrm>
          <a:custGeom>
            <a:avLst/>
            <a:gdLst/>
            <a:ahLst/>
            <a:cxnLst/>
            <a:pathLst>
              <a:path w="742950" h="295275" fill="none">
                <a:moveTo>
                  <a:pt x="0" y="0"/>
                </a:moveTo>
                <a:lnTo>
                  <a:pt x="742950" y="295275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747" name="αᴾ = softmax(Qᴾ Kᴾᵀ / √dₕ)"/>
          <p:cNvSpPr>
            <a:spLocks noGrp="1"/>
          </p:cNvSpPr>
          <p:nvPr/>
        </p:nvSpPr>
        <p:spPr>
          <a:xfrm>
            <a:off x="13649325" y="4149090"/>
            <a:ext cx="3238500" cy="361950"/>
          </a:xfrm>
          <a:prstGeom prst="rect">
            <a:avLst/>
          </a:prstGeom>
          <a:solidFill>
            <a:srgbClr val="F5DFCE"/>
          </a:solidFill>
          <a:ln w="15355">
            <a:solidFill>
              <a:srgbClr val="B96A43"/>
            </a:solidFill>
            <a:prstDash val="solid"/>
          </a:ln>
        </p:spPr>
      </p:sp>
      <p:sp>
        <p:nvSpPr>
          <p:cNvPr id="748" name="αᴾ = softmax(Qᴾ Kᴾᵀ / √dₕ)"/>
          <p:cNvSpPr>
            <a:spLocks noGrp="1"/>
          </p:cNvSpPr>
          <p:nvPr/>
        </p:nvSpPr>
        <p:spPr>
          <a:xfrm>
            <a:off x="13687425" y="416814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αᴾ = softmax(Qᴾ Kᴾᵀ / √d</a:t>
            </a:r>
            <a:r>
              <a:rPr sz="1330" b="0" i="0" baseline="-2500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9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749" name="q-to-pattern-scores"/>
          <p:cNvCxnSpPr/>
          <p:nvPr/>
        </p:nvCxnSpPr>
        <p:spPr>
          <a:xfrm>
            <a:off x="13639800" y="3472815"/>
            <a:ext cx="762000" cy="676275"/>
          </a:xfrm>
          <a:custGeom>
            <a:avLst/>
            <a:gdLst/>
            <a:ahLst/>
            <a:cxnLst/>
            <a:pathLst>
              <a:path w="762000" h="676275" fill="none">
                <a:moveTo>
                  <a:pt x="0" y="0"/>
                </a:moveTo>
                <a:lnTo>
                  <a:pt x="762000" y="676275"/>
                </a:lnTo>
              </a:path>
            </a:pathLst>
          </a:custGeom>
          <a:noFill/>
          <a:ln w="13583">
            <a:solidFill>
              <a:srgbClr val="B96A43"/>
            </a:solidFill>
            <a:prstDash val="solid"/>
            <a:tailEnd type="arrow" w="sm" len="sm"/>
          </a:ln>
        </p:spPr>
      </p:cxnSp>
      <p:cxnSp>
        <p:nvCxnSpPr>
          <p:cNvPr id="754" name="k-to-pattern-scores"/>
          <p:cNvCxnSpPr/>
          <p:nvPr/>
        </p:nvCxnSpPr>
        <p:spPr>
          <a:xfrm>
            <a:off x="15963900" y="4015740"/>
            <a:ext cx="1" cy="133350"/>
          </a:xfrm>
          <a:custGeom>
            <a:avLst/>
            <a:gdLst/>
            <a:ahLst/>
            <a:cxnLst/>
            <a:pathLst>
              <a:path w="1" h="133350" fill="none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3583">
            <a:solidFill>
              <a:srgbClr val="B96A43"/>
            </a:solidFill>
            <a:prstDash val="solid"/>
            <a:tailEnd type="arrow" w="sm" len="sm"/>
          </a:ln>
        </p:spPr>
      </p:cxnSp>
      <p:cxnSp>
        <p:nvCxnSpPr>
          <p:cNvPr id="757" name="scores-to-weights"/>
          <p:cNvCxnSpPr/>
          <p:nvPr/>
        </p:nvCxnSpPr>
        <p:spPr>
          <a:xfrm>
            <a:off x="14154150" y="4511040"/>
            <a:ext cx="647700" cy="228600"/>
          </a:xfrm>
          <a:custGeom>
            <a:avLst/>
            <a:gdLst/>
            <a:ahLst/>
            <a:cxnLst/>
            <a:pathLst>
              <a:path w="647700" h="228600" fill="none">
                <a:moveTo>
                  <a:pt x="647700" y="0"/>
                </a:moveTo>
                <a:lnTo>
                  <a:pt x="0" y="22860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762" name="shape-407"/>
          <p:cNvSpPr>
            <a:spLocks noGrp="1"/>
          </p:cNvSpPr>
          <p:nvPr/>
        </p:nvSpPr>
        <p:spPr>
          <a:xfrm>
            <a:off x="13620750" y="47396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3" name="shape-408"/>
          <p:cNvSpPr>
            <a:spLocks noGrp="1"/>
          </p:cNvSpPr>
          <p:nvPr/>
        </p:nvSpPr>
        <p:spPr>
          <a:xfrm>
            <a:off x="13687425" y="47396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4" name="shape-409"/>
          <p:cNvSpPr>
            <a:spLocks noGrp="1"/>
          </p:cNvSpPr>
          <p:nvPr/>
        </p:nvSpPr>
        <p:spPr>
          <a:xfrm>
            <a:off x="13754100" y="473964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5" name="shape-410"/>
          <p:cNvSpPr>
            <a:spLocks noGrp="1"/>
          </p:cNvSpPr>
          <p:nvPr/>
        </p:nvSpPr>
        <p:spPr>
          <a:xfrm>
            <a:off x="13820775" y="473964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6" name="shape-411"/>
          <p:cNvSpPr>
            <a:spLocks noGrp="1"/>
          </p:cNvSpPr>
          <p:nvPr/>
        </p:nvSpPr>
        <p:spPr>
          <a:xfrm>
            <a:off x="13887450" y="473964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7" name="shape-412"/>
          <p:cNvSpPr>
            <a:spLocks noGrp="1"/>
          </p:cNvSpPr>
          <p:nvPr/>
        </p:nvSpPr>
        <p:spPr>
          <a:xfrm>
            <a:off x="13954125" y="47396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8" name="shape-413"/>
          <p:cNvSpPr>
            <a:spLocks noGrp="1"/>
          </p:cNvSpPr>
          <p:nvPr/>
        </p:nvSpPr>
        <p:spPr>
          <a:xfrm>
            <a:off x="14020800" y="47396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9" name="shape-414"/>
          <p:cNvSpPr>
            <a:spLocks noGrp="1"/>
          </p:cNvSpPr>
          <p:nvPr/>
        </p:nvSpPr>
        <p:spPr>
          <a:xfrm>
            <a:off x="14087475" y="473964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0" name="shape-415"/>
          <p:cNvSpPr>
            <a:spLocks noGrp="1"/>
          </p:cNvSpPr>
          <p:nvPr/>
        </p:nvSpPr>
        <p:spPr>
          <a:xfrm>
            <a:off x="14154150" y="473964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1" name="shape-416"/>
          <p:cNvSpPr>
            <a:spLocks noGrp="1"/>
          </p:cNvSpPr>
          <p:nvPr/>
        </p:nvSpPr>
        <p:spPr>
          <a:xfrm>
            <a:off x="14220825" y="473964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2" name="shape-417"/>
          <p:cNvSpPr>
            <a:spLocks noGrp="1"/>
          </p:cNvSpPr>
          <p:nvPr/>
        </p:nvSpPr>
        <p:spPr>
          <a:xfrm>
            <a:off x="14287500" y="47396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3" name="shape-418"/>
          <p:cNvSpPr>
            <a:spLocks noGrp="1"/>
          </p:cNvSpPr>
          <p:nvPr/>
        </p:nvSpPr>
        <p:spPr>
          <a:xfrm>
            <a:off x="14354175" y="47396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4" name="shape-419"/>
          <p:cNvSpPr>
            <a:spLocks noGrp="1"/>
          </p:cNvSpPr>
          <p:nvPr/>
        </p:nvSpPr>
        <p:spPr>
          <a:xfrm>
            <a:off x="14420850" y="473964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5" name="shape-420"/>
          <p:cNvSpPr>
            <a:spLocks noGrp="1"/>
          </p:cNvSpPr>
          <p:nvPr/>
        </p:nvSpPr>
        <p:spPr>
          <a:xfrm>
            <a:off x="14487525" y="473964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6" name="shape-421"/>
          <p:cNvSpPr>
            <a:spLocks noGrp="1"/>
          </p:cNvSpPr>
          <p:nvPr/>
        </p:nvSpPr>
        <p:spPr>
          <a:xfrm>
            <a:off x="14554200" y="473964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7" name="shape-422"/>
          <p:cNvSpPr>
            <a:spLocks noGrp="1"/>
          </p:cNvSpPr>
          <p:nvPr/>
        </p:nvSpPr>
        <p:spPr>
          <a:xfrm>
            <a:off x="14620875" y="47396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8" name="shape-423"/>
          <p:cNvSpPr>
            <a:spLocks noGrp="1"/>
          </p:cNvSpPr>
          <p:nvPr/>
        </p:nvSpPr>
        <p:spPr>
          <a:xfrm>
            <a:off x="13620750" y="48063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9" name="shape-424"/>
          <p:cNvSpPr>
            <a:spLocks noGrp="1"/>
          </p:cNvSpPr>
          <p:nvPr/>
        </p:nvSpPr>
        <p:spPr>
          <a:xfrm>
            <a:off x="13687425" y="4806315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0" name="shape-425"/>
          <p:cNvSpPr>
            <a:spLocks noGrp="1"/>
          </p:cNvSpPr>
          <p:nvPr/>
        </p:nvSpPr>
        <p:spPr>
          <a:xfrm>
            <a:off x="13754100" y="480631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1" name="shape-426"/>
          <p:cNvSpPr>
            <a:spLocks noGrp="1"/>
          </p:cNvSpPr>
          <p:nvPr/>
        </p:nvSpPr>
        <p:spPr>
          <a:xfrm>
            <a:off x="13820775" y="4806315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2" name="shape-427"/>
          <p:cNvSpPr>
            <a:spLocks noGrp="1"/>
          </p:cNvSpPr>
          <p:nvPr/>
        </p:nvSpPr>
        <p:spPr>
          <a:xfrm>
            <a:off x="13887450" y="48063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3" name="shape-428"/>
          <p:cNvSpPr>
            <a:spLocks noGrp="1"/>
          </p:cNvSpPr>
          <p:nvPr/>
        </p:nvSpPr>
        <p:spPr>
          <a:xfrm>
            <a:off x="13954125" y="48063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4" name="shape-429"/>
          <p:cNvSpPr>
            <a:spLocks noGrp="1"/>
          </p:cNvSpPr>
          <p:nvPr/>
        </p:nvSpPr>
        <p:spPr>
          <a:xfrm>
            <a:off x="14020800" y="4806315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5" name="shape-430"/>
          <p:cNvSpPr>
            <a:spLocks noGrp="1"/>
          </p:cNvSpPr>
          <p:nvPr/>
        </p:nvSpPr>
        <p:spPr>
          <a:xfrm>
            <a:off x="14087475" y="480631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6" name="shape-431"/>
          <p:cNvSpPr>
            <a:spLocks noGrp="1"/>
          </p:cNvSpPr>
          <p:nvPr/>
        </p:nvSpPr>
        <p:spPr>
          <a:xfrm>
            <a:off x="14154150" y="4806315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7" name="shape-432"/>
          <p:cNvSpPr>
            <a:spLocks noGrp="1"/>
          </p:cNvSpPr>
          <p:nvPr/>
        </p:nvSpPr>
        <p:spPr>
          <a:xfrm>
            <a:off x="14220825" y="48063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8" name="shape-433"/>
          <p:cNvSpPr>
            <a:spLocks noGrp="1"/>
          </p:cNvSpPr>
          <p:nvPr/>
        </p:nvSpPr>
        <p:spPr>
          <a:xfrm>
            <a:off x="14287500" y="48063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9" name="shape-434"/>
          <p:cNvSpPr>
            <a:spLocks noGrp="1"/>
          </p:cNvSpPr>
          <p:nvPr/>
        </p:nvSpPr>
        <p:spPr>
          <a:xfrm>
            <a:off x="14354175" y="4806315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0" name="shape-435"/>
          <p:cNvSpPr>
            <a:spLocks noGrp="1"/>
          </p:cNvSpPr>
          <p:nvPr/>
        </p:nvSpPr>
        <p:spPr>
          <a:xfrm>
            <a:off x="14420850" y="480631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1" name="shape-436"/>
          <p:cNvSpPr>
            <a:spLocks noGrp="1"/>
          </p:cNvSpPr>
          <p:nvPr/>
        </p:nvSpPr>
        <p:spPr>
          <a:xfrm>
            <a:off x="14487525" y="4806315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2" name="shape-437"/>
          <p:cNvSpPr>
            <a:spLocks noGrp="1"/>
          </p:cNvSpPr>
          <p:nvPr/>
        </p:nvSpPr>
        <p:spPr>
          <a:xfrm>
            <a:off x="14554200" y="48063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3" name="shape-438"/>
          <p:cNvSpPr>
            <a:spLocks noGrp="1"/>
          </p:cNvSpPr>
          <p:nvPr/>
        </p:nvSpPr>
        <p:spPr>
          <a:xfrm>
            <a:off x="14620875" y="48063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4" name="shape-439"/>
          <p:cNvSpPr>
            <a:spLocks noGrp="1"/>
          </p:cNvSpPr>
          <p:nvPr/>
        </p:nvSpPr>
        <p:spPr>
          <a:xfrm>
            <a:off x="13620750" y="487299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5" name="shape-440"/>
          <p:cNvSpPr>
            <a:spLocks noGrp="1"/>
          </p:cNvSpPr>
          <p:nvPr/>
        </p:nvSpPr>
        <p:spPr>
          <a:xfrm>
            <a:off x="13687425" y="487299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6" name="shape-441"/>
          <p:cNvSpPr>
            <a:spLocks noGrp="1"/>
          </p:cNvSpPr>
          <p:nvPr/>
        </p:nvSpPr>
        <p:spPr>
          <a:xfrm>
            <a:off x="13754100" y="487299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7" name="shape-442"/>
          <p:cNvSpPr>
            <a:spLocks noGrp="1"/>
          </p:cNvSpPr>
          <p:nvPr/>
        </p:nvSpPr>
        <p:spPr>
          <a:xfrm>
            <a:off x="13820775" y="487299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8" name="shape-443"/>
          <p:cNvSpPr>
            <a:spLocks noGrp="1"/>
          </p:cNvSpPr>
          <p:nvPr/>
        </p:nvSpPr>
        <p:spPr>
          <a:xfrm>
            <a:off x="13887450" y="487299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9" name="shape-444"/>
          <p:cNvSpPr>
            <a:spLocks noGrp="1"/>
          </p:cNvSpPr>
          <p:nvPr/>
        </p:nvSpPr>
        <p:spPr>
          <a:xfrm>
            <a:off x="13954125" y="487299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0" name="shape-445"/>
          <p:cNvSpPr>
            <a:spLocks noGrp="1"/>
          </p:cNvSpPr>
          <p:nvPr/>
        </p:nvSpPr>
        <p:spPr>
          <a:xfrm>
            <a:off x="14020800" y="487299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1" name="shape-446"/>
          <p:cNvSpPr>
            <a:spLocks noGrp="1"/>
          </p:cNvSpPr>
          <p:nvPr/>
        </p:nvSpPr>
        <p:spPr>
          <a:xfrm>
            <a:off x="14087475" y="487299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2" name="shape-447"/>
          <p:cNvSpPr>
            <a:spLocks noGrp="1"/>
          </p:cNvSpPr>
          <p:nvPr/>
        </p:nvSpPr>
        <p:spPr>
          <a:xfrm>
            <a:off x="14154150" y="487299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3" name="shape-448"/>
          <p:cNvSpPr>
            <a:spLocks noGrp="1"/>
          </p:cNvSpPr>
          <p:nvPr/>
        </p:nvSpPr>
        <p:spPr>
          <a:xfrm>
            <a:off x="14220825" y="487299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4" name="shape-449"/>
          <p:cNvSpPr>
            <a:spLocks noGrp="1"/>
          </p:cNvSpPr>
          <p:nvPr/>
        </p:nvSpPr>
        <p:spPr>
          <a:xfrm>
            <a:off x="14287500" y="487299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5" name="shape-450"/>
          <p:cNvSpPr>
            <a:spLocks noGrp="1"/>
          </p:cNvSpPr>
          <p:nvPr/>
        </p:nvSpPr>
        <p:spPr>
          <a:xfrm>
            <a:off x="14354175" y="487299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6" name="shape-451"/>
          <p:cNvSpPr>
            <a:spLocks noGrp="1"/>
          </p:cNvSpPr>
          <p:nvPr/>
        </p:nvSpPr>
        <p:spPr>
          <a:xfrm>
            <a:off x="14420850" y="487299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7" name="shape-452"/>
          <p:cNvSpPr>
            <a:spLocks noGrp="1"/>
          </p:cNvSpPr>
          <p:nvPr/>
        </p:nvSpPr>
        <p:spPr>
          <a:xfrm>
            <a:off x="14487525" y="487299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8" name="shape-453"/>
          <p:cNvSpPr>
            <a:spLocks noGrp="1"/>
          </p:cNvSpPr>
          <p:nvPr/>
        </p:nvSpPr>
        <p:spPr>
          <a:xfrm>
            <a:off x="14554200" y="487299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9" name="shape-454"/>
          <p:cNvSpPr>
            <a:spLocks noGrp="1"/>
          </p:cNvSpPr>
          <p:nvPr/>
        </p:nvSpPr>
        <p:spPr>
          <a:xfrm>
            <a:off x="14620875" y="487299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0" name="shape-455"/>
          <p:cNvSpPr>
            <a:spLocks noGrp="1"/>
          </p:cNvSpPr>
          <p:nvPr/>
        </p:nvSpPr>
        <p:spPr>
          <a:xfrm>
            <a:off x="1362075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1" name="shape-456"/>
          <p:cNvSpPr>
            <a:spLocks noGrp="1"/>
          </p:cNvSpPr>
          <p:nvPr/>
        </p:nvSpPr>
        <p:spPr>
          <a:xfrm>
            <a:off x="1368742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2" name="shape-457"/>
          <p:cNvSpPr>
            <a:spLocks noGrp="1"/>
          </p:cNvSpPr>
          <p:nvPr/>
        </p:nvSpPr>
        <p:spPr>
          <a:xfrm>
            <a:off x="1375410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3" name="shape-458"/>
          <p:cNvSpPr>
            <a:spLocks noGrp="1"/>
          </p:cNvSpPr>
          <p:nvPr/>
        </p:nvSpPr>
        <p:spPr>
          <a:xfrm>
            <a:off x="1382077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4" name="shape-459"/>
          <p:cNvSpPr>
            <a:spLocks noGrp="1"/>
          </p:cNvSpPr>
          <p:nvPr/>
        </p:nvSpPr>
        <p:spPr>
          <a:xfrm>
            <a:off x="1388745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5" name="shape-460"/>
          <p:cNvSpPr>
            <a:spLocks noGrp="1"/>
          </p:cNvSpPr>
          <p:nvPr/>
        </p:nvSpPr>
        <p:spPr>
          <a:xfrm>
            <a:off x="1395412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6" name="shape-461"/>
          <p:cNvSpPr>
            <a:spLocks noGrp="1"/>
          </p:cNvSpPr>
          <p:nvPr/>
        </p:nvSpPr>
        <p:spPr>
          <a:xfrm>
            <a:off x="1402080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7" name="shape-462"/>
          <p:cNvSpPr>
            <a:spLocks noGrp="1"/>
          </p:cNvSpPr>
          <p:nvPr/>
        </p:nvSpPr>
        <p:spPr>
          <a:xfrm>
            <a:off x="1408747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8" name="shape-463"/>
          <p:cNvSpPr>
            <a:spLocks noGrp="1"/>
          </p:cNvSpPr>
          <p:nvPr/>
        </p:nvSpPr>
        <p:spPr>
          <a:xfrm>
            <a:off x="1415415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9" name="shape-464"/>
          <p:cNvSpPr>
            <a:spLocks noGrp="1"/>
          </p:cNvSpPr>
          <p:nvPr/>
        </p:nvSpPr>
        <p:spPr>
          <a:xfrm>
            <a:off x="1422082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0" name="shape-465"/>
          <p:cNvSpPr>
            <a:spLocks noGrp="1"/>
          </p:cNvSpPr>
          <p:nvPr/>
        </p:nvSpPr>
        <p:spPr>
          <a:xfrm>
            <a:off x="1428750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1" name="shape-466"/>
          <p:cNvSpPr>
            <a:spLocks noGrp="1"/>
          </p:cNvSpPr>
          <p:nvPr/>
        </p:nvSpPr>
        <p:spPr>
          <a:xfrm>
            <a:off x="1435417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2" name="shape-467"/>
          <p:cNvSpPr>
            <a:spLocks noGrp="1"/>
          </p:cNvSpPr>
          <p:nvPr/>
        </p:nvSpPr>
        <p:spPr>
          <a:xfrm>
            <a:off x="1442085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3" name="shape-468"/>
          <p:cNvSpPr>
            <a:spLocks noGrp="1"/>
          </p:cNvSpPr>
          <p:nvPr/>
        </p:nvSpPr>
        <p:spPr>
          <a:xfrm>
            <a:off x="1448752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4" name="shape-469"/>
          <p:cNvSpPr>
            <a:spLocks noGrp="1"/>
          </p:cNvSpPr>
          <p:nvPr/>
        </p:nvSpPr>
        <p:spPr>
          <a:xfrm>
            <a:off x="14554200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5" name="shape-470"/>
          <p:cNvSpPr>
            <a:spLocks noGrp="1"/>
          </p:cNvSpPr>
          <p:nvPr/>
        </p:nvSpPr>
        <p:spPr>
          <a:xfrm>
            <a:off x="14620875" y="493966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6" name="shape-471"/>
          <p:cNvSpPr>
            <a:spLocks noGrp="1"/>
          </p:cNvSpPr>
          <p:nvPr/>
        </p:nvSpPr>
        <p:spPr>
          <a:xfrm>
            <a:off x="13620750" y="50063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7" name="shape-472"/>
          <p:cNvSpPr>
            <a:spLocks noGrp="1"/>
          </p:cNvSpPr>
          <p:nvPr/>
        </p:nvSpPr>
        <p:spPr>
          <a:xfrm>
            <a:off x="13687425" y="500634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8" name="shape-473"/>
          <p:cNvSpPr>
            <a:spLocks noGrp="1"/>
          </p:cNvSpPr>
          <p:nvPr/>
        </p:nvSpPr>
        <p:spPr>
          <a:xfrm>
            <a:off x="13754100" y="500634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9" name="shape-474"/>
          <p:cNvSpPr>
            <a:spLocks noGrp="1"/>
          </p:cNvSpPr>
          <p:nvPr/>
        </p:nvSpPr>
        <p:spPr>
          <a:xfrm>
            <a:off x="13820775" y="50063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0" name="shape-475"/>
          <p:cNvSpPr>
            <a:spLocks noGrp="1"/>
          </p:cNvSpPr>
          <p:nvPr/>
        </p:nvSpPr>
        <p:spPr>
          <a:xfrm>
            <a:off x="13887450" y="500634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1" name="shape-476"/>
          <p:cNvSpPr>
            <a:spLocks noGrp="1"/>
          </p:cNvSpPr>
          <p:nvPr/>
        </p:nvSpPr>
        <p:spPr>
          <a:xfrm>
            <a:off x="13954125" y="50063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2" name="shape-477"/>
          <p:cNvSpPr>
            <a:spLocks noGrp="1"/>
          </p:cNvSpPr>
          <p:nvPr/>
        </p:nvSpPr>
        <p:spPr>
          <a:xfrm>
            <a:off x="14020800" y="500634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3" name="shape-478"/>
          <p:cNvSpPr>
            <a:spLocks noGrp="1"/>
          </p:cNvSpPr>
          <p:nvPr/>
        </p:nvSpPr>
        <p:spPr>
          <a:xfrm>
            <a:off x="14087475" y="500634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4" name="shape-479"/>
          <p:cNvSpPr>
            <a:spLocks noGrp="1"/>
          </p:cNvSpPr>
          <p:nvPr/>
        </p:nvSpPr>
        <p:spPr>
          <a:xfrm>
            <a:off x="14154150" y="50063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5" name="shape-480"/>
          <p:cNvSpPr>
            <a:spLocks noGrp="1"/>
          </p:cNvSpPr>
          <p:nvPr/>
        </p:nvSpPr>
        <p:spPr>
          <a:xfrm>
            <a:off x="14220825" y="500634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6" name="shape-481"/>
          <p:cNvSpPr>
            <a:spLocks noGrp="1"/>
          </p:cNvSpPr>
          <p:nvPr/>
        </p:nvSpPr>
        <p:spPr>
          <a:xfrm>
            <a:off x="14287500" y="50063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7" name="shape-482"/>
          <p:cNvSpPr>
            <a:spLocks noGrp="1"/>
          </p:cNvSpPr>
          <p:nvPr/>
        </p:nvSpPr>
        <p:spPr>
          <a:xfrm>
            <a:off x="14354175" y="5006340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8" name="shape-483"/>
          <p:cNvSpPr>
            <a:spLocks noGrp="1"/>
          </p:cNvSpPr>
          <p:nvPr/>
        </p:nvSpPr>
        <p:spPr>
          <a:xfrm>
            <a:off x="14420850" y="5006340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9" name="shape-484"/>
          <p:cNvSpPr>
            <a:spLocks noGrp="1"/>
          </p:cNvSpPr>
          <p:nvPr/>
        </p:nvSpPr>
        <p:spPr>
          <a:xfrm>
            <a:off x="14487525" y="5006340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0" name="shape-485"/>
          <p:cNvSpPr>
            <a:spLocks noGrp="1"/>
          </p:cNvSpPr>
          <p:nvPr/>
        </p:nvSpPr>
        <p:spPr>
          <a:xfrm>
            <a:off x="14554200" y="5006340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1" name="shape-486"/>
          <p:cNvSpPr>
            <a:spLocks noGrp="1"/>
          </p:cNvSpPr>
          <p:nvPr/>
        </p:nvSpPr>
        <p:spPr>
          <a:xfrm>
            <a:off x="14620875" y="5006340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2" name="shape-487"/>
          <p:cNvSpPr>
            <a:spLocks noGrp="1"/>
          </p:cNvSpPr>
          <p:nvPr/>
        </p:nvSpPr>
        <p:spPr>
          <a:xfrm>
            <a:off x="13620750" y="50730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3" name="shape-488"/>
          <p:cNvSpPr>
            <a:spLocks noGrp="1"/>
          </p:cNvSpPr>
          <p:nvPr/>
        </p:nvSpPr>
        <p:spPr>
          <a:xfrm>
            <a:off x="13687425" y="5073015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4" name="shape-489"/>
          <p:cNvSpPr>
            <a:spLocks noGrp="1"/>
          </p:cNvSpPr>
          <p:nvPr/>
        </p:nvSpPr>
        <p:spPr>
          <a:xfrm>
            <a:off x="13754100" y="507301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5" name="shape-490"/>
          <p:cNvSpPr>
            <a:spLocks noGrp="1"/>
          </p:cNvSpPr>
          <p:nvPr/>
        </p:nvSpPr>
        <p:spPr>
          <a:xfrm>
            <a:off x="13820775" y="5073015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6" name="shape-491"/>
          <p:cNvSpPr>
            <a:spLocks noGrp="1"/>
          </p:cNvSpPr>
          <p:nvPr/>
        </p:nvSpPr>
        <p:spPr>
          <a:xfrm>
            <a:off x="13887450" y="50730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7" name="shape-492"/>
          <p:cNvSpPr>
            <a:spLocks noGrp="1"/>
          </p:cNvSpPr>
          <p:nvPr/>
        </p:nvSpPr>
        <p:spPr>
          <a:xfrm>
            <a:off x="13954125" y="50730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8" name="shape-493"/>
          <p:cNvSpPr>
            <a:spLocks noGrp="1"/>
          </p:cNvSpPr>
          <p:nvPr/>
        </p:nvSpPr>
        <p:spPr>
          <a:xfrm>
            <a:off x="14020800" y="5073015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9" name="shape-494"/>
          <p:cNvSpPr>
            <a:spLocks noGrp="1"/>
          </p:cNvSpPr>
          <p:nvPr/>
        </p:nvSpPr>
        <p:spPr>
          <a:xfrm>
            <a:off x="14087475" y="507301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0" name="shape-495"/>
          <p:cNvSpPr>
            <a:spLocks noGrp="1"/>
          </p:cNvSpPr>
          <p:nvPr/>
        </p:nvSpPr>
        <p:spPr>
          <a:xfrm>
            <a:off x="14154150" y="5073015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1" name="shape-496"/>
          <p:cNvSpPr>
            <a:spLocks noGrp="1"/>
          </p:cNvSpPr>
          <p:nvPr/>
        </p:nvSpPr>
        <p:spPr>
          <a:xfrm>
            <a:off x="14220825" y="50730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2" name="shape-497"/>
          <p:cNvSpPr>
            <a:spLocks noGrp="1"/>
          </p:cNvSpPr>
          <p:nvPr/>
        </p:nvSpPr>
        <p:spPr>
          <a:xfrm>
            <a:off x="14287500" y="50730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3" name="shape-498"/>
          <p:cNvSpPr>
            <a:spLocks noGrp="1"/>
          </p:cNvSpPr>
          <p:nvPr/>
        </p:nvSpPr>
        <p:spPr>
          <a:xfrm>
            <a:off x="14354175" y="5073015"/>
            <a:ext cx="66675" cy="66675"/>
          </a:xfrm>
          <a:prstGeom prst="rect">
            <a:avLst/>
          </a:prstGeom>
          <a:solidFill>
            <a:srgbClr val="E8AD8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4" name="shape-499"/>
          <p:cNvSpPr>
            <a:spLocks noGrp="1"/>
          </p:cNvSpPr>
          <p:nvPr/>
        </p:nvSpPr>
        <p:spPr>
          <a:xfrm>
            <a:off x="14420850" y="5073015"/>
            <a:ext cx="66675" cy="66675"/>
          </a:xfrm>
          <a:prstGeom prst="rect">
            <a:avLst/>
          </a:prstGeom>
          <a:solidFill>
            <a:srgbClr val="95503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5" name="shape-500"/>
          <p:cNvSpPr>
            <a:spLocks noGrp="1"/>
          </p:cNvSpPr>
          <p:nvPr/>
        </p:nvSpPr>
        <p:spPr>
          <a:xfrm>
            <a:off x="14487525" y="5073015"/>
            <a:ext cx="66675" cy="66675"/>
          </a:xfrm>
          <a:prstGeom prst="rect">
            <a:avLst/>
          </a:prstGeom>
          <a:solidFill>
            <a:srgbClr val="F9D3B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6" name="shape-501"/>
          <p:cNvSpPr>
            <a:spLocks noGrp="1"/>
          </p:cNvSpPr>
          <p:nvPr/>
        </p:nvSpPr>
        <p:spPr>
          <a:xfrm>
            <a:off x="14554200" y="5073015"/>
            <a:ext cx="66675" cy="66675"/>
          </a:xfrm>
          <a:prstGeom prst="rect">
            <a:avLst/>
          </a:prstGeom>
          <a:solidFill>
            <a:srgbClr val="B96A4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7" name="shape-502"/>
          <p:cNvSpPr>
            <a:spLocks noGrp="1"/>
          </p:cNvSpPr>
          <p:nvPr/>
        </p:nvSpPr>
        <p:spPr>
          <a:xfrm>
            <a:off x="14620875" y="5073015"/>
            <a:ext cx="66675" cy="66675"/>
          </a:xfrm>
          <a:prstGeom prst="rect">
            <a:avLst/>
          </a:prstGeom>
          <a:solidFill>
            <a:srgbClr val="FBE9D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8" name="shape-503"/>
          <p:cNvSpPr>
            <a:spLocks noGrp="1"/>
          </p:cNvSpPr>
          <p:nvPr/>
        </p:nvSpPr>
        <p:spPr>
          <a:xfrm>
            <a:off x="13620750" y="4739640"/>
            <a:ext cx="1066800" cy="4000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859" name="Pattern weights 38 × 16"/>
          <p:cNvSpPr>
            <a:spLocks noGrp="1"/>
          </p:cNvSpPr>
          <p:nvPr/>
        </p:nvSpPr>
        <p:spPr>
          <a:xfrm>
            <a:off x="13049250" y="5196840"/>
            <a:ext cx="23145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B96A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Pattern weights 38 × 16</a:t>
            </a:r>
            <a:endParaRPr sz="1300" b="0" i="0">
              <a:solidFill>
                <a:srgbClr val="B96A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60" name="operator-×"/>
          <p:cNvSpPr>
            <a:spLocks noGrp="1"/>
          </p:cNvSpPr>
          <p:nvPr/>
        </p:nvSpPr>
        <p:spPr>
          <a:xfrm>
            <a:off x="15039975" y="4825365"/>
            <a:ext cx="228600" cy="228600"/>
          </a:xfrm>
          <a:prstGeom prst="ellipse">
            <a:avLst/>
          </a:prstGeom>
          <a:solidFill>
            <a:srgbClr val="FFFFFF"/>
          </a:solidFill>
          <a:ln w="16535">
            <a:solidFill>
              <a:srgbClr val="17202D"/>
            </a:solidFill>
          </a:ln>
        </p:spPr>
      </p:sp>
      <p:sp>
        <p:nvSpPr>
          <p:cNvPr id="861" name="×"/>
          <p:cNvSpPr>
            <a:spLocks noGrp="1"/>
          </p:cNvSpPr>
          <p:nvPr/>
        </p:nvSpPr>
        <p:spPr>
          <a:xfrm>
            <a:off x="15039975" y="482536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15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</a:t>
            </a:r>
            <a:endParaRPr sz="1815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862" name="weights-to-product"/>
          <p:cNvCxnSpPr/>
          <p:nvPr/>
        </p:nvCxnSpPr>
        <p:spPr>
          <a:xfrm>
            <a:off x="14687550" y="4939665"/>
            <a:ext cx="342900" cy="1"/>
          </a:xfrm>
          <a:custGeom>
            <a:avLst/>
            <a:gdLst/>
            <a:ahLst/>
            <a:cxnLst/>
            <a:pathLst>
              <a:path w="342900" h="1" fill="none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4763">
            <a:solidFill>
              <a:srgbClr val="B96A43"/>
            </a:solidFill>
            <a:prstDash val="solid"/>
            <a:tailEnd type="arrow" w="sm" len="sm"/>
          </a:ln>
        </p:spPr>
      </p:cxnSp>
      <p:cxnSp>
        <p:nvCxnSpPr>
          <p:cNvPr id="865" name="v-to-product"/>
          <p:cNvCxnSpPr/>
          <p:nvPr/>
        </p:nvCxnSpPr>
        <p:spPr>
          <a:xfrm>
            <a:off x="15154275" y="4015740"/>
            <a:ext cx="2447925" cy="800100"/>
          </a:xfrm>
          <a:custGeom>
            <a:avLst/>
            <a:gdLst/>
            <a:ahLst/>
            <a:cxnLst/>
            <a:pathLst>
              <a:path w="2447925" h="800100" fill="none">
                <a:moveTo>
                  <a:pt x="2447925" y="0"/>
                </a:moveTo>
                <a:lnTo>
                  <a:pt x="2447925" y="628650"/>
                </a:lnTo>
                <a:lnTo>
                  <a:pt x="0" y="628650"/>
                </a:lnTo>
                <a:lnTo>
                  <a:pt x="0" y="800100"/>
                </a:lnTo>
              </a:path>
            </a:pathLst>
          </a:custGeom>
          <a:noFill/>
          <a:ln w="14173">
            <a:solidFill>
              <a:srgbClr val="B96A43"/>
            </a:solidFill>
            <a:prstDash val="solid"/>
            <a:tailEnd type="arrow" w="sm" len="sm"/>
          </a:ln>
        </p:spPr>
      </p:cxnSp>
      <p:sp>
        <p:nvSpPr>
          <p:cNvPr id="870" name="shape-512"/>
          <p:cNvSpPr>
            <a:spLocks noGrp="1"/>
          </p:cNvSpPr>
          <p:nvPr/>
        </p:nvSpPr>
        <p:spPr>
          <a:xfrm>
            <a:off x="15649575" y="4739640"/>
            <a:ext cx="66675" cy="66675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1" name="shape-513"/>
          <p:cNvSpPr>
            <a:spLocks noGrp="1"/>
          </p:cNvSpPr>
          <p:nvPr/>
        </p:nvSpPr>
        <p:spPr>
          <a:xfrm>
            <a:off x="15716250" y="4739640"/>
            <a:ext cx="66675" cy="66675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2" name="shape-514"/>
          <p:cNvSpPr>
            <a:spLocks noGrp="1"/>
          </p:cNvSpPr>
          <p:nvPr/>
        </p:nvSpPr>
        <p:spPr>
          <a:xfrm>
            <a:off x="15782925" y="4739640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3" name="shape-515"/>
          <p:cNvSpPr>
            <a:spLocks noGrp="1"/>
          </p:cNvSpPr>
          <p:nvPr/>
        </p:nvSpPr>
        <p:spPr>
          <a:xfrm>
            <a:off x="15849600" y="4739640"/>
            <a:ext cx="66675" cy="66675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4" name="shape-516"/>
          <p:cNvSpPr>
            <a:spLocks noGrp="1"/>
          </p:cNvSpPr>
          <p:nvPr/>
        </p:nvSpPr>
        <p:spPr>
          <a:xfrm>
            <a:off x="15649575" y="4806315"/>
            <a:ext cx="66675" cy="66675"/>
          </a:xfrm>
          <a:prstGeom prst="rect">
            <a:avLst/>
          </a:prstGeom>
          <a:solidFill>
            <a:srgbClr val="64A38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5" name="shape-517"/>
          <p:cNvSpPr>
            <a:spLocks noGrp="1"/>
          </p:cNvSpPr>
          <p:nvPr/>
        </p:nvSpPr>
        <p:spPr>
          <a:xfrm>
            <a:off x="15716250" y="4806315"/>
            <a:ext cx="66675" cy="66675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6" name="shape-518"/>
          <p:cNvSpPr>
            <a:spLocks noGrp="1"/>
          </p:cNvSpPr>
          <p:nvPr/>
        </p:nvSpPr>
        <p:spPr>
          <a:xfrm>
            <a:off x="15782925" y="4806315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7" name="shape-519"/>
          <p:cNvSpPr>
            <a:spLocks noGrp="1"/>
          </p:cNvSpPr>
          <p:nvPr/>
        </p:nvSpPr>
        <p:spPr>
          <a:xfrm>
            <a:off x="15849600" y="4806315"/>
            <a:ext cx="66675" cy="66675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8" name="shape-520"/>
          <p:cNvSpPr>
            <a:spLocks noGrp="1"/>
          </p:cNvSpPr>
          <p:nvPr/>
        </p:nvSpPr>
        <p:spPr>
          <a:xfrm>
            <a:off x="15649575" y="4872990"/>
            <a:ext cx="66675" cy="66675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9" name="shape-521"/>
          <p:cNvSpPr>
            <a:spLocks noGrp="1"/>
          </p:cNvSpPr>
          <p:nvPr/>
        </p:nvSpPr>
        <p:spPr>
          <a:xfrm>
            <a:off x="15716250" y="4872990"/>
            <a:ext cx="66675" cy="66675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0" name="shape-522"/>
          <p:cNvSpPr>
            <a:spLocks noGrp="1"/>
          </p:cNvSpPr>
          <p:nvPr/>
        </p:nvSpPr>
        <p:spPr>
          <a:xfrm>
            <a:off x="15782925" y="4872990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1" name="shape-523"/>
          <p:cNvSpPr>
            <a:spLocks noGrp="1"/>
          </p:cNvSpPr>
          <p:nvPr/>
        </p:nvSpPr>
        <p:spPr>
          <a:xfrm>
            <a:off x="15849600" y="4872990"/>
            <a:ext cx="66675" cy="66675"/>
          </a:xfrm>
          <a:prstGeom prst="rect">
            <a:avLst/>
          </a:prstGeom>
          <a:solidFill>
            <a:srgbClr val="64A38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2" name="shape-524"/>
          <p:cNvSpPr>
            <a:spLocks noGrp="1"/>
          </p:cNvSpPr>
          <p:nvPr/>
        </p:nvSpPr>
        <p:spPr>
          <a:xfrm>
            <a:off x="15649575" y="4939665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3" name="shape-525"/>
          <p:cNvSpPr>
            <a:spLocks noGrp="1"/>
          </p:cNvSpPr>
          <p:nvPr/>
        </p:nvSpPr>
        <p:spPr>
          <a:xfrm>
            <a:off x="15716250" y="4939665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4" name="shape-526"/>
          <p:cNvSpPr>
            <a:spLocks noGrp="1"/>
          </p:cNvSpPr>
          <p:nvPr/>
        </p:nvSpPr>
        <p:spPr>
          <a:xfrm>
            <a:off x="15782925" y="4939665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5" name="shape-527"/>
          <p:cNvSpPr>
            <a:spLocks noGrp="1"/>
          </p:cNvSpPr>
          <p:nvPr/>
        </p:nvSpPr>
        <p:spPr>
          <a:xfrm>
            <a:off x="15849600" y="4939665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6" name="shape-528"/>
          <p:cNvSpPr>
            <a:spLocks noGrp="1"/>
          </p:cNvSpPr>
          <p:nvPr/>
        </p:nvSpPr>
        <p:spPr>
          <a:xfrm>
            <a:off x="15649575" y="5006340"/>
            <a:ext cx="66675" cy="66675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7" name="shape-529"/>
          <p:cNvSpPr>
            <a:spLocks noGrp="1"/>
          </p:cNvSpPr>
          <p:nvPr/>
        </p:nvSpPr>
        <p:spPr>
          <a:xfrm>
            <a:off x="15716250" y="5006340"/>
            <a:ext cx="66675" cy="66675"/>
          </a:xfrm>
          <a:prstGeom prst="rect">
            <a:avLst/>
          </a:prstGeom>
          <a:solidFill>
            <a:srgbClr val="64A38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8" name="shape-530"/>
          <p:cNvSpPr>
            <a:spLocks noGrp="1"/>
          </p:cNvSpPr>
          <p:nvPr/>
        </p:nvSpPr>
        <p:spPr>
          <a:xfrm>
            <a:off x="15782925" y="5006340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9" name="shape-531"/>
          <p:cNvSpPr>
            <a:spLocks noGrp="1"/>
          </p:cNvSpPr>
          <p:nvPr/>
        </p:nvSpPr>
        <p:spPr>
          <a:xfrm>
            <a:off x="15849600" y="5006340"/>
            <a:ext cx="66675" cy="66675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0" name="shape-532"/>
          <p:cNvSpPr>
            <a:spLocks noGrp="1"/>
          </p:cNvSpPr>
          <p:nvPr/>
        </p:nvSpPr>
        <p:spPr>
          <a:xfrm>
            <a:off x="15649575" y="5073015"/>
            <a:ext cx="66675" cy="66675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1" name="shape-533"/>
          <p:cNvSpPr>
            <a:spLocks noGrp="1"/>
          </p:cNvSpPr>
          <p:nvPr/>
        </p:nvSpPr>
        <p:spPr>
          <a:xfrm>
            <a:off x="15716250" y="5073015"/>
            <a:ext cx="66675" cy="66675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2" name="shape-534"/>
          <p:cNvSpPr>
            <a:spLocks noGrp="1"/>
          </p:cNvSpPr>
          <p:nvPr/>
        </p:nvSpPr>
        <p:spPr>
          <a:xfrm>
            <a:off x="15782925" y="5073015"/>
            <a:ext cx="66675" cy="66675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3" name="shape-535"/>
          <p:cNvSpPr>
            <a:spLocks noGrp="1"/>
          </p:cNvSpPr>
          <p:nvPr/>
        </p:nvSpPr>
        <p:spPr>
          <a:xfrm>
            <a:off x="15849600" y="5073015"/>
            <a:ext cx="66675" cy="66675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4" name="shape-536"/>
          <p:cNvSpPr>
            <a:spLocks noGrp="1"/>
          </p:cNvSpPr>
          <p:nvPr/>
        </p:nvSpPr>
        <p:spPr>
          <a:xfrm>
            <a:off x="15649575" y="4739640"/>
            <a:ext cx="266700" cy="40005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cxnSp>
        <p:nvCxnSpPr>
          <p:cNvPr id="895" name="product-to-context"/>
          <p:cNvCxnSpPr/>
          <p:nvPr/>
        </p:nvCxnSpPr>
        <p:spPr>
          <a:xfrm>
            <a:off x="15278100" y="4939665"/>
            <a:ext cx="371475" cy="1"/>
          </a:xfrm>
          <a:custGeom>
            <a:avLst/>
            <a:gdLst/>
            <a:ahLst/>
            <a:cxnLst/>
            <a:pathLst>
              <a:path w="371475" h="1" fill="none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7717">
            <a:solidFill>
              <a:srgbClr val="337F68"/>
            </a:solidFill>
            <a:prstDash val="solid"/>
            <a:tailEnd type="arrow" w="sm" len="sm"/>
          </a:ln>
        </p:spPr>
      </p:cxnSp>
      <p:sp>
        <p:nvSpPr>
          <p:cNvPr id="898" name="Pattern context Cᴾ&#10;38 × 20"/>
          <p:cNvSpPr>
            <a:spLocks noGrp="1"/>
          </p:cNvSpPr>
          <p:nvPr/>
        </p:nvSpPr>
        <p:spPr>
          <a:xfrm>
            <a:off x="16097250" y="4758690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lnSpc>
                <a:spcPct val="95000"/>
              </a:lnSpc>
              <a:def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Pattern context Cᴾ</a:t>
            </a:r>
            <a:endParaRPr sz="13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95000"/>
              </a:lnSpc>
              <a:def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38 × 20</a:t>
            </a:r>
            <a:endParaRPr sz="13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99" name="line-540"/>
          <p:cNvSpPr>
            <a:spLocks noGrp="1"/>
          </p:cNvSpPr>
          <p:nvPr/>
        </p:nvSpPr>
        <p:spPr>
          <a:xfrm>
            <a:off x="12811125" y="5530215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D4E8DE"/>
            </a:solidFill>
            <a:prstDash val="solid"/>
          </a:ln>
        </p:spPr>
      </p:sp>
      <p:sp>
        <p:nvSpPr>
          <p:cNvPr id="900" name="Geographic key update"/>
          <p:cNvSpPr>
            <a:spLocks noGrp="1"/>
          </p:cNvSpPr>
          <p:nvPr/>
        </p:nvSpPr>
        <p:spPr>
          <a:xfrm>
            <a:off x="12811125" y="5606415"/>
            <a:ext cx="25336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0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0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Geographic key update</a:t>
            </a:r>
            <a:endParaRPr sz="2000" b="1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01" name="shape-541"/>
          <p:cNvSpPr>
            <a:spLocks noGrp="1"/>
          </p:cNvSpPr>
          <p:nvPr/>
        </p:nvSpPr>
        <p:spPr>
          <a:xfrm>
            <a:off x="13296900" y="610171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2" name="shape-542"/>
          <p:cNvSpPr>
            <a:spLocks noGrp="1"/>
          </p:cNvSpPr>
          <p:nvPr/>
        </p:nvSpPr>
        <p:spPr>
          <a:xfrm>
            <a:off x="13392150" y="610171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3" name="shape-543"/>
          <p:cNvSpPr>
            <a:spLocks noGrp="1"/>
          </p:cNvSpPr>
          <p:nvPr/>
        </p:nvSpPr>
        <p:spPr>
          <a:xfrm>
            <a:off x="13487400" y="610171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4" name="shape-544"/>
          <p:cNvSpPr>
            <a:spLocks noGrp="1"/>
          </p:cNvSpPr>
          <p:nvPr/>
        </p:nvSpPr>
        <p:spPr>
          <a:xfrm>
            <a:off x="13582650" y="610171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5" name="shape-545"/>
          <p:cNvSpPr>
            <a:spLocks noGrp="1"/>
          </p:cNvSpPr>
          <p:nvPr/>
        </p:nvSpPr>
        <p:spPr>
          <a:xfrm>
            <a:off x="13296900" y="619696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6" name="shape-546"/>
          <p:cNvSpPr>
            <a:spLocks noGrp="1"/>
          </p:cNvSpPr>
          <p:nvPr/>
        </p:nvSpPr>
        <p:spPr>
          <a:xfrm>
            <a:off x="13392150" y="619696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7" name="shape-547"/>
          <p:cNvSpPr>
            <a:spLocks noGrp="1"/>
          </p:cNvSpPr>
          <p:nvPr/>
        </p:nvSpPr>
        <p:spPr>
          <a:xfrm>
            <a:off x="13487400" y="619696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8" name="shape-548"/>
          <p:cNvSpPr>
            <a:spLocks noGrp="1"/>
          </p:cNvSpPr>
          <p:nvPr/>
        </p:nvSpPr>
        <p:spPr>
          <a:xfrm>
            <a:off x="13582650" y="619696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9" name="shape-549"/>
          <p:cNvSpPr>
            <a:spLocks noGrp="1"/>
          </p:cNvSpPr>
          <p:nvPr/>
        </p:nvSpPr>
        <p:spPr>
          <a:xfrm>
            <a:off x="13296900" y="629221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0" name="shape-550"/>
          <p:cNvSpPr>
            <a:spLocks noGrp="1"/>
          </p:cNvSpPr>
          <p:nvPr/>
        </p:nvSpPr>
        <p:spPr>
          <a:xfrm>
            <a:off x="13392150" y="629221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1" name="shape-551"/>
          <p:cNvSpPr>
            <a:spLocks noGrp="1"/>
          </p:cNvSpPr>
          <p:nvPr/>
        </p:nvSpPr>
        <p:spPr>
          <a:xfrm>
            <a:off x="13487400" y="629221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2" name="shape-552"/>
          <p:cNvSpPr>
            <a:spLocks noGrp="1"/>
          </p:cNvSpPr>
          <p:nvPr/>
        </p:nvSpPr>
        <p:spPr>
          <a:xfrm>
            <a:off x="13582650" y="629221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3" name="shape-553"/>
          <p:cNvSpPr>
            <a:spLocks noGrp="1"/>
          </p:cNvSpPr>
          <p:nvPr/>
        </p:nvSpPr>
        <p:spPr>
          <a:xfrm>
            <a:off x="13296900" y="638746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4" name="shape-554"/>
          <p:cNvSpPr>
            <a:spLocks noGrp="1"/>
          </p:cNvSpPr>
          <p:nvPr/>
        </p:nvSpPr>
        <p:spPr>
          <a:xfrm>
            <a:off x="13392150" y="638746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5" name="shape-555"/>
          <p:cNvSpPr>
            <a:spLocks noGrp="1"/>
          </p:cNvSpPr>
          <p:nvPr/>
        </p:nvSpPr>
        <p:spPr>
          <a:xfrm>
            <a:off x="13487400" y="638746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6" name="shape-556"/>
          <p:cNvSpPr>
            <a:spLocks noGrp="1"/>
          </p:cNvSpPr>
          <p:nvPr/>
        </p:nvSpPr>
        <p:spPr>
          <a:xfrm>
            <a:off x="13582650" y="638746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7" name="shape-557"/>
          <p:cNvSpPr>
            <a:spLocks noGrp="1"/>
          </p:cNvSpPr>
          <p:nvPr/>
        </p:nvSpPr>
        <p:spPr>
          <a:xfrm>
            <a:off x="13296900" y="648271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8" name="shape-558"/>
          <p:cNvSpPr>
            <a:spLocks noGrp="1"/>
          </p:cNvSpPr>
          <p:nvPr/>
        </p:nvSpPr>
        <p:spPr>
          <a:xfrm>
            <a:off x="13392150" y="648271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9" name="shape-559"/>
          <p:cNvSpPr>
            <a:spLocks noGrp="1"/>
          </p:cNvSpPr>
          <p:nvPr/>
        </p:nvSpPr>
        <p:spPr>
          <a:xfrm>
            <a:off x="13487400" y="648271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0" name="shape-560"/>
          <p:cNvSpPr>
            <a:spLocks noGrp="1"/>
          </p:cNvSpPr>
          <p:nvPr/>
        </p:nvSpPr>
        <p:spPr>
          <a:xfrm>
            <a:off x="13582650" y="648271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1" name="shape-561"/>
          <p:cNvSpPr>
            <a:spLocks noGrp="1"/>
          </p:cNvSpPr>
          <p:nvPr/>
        </p:nvSpPr>
        <p:spPr>
          <a:xfrm>
            <a:off x="13296900" y="657796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2" name="shape-562"/>
          <p:cNvSpPr>
            <a:spLocks noGrp="1"/>
          </p:cNvSpPr>
          <p:nvPr/>
        </p:nvSpPr>
        <p:spPr>
          <a:xfrm>
            <a:off x="13392150" y="657796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3" name="shape-563"/>
          <p:cNvSpPr>
            <a:spLocks noGrp="1"/>
          </p:cNvSpPr>
          <p:nvPr/>
        </p:nvSpPr>
        <p:spPr>
          <a:xfrm>
            <a:off x="13487400" y="657796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4" name="shape-564"/>
          <p:cNvSpPr>
            <a:spLocks noGrp="1"/>
          </p:cNvSpPr>
          <p:nvPr/>
        </p:nvSpPr>
        <p:spPr>
          <a:xfrm>
            <a:off x="13582650" y="657796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5" name="shape-565"/>
          <p:cNvSpPr>
            <a:spLocks noGrp="1"/>
          </p:cNvSpPr>
          <p:nvPr/>
        </p:nvSpPr>
        <p:spPr>
          <a:xfrm>
            <a:off x="13296900" y="6101715"/>
            <a:ext cx="381000" cy="5715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sp>
        <p:nvSpPr>
          <p:cNvPr id="926" name="+"/>
          <p:cNvSpPr>
            <a:spLocks noGrp="1"/>
          </p:cNvSpPr>
          <p:nvPr/>
        </p:nvSpPr>
        <p:spPr>
          <a:xfrm>
            <a:off x="14182725" y="621601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475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75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endParaRPr sz="2475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27" name="shape-566"/>
          <p:cNvSpPr>
            <a:spLocks noGrp="1"/>
          </p:cNvSpPr>
          <p:nvPr/>
        </p:nvSpPr>
        <p:spPr>
          <a:xfrm>
            <a:off x="15001875" y="6101715"/>
            <a:ext cx="95250" cy="95250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8" name="shape-567"/>
          <p:cNvSpPr>
            <a:spLocks noGrp="1"/>
          </p:cNvSpPr>
          <p:nvPr/>
        </p:nvSpPr>
        <p:spPr>
          <a:xfrm>
            <a:off x="15097125" y="6101715"/>
            <a:ext cx="95250" cy="95250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9" name="shape-568"/>
          <p:cNvSpPr>
            <a:spLocks noGrp="1"/>
          </p:cNvSpPr>
          <p:nvPr/>
        </p:nvSpPr>
        <p:spPr>
          <a:xfrm>
            <a:off x="15192375" y="610171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0" name="shape-569"/>
          <p:cNvSpPr>
            <a:spLocks noGrp="1"/>
          </p:cNvSpPr>
          <p:nvPr/>
        </p:nvSpPr>
        <p:spPr>
          <a:xfrm>
            <a:off x="15287625" y="6101715"/>
            <a:ext cx="95250" cy="95250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1" name="shape-570"/>
          <p:cNvSpPr>
            <a:spLocks noGrp="1"/>
          </p:cNvSpPr>
          <p:nvPr/>
        </p:nvSpPr>
        <p:spPr>
          <a:xfrm>
            <a:off x="15001875" y="6196965"/>
            <a:ext cx="95250" cy="95250"/>
          </a:xfrm>
          <a:prstGeom prst="rect">
            <a:avLst/>
          </a:prstGeom>
          <a:solidFill>
            <a:srgbClr val="64A38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2" name="shape-571"/>
          <p:cNvSpPr>
            <a:spLocks noGrp="1"/>
          </p:cNvSpPr>
          <p:nvPr/>
        </p:nvSpPr>
        <p:spPr>
          <a:xfrm>
            <a:off x="15097125" y="6196965"/>
            <a:ext cx="95250" cy="95250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3" name="shape-572"/>
          <p:cNvSpPr>
            <a:spLocks noGrp="1"/>
          </p:cNvSpPr>
          <p:nvPr/>
        </p:nvSpPr>
        <p:spPr>
          <a:xfrm>
            <a:off x="15192375" y="61969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4" name="shape-573"/>
          <p:cNvSpPr>
            <a:spLocks noGrp="1"/>
          </p:cNvSpPr>
          <p:nvPr/>
        </p:nvSpPr>
        <p:spPr>
          <a:xfrm>
            <a:off x="15287625" y="6196965"/>
            <a:ext cx="95250" cy="95250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5" name="shape-574"/>
          <p:cNvSpPr>
            <a:spLocks noGrp="1"/>
          </p:cNvSpPr>
          <p:nvPr/>
        </p:nvSpPr>
        <p:spPr>
          <a:xfrm>
            <a:off x="15001875" y="6292215"/>
            <a:ext cx="95250" cy="95250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6" name="shape-575"/>
          <p:cNvSpPr>
            <a:spLocks noGrp="1"/>
          </p:cNvSpPr>
          <p:nvPr/>
        </p:nvSpPr>
        <p:spPr>
          <a:xfrm>
            <a:off x="15097125" y="6292215"/>
            <a:ext cx="95250" cy="95250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7" name="shape-576"/>
          <p:cNvSpPr>
            <a:spLocks noGrp="1"/>
          </p:cNvSpPr>
          <p:nvPr/>
        </p:nvSpPr>
        <p:spPr>
          <a:xfrm>
            <a:off x="15192375" y="629221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8" name="shape-577"/>
          <p:cNvSpPr>
            <a:spLocks noGrp="1"/>
          </p:cNvSpPr>
          <p:nvPr/>
        </p:nvSpPr>
        <p:spPr>
          <a:xfrm>
            <a:off x="15287625" y="6292215"/>
            <a:ext cx="95250" cy="95250"/>
          </a:xfrm>
          <a:prstGeom prst="rect">
            <a:avLst/>
          </a:prstGeom>
          <a:solidFill>
            <a:srgbClr val="64A38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9" name="shape-578"/>
          <p:cNvSpPr>
            <a:spLocks noGrp="1"/>
          </p:cNvSpPr>
          <p:nvPr/>
        </p:nvSpPr>
        <p:spPr>
          <a:xfrm>
            <a:off x="15001875" y="63874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0" name="shape-579"/>
          <p:cNvSpPr>
            <a:spLocks noGrp="1"/>
          </p:cNvSpPr>
          <p:nvPr/>
        </p:nvSpPr>
        <p:spPr>
          <a:xfrm>
            <a:off x="15097125" y="63874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1" name="shape-580"/>
          <p:cNvSpPr>
            <a:spLocks noGrp="1"/>
          </p:cNvSpPr>
          <p:nvPr/>
        </p:nvSpPr>
        <p:spPr>
          <a:xfrm>
            <a:off x="15192375" y="63874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2" name="shape-581"/>
          <p:cNvSpPr>
            <a:spLocks noGrp="1"/>
          </p:cNvSpPr>
          <p:nvPr/>
        </p:nvSpPr>
        <p:spPr>
          <a:xfrm>
            <a:off x="15287625" y="63874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3" name="shape-582"/>
          <p:cNvSpPr>
            <a:spLocks noGrp="1"/>
          </p:cNvSpPr>
          <p:nvPr/>
        </p:nvSpPr>
        <p:spPr>
          <a:xfrm>
            <a:off x="15001875" y="6482715"/>
            <a:ext cx="95250" cy="95250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4" name="shape-583"/>
          <p:cNvSpPr>
            <a:spLocks noGrp="1"/>
          </p:cNvSpPr>
          <p:nvPr/>
        </p:nvSpPr>
        <p:spPr>
          <a:xfrm>
            <a:off x="15097125" y="6482715"/>
            <a:ext cx="95250" cy="95250"/>
          </a:xfrm>
          <a:prstGeom prst="rect">
            <a:avLst/>
          </a:prstGeom>
          <a:solidFill>
            <a:srgbClr val="64A38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5" name="shape-584"/>
          <p:cNvSpPr>
            <a:spLocks noGrp="1"/>
          </p:cNvSpPr>
          <p:nvPr/>
        </p:nvSpPr>
        <p:spPr>
          <a:xfrm>
            <a:off x="15192375" y="648271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6" name="shape-585"/>
          <p:cNvSpPr>
            <a:spLocks noGrp="1"/>
          </p:cNvSpPr>
          <p:nvPr/>
        </p:nvSpPr>
        <p:spPr>
          <a:xfrm>
            <a:off x="15287625" y="6482715"/>
            <a:ext cx="95250" cy="95250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7" name="shape-586"/>
          <p:cNvSpPr>
            <a:spLocks noGrp="1"/>
          </p:cNvSpPr>
          <p:nvPr/>
        </p:nvSpPr>
        <p:spPr>
          <a:xfrm>
            <a:off x="15001875" y="6577965"/>
            <a:ext cx="95250" cy="95250"/>
          </a:xfrm>
          <a:prstGeom prst="rect">
            <a:avLst/>
          </a:prstGeom>
          <a:solidFill>
            <a:srgbClr val="EFF7F3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8" name="shape-587"/>
          <p:cNvSpPr>
            <a:spLocks noGrp="1"/>
          </p:cNvSpPr>
          <p:nvPr/>
        </p:nvSpPr>
        <p:spPr>
          <a:xfrm>
            <a:off x="15097125" y="6577965"/>
            <a:ext cx="95250" cy="95250"/>
          </a:xfrm>
          <a:prstGeom prst="rect">
            <a:avLst/>
          </a:prstGeom>
          <a:solidFill>
            <a:srgbClr val="AACFC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9" name="shape-588"/>
          <p:cNvSpPr>
            <a:spLocks noGrp="1"/>
          </p:cNvSpPr>
          <p:nvPr/>
        </p:nvSpPr>
        <p:spPr>
          <a:xfrm>
            <a:off x="15192375" y="65779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0" name="shape-589"/>
          <p:cNvSpPr>
            <a:spLocks noGrp="1"/>
          </p:cNvSpPr>
          <p:nvPr/>
        </p:nvSpPr>
        <p:spPr>
          <a:xfrm>
            <a:off x="15287625" y="6577965"/>
            <a:ext cx="95250" cy="95250"/>
          </a:xfrm>
          <a:prstGeom prst="rect">
            <a:avLst/>
          </a:prstGeom>
          <a:solidFill>
            <a:srgbClr val="D4E8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1" name="shape-590"/>
          <p:cNvSpPr>
            <a:spLocks noGrp="1"/>
          </p:cNvSpPr>
          <p:nvPr/>
        </p:nvSpPr>
        <p:spPr>
          <a:xfrm>
            <a:off x="15001875" y="6101715"/>
            <a:ext cx="381000" cy="571500"/>
          </a:xfrm>
          <a:prstGeom prst="rect">
            <a:avLst/>
          </a:prstGeom>
          <a:noFill/>
          <a:ln w="6668">
            <a:solidFill>
              <a:srgbClr val="536779"/>
            </a:solidFill>
            <a:prstDash val="solid"/>
          </a:ln>
        </p:spPr>
      </p:sp>
      <p:cxnSp>
        <p:nvCxnSpPr>
          <p:cNvPr id="952" name="pattern-context-to-key-context"/>
          <p:cNvCxnSpPr/>
          <p:nvPr/>
        </p:nvCxnSpPr>
        <p:spPr>
          <a:xfrm>
            <a:off x="15192375" y="5139690"/>
            <a:ext cx="619125" cy="962025"/>
          </a:xfrm>
          <a:custGeom>
            <a:avLst/>
            <a:gdLst/>
            <a:ahLst/>
            <a:cxnLst/>
            <a:pathLst>
              <a:path w="619125" h="962025" fill="none">
                <a:moveTo>
                  <a:pt x="619125" y="0"/>
                </a:moveTo>
                <a:lnTo>
                  <a:pt x="0" y="962025"/>
                </a:lnTo>
              </a:path>
            </a:pathLst>
          </a:custGeom>
          <a:noFill/>
          <a:ln w="20079">
            <a:solidFill>
              <a:srgbClr val="337F68"/>
            </a:solidFill>
            <a:prstDash val="solid"/>
            <a:tailEnd type="arrow" w="sm" len="sm"/>
          </a:ln>
        </p:spPr>
      </p:cxnSp>
      <p:cxnSp>
        <p:nvCxnSpPr>
          <p:cNvPr id="957" name="context-to-updated-key"/>
          <p:cNvCxnSpPr/>
          <p:nvPr/>
        </p:nvCxnSpPr>
        <p:spPr>
          <a:xfrm>
            <a:off x="15382875" y="6387465"/>
            <a:ext cx="1819275" cy="1"/>
          </a:xfrm>
          <a:custGeom>
            <a:avLst/>
            <a:gdLst/>
            <a:ahLst/>
            <a:cxnLst/>
            <a:pathLst>
              <a:path w="1819275" h="1" fill="none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/>
          <a:ln w="23622">
            <a:solidFill>
              <a:srgbClr val="337F68"/>
            </a:solidFill>
            <a:prstDash val="solid"/>
            <a:tailEnd type="arrow" w="sm" len="sm"/>
          </a:ln>
        </p:spPr>
      </p:cxnSp>
      <p:sp>
        <p:nvSpPr>
          <p:cNvPr id="960" name="shape-599"/>
          <p:cNvSpPr>
            <a:spLocks noGrp="1"/>
          </p:cNvSpPr>
          <p:nvPr/>
        </p:nvSpPr>
        <p:spPr>
          <a:xfrm>
            <a:off x="17211675" y="6101715"/>
            <a:ext cx="95250" cy="95250"/>
          </a:xfrm>
          <a:prstGeom prst="rect">
            <a:avLst/>
          </a:prstGeom>
          <a:solidFill>
            <a:srgbClr val="BADA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1" name="shape-600"/>
          <p:cNvSpPr>
            <a:spLocks noGrp="1"/>
          </p:cNvSpPr>
          <p:nvPr/>
        </p:nvSpPr>
        <p:spPr>
          <a:xfrm>
            <a:off x="17306925" y="610171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2" name="shape-601"/>
          <p:cNvSpPr>
            <a:spLocks noGrp="1"/>
          </p:cNvSpPr>
          <p:nvPr/>
        </p:nvSpPr>
        <p:spPr>
          <a:xfrm>
            <a:off x="17402175" y="610171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3" name="shape-602"/>
          <p:cNvSpPr>
            <a:spLocks noGrp="1"/>
          </p:cNvSpPr>
          <p:nvPr/>
        </p:nvSpPr>
        <p:spPr>
          <a:xfrm>
            <a:off x="17497425" y="6101715"/>
            <a:ext cx="95250" cy="95250"/>
          </a:xfrm>
          <a:prstGeom prst="rect">
            <a:avLst/>
          </a:prstGeom>
          <a:solidFill>
            <a:srgbClr val="7CB59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4" name="shape-603"/>
          <p:cNvSpPr>
            <a:spLocks noGrp="1"/>
          </p:cNvSpPr>
          <p:nvPr/>
        </p:nvSpPr>
        <p:spPr>
          <a:xfrm>
            <a:off x="17211675" y="619696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5" name="shape-604"/>
          <p:cNvSpPr>
            <a:spLocks noGrp="1"/>
          </p:cNvSpPr>
          <p:nvPr/>
        </p:nvSpPr>
        <p:spPr>
          <a:xfrm>
            <a:off x="17306925" y="61969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6" name="shape-605"/>
          <p:cNvSpPr>
            <a:spLocks noGrp="1"/>
          </p:cNvSpPr>
          <p:nvPr/>
        </p:nvSpPr>
        <p:spPr>
          <a:xfrm>
            <a:off x="17402175" y="6196965"/>
            <a:ext cx="95250" cy="95250"/>
          </a:xfrm>
          <a:prstGeom prst="rect">
            <a:avLst/>
          </a:prstGeom>
          <a:solidFill>
            <a:srgbClr val="BADA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7" name="shape-606"/>
          <p:cNvSpPr>
            <a:spLocks noGrp="1"/>
          </p:cNvSpPr>
          <p:nvPr/>
        </p:nvSpPr>
        <p:spPr>
          <a:xfrm>
            <a:off x="17497425" y="6196965"/>
            <a:ext cx="95250" cy="95250"/>
          </a:xfrm>
          <a:prstGeom prst="rect">
            <a:avLst/>
          </a:prstGeom>
          <a:solidFill>
            <a:srgbClr val="245D4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8" name="shape-607"/>
          <p:cNvSpPr>
            <a:spLocks noGrp="1"/>
          </p:cNvSpPr>
          <p:nvPr/>
        </p:nvSpPr>
        <p:spPr>
          <a:xfrm>
            <a:off x="17211675" y="6292215"/>
            <a:ext cx="95250" cy="95250"/>
          </a:xfrm>
          <a:prstGeom prst="rect">
            <a:avLst/>
          </a:prstGeom>
          <a:solidFill>
            <a:srgbClr val="245D4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9" name="shape-608"/>
          <p:cNvSpPr>
            <a:spLocks noGrp="1"/>
          </p:cNvSpPr>
          <p:nvPr/>
        </p:nvSpPr>
        <p:spPr>
          <a:xfrm>
            <a:off x="17306925" y="629221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0" name="shape-609"/>
          <p:cNvSpPr>
            <a:spLocks noGrp="1"/>
          </p:cNvSpPr>
          <p:nvPr/>
        </p:nvSpPr>
        <p:spPr>
          <a:xfrm>
            <a:off x="17402175" y="6292215"/>
            <a:ext cx="95250" cy="95250"/>
          </a:xfrm>
          <a:prstGeom prst="rect">
            <a:avLst/>
          </a:prstGeom>
          <a:solidFill>
            <a:srgbClr val="7CB59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1" name="shape-610"/>
          <p:cNvSpPr>
            <a:spLocks noGrp="1"/>
          </p:cNvSpPr>
          <p:nvPr/>
        </p:nvSpPr>
        <p:spPr>
          <a:xfrm>
            <a:off x="17497425" y="6292215"/>
            <a:ext cx="95250" cy="95250"/>
          </a:xfrm>
          <a:prstGeom prst="rect">
            <a:avLst/>
          </a:prstGeom>
          <a:solidFill>
            <a:srgbClr val="BADA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2" name="shape-611"/>
          <p:cNvSpPr>
            <a:spLocks noGrp="1"/>
          </p:cNvSpPr>
          <p:nvPr/>
        </p:nvSpPr>
        <p:spPr>
          <a:xfrm>
            <a:off x="17211675" y="638746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3" name="shape-612"/>
          <p:cNvSpPr>
            <a:spLocks noGrp="1"/>
          </p:cNvSpPr>
          <p:nvPr/>
        </p:nvSpPr>
        <p:spPr>
          <a:xfrm>
            <a:off x="17306925" y="638746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4" name="shape-613"/>
          <p:cNvSpPr>
            <a:spLocks noGrp="1"/>
          </p:cNvSpPr>
          <p:nvPr/>
        </p:nvSpPr>
        <p:spPr>
          <a:xfrm>
            <a:off x="17402175" y="638746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5" name="shape-614"/>
          <p:cNvSpPr>
            <a:spLocks noGrp="1"/>
          </p:cNvSpPr>
          <p:nvPr/>
        </p:nvSpPr>
        <p:spPr>
          <a:xfrm>
            <a:off x="17497425" y="638746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6" name="shape-615"/>
          <p:cNvSpPr>
            <a:spLocks noGrp="1"/>
          </p:cNvSpPr>
          <p:nvPr/>
        </p:nvSpPr>
        <p:spPr>
          <a:xfrm>
            <a:off x="17211675" y="6482715"/>
            <a:ext cx="95250" cy="95250"/>
          </a:xfrm>
          <a:prstGeom prst="rect">
            <a:avLst/>
          </a:prstGeom>
          <a:solidFill>
            <a:srgbClr val="245D4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7" name="shape-616"/>
          <p:cNvSpPr>
            <a:spLocks noGrp="1"/>
          </p:cNvSpPr>
          <p:nvPr/>
        </p:nvSpPr>
        <p:spPr>
          <a:xfrm>
            <a:off x="17306925" y="648271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8" name="shape-617"/>
          <p:cNvSpPr>
            <a:spLocks noGrp="1"/>
          </p:cNvSpPr>
          <p:nvPr/>
        </p:nvSpPr>
        <p:spPr>
          <a:xfrm>
            <a:off x="17402175" y="6482715"/>
            <a:ext cx="95250" cy="95250"/>
          </a:xfrm>
          <a:prstGeom prst="rect">
            <a:avLst/>
          </a:prstGeom>
          <a:solidFill>
            <a:srgbClr val="BADA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9" name="shape-618"/>
          <p:cNvSpPr>
            <a:spLocks noGrp="1"/>
          </p:cNvSpPr>
          <p:nvPr/>
        </p:nvSpPr>
        <p:spPr>
          <a:xfrm>
            <a:off x="17497425" y="6482715"/>
            <a:ext cx="95250" cy="95250"/>
          </a:xfrm>
          <a:prstGeom prst="rect">
            <a:avLst/>
          </a:prstGeom>
          <a:solidFill>
            <a:srgbClr val="7CB59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0" name="shape-619"/>
          <p:cNvSpPr>
            <a:spLocks noGrp="1"/>
          </p:cNvSpPr>
          <p:nvPr/>
        </p:nvSpPr>
        <p:spPr>
          <a:xfrm>
            <a:off x="17211675" y="6577965"/>
            <a:ext cx="95250" cy="95250"/>
          </a:xfrm>
          <a:prstGeom prst="rect">
            <a:avLst/>
          </a:prstGeom>
          <a:solidFill>
            <a:srgbClr val="337F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1" name="shape-620"/>
          <p:cNvSpPr>
            <a:spLocks noGrp="1"/>
          </p:cNvSpPr>
          <p:nvPr/>
        </p:nvSpPr>
        <p:spPr>
          <a:xfrm>
            <a:off x="17306925" y="6577965"/>
            <a:ext cx="95250" cy="95250"/>
          </a:xfrm>
          <a:prstGeom prst="rect">
            <a:avLst/>
          </a:prstGeom>
          <a:solidFill>
            <a:srgbClr val="E2F0E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2" name="shape-621"/>
          <p:cNvSpPr>
            <a:spLocks noGrp="1"/>
          </p:cNvSpPr>
          <p:nvPr/>
        </p:nvSpPr>
        <p:spPr>
          <a:xfrm>
            <a:off x="17402175" y="6577965"/>
            <a:ext cx="95250" cy="95250"/>
          </a:xfrm>
          <a:prstGeom prst="rect">
            <a:avLst/>
          </a:prstGeom>
          <a:solidFill>
            <a:srgbClr val="7CB59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3" name="shape-622"/>
          <p:cNvSpPr>
            <a:spLocks noGrp="1"/>
          </p:cNvSpPr>
          <p:nvPr/>
        </p:nvSpPr>
        <p:spPr>
          <a:xfrm>
            <a:off x="17497425" y="6577965"/>
            <a:ext cx="95250" cy="95250"/>
          </a:xfrm>
          <a:prstGeom prst="rect">
            <a:avLst/>
          </a:prstGeom>
          <a:solidFill>
            <a:srgbClr val="245D4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4" name="shape-623"/>
          <p:cNvSpPr>
            <a:spLocks noGrp="1"/>
          </p:cNvSpPr>
          <p:nvPr/>
        </p:nvSpPr>
        <p:spPr>
          <a:xfrm>
            <a:off x="17211675" y="6101715"/>
            <a:ext cx="381000" cy="571500"/>
          </a:xfrm>
          <a:prstGeom prst="rect">
            <a:avLst/>
          </a:prstGeom>
          <a:noFill/>
          <a:ln w="20079">
            <a:solidFill>
              <a:srgbClr val="337F68"/>
            </a:solidFill>
            <a:prstDash val="solid"/>
          </a:ln>
        </p:spPr>
      </p:sp>
      <p:sp>
        <p:nvSpPr>
          <p:cNvPr id="985" name="Base key Kᴳ"/>
          <p:cNvSpPr>
            <a:spLocks noGrp="1"/>
          </p:cNvSpPr>
          <p:nvPr/>
        </p:nvSpPr>
        <p:spPr>
          <a:xfrm>
            <a:off x="12849225" y="6758940"/>
            <a:ext cx="1438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4F66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4F66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4F66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Base key Kᴳ</a:t>
            </a:r>
            <a:endParaRPr sz="1500" b="0" i="0">
              <a:solidFill>
                <a:srgbClr val="4F66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6" name="Context Cᴾ"/>
          <p:cNvSpPr>
            <a:spLocks noGrp="1"/>
          </p:cNvSpPr>
          <p:nvPr/>
        </p:nvSpPr>
        <p:spPr>
          <a:xfrm>
            <a:off x="14611350" y="6758940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Context Cᴾ</a:t>
            </a:r>
            <a:endParaRPr sz="15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7" name="Updated key K̃ᴳ"/>
          <p:cNvSpPr>
            <a:spLocks noGrp="1"/>
          </p:cNvSpPr>
          <p:nvPr/>
        </p:nvSpPr>
        <p:spPr>
          <a:xfrm>
            <a:off x="16478250" y="6758940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Updated key K̃ᴳ</a:t>
            </a:r>
            <a:endParaRPr sz="1800" b="1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8" name="K̃ᴳ = Kᴳ + Cᴾ"/>
          <p:cNvSpPr>
            <a:spLocks noGrp="1"/>
          </p:cNvSpPr>
          <p:nvPr/>
        </p:nvSpPr>
        <p:spPr>
          <a:xfrm>
            <a:off x="15744825" y="5949315"/>
            <a:ext cx="13525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500" b="0" i="1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 i="1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K̃ᴳ = Kᴳ + Cᴾ</a:t>
            </a:r>
            <a:endParaRPr sz="1500" b="0" i="1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9" name="softmax(Qᴳ K̃ᴳᵀ / √dₕ + Mᴳ) Vᴳ"/>
          <p:cNvSpPr>
            <a:spLocks noGrp="1"/>
          </p:cNvSpPr>
          <p:nvPr/>
        </p:nvSpPr>
        <p:spPr>
          <a:xfrm>
            <a:off x="13163550" y="7273290"/>
            <a:ext cx="5219700" cy="352425"/>
          </a:xfrm>
          <a:prstGeom prst="rect">
            <a:avLst/>
          </a:prstGeom>
          <a:solidFill>
            <a:srgbClr val="AACFC2"/>
          </a:solidFill>
          <a:ln w="17780">
            <a:solidFill>
              <a:srgbClr val="337F68"/>
            </a:solidFill>
            <a:prstDash val="solid"/>
          </a:ln>
        </p:spPr>
      </p:sp>
      <p:sp>
        <p:nvSpPr>
          <p:cNvPr id="990" name="softmax(Qᴳ K̃ᴳᵀ / √dₕ + Mᴳ) Vᴳ"/>
          <p:cNvSpPr>
            <a:spLocks noGrp="1"/>
          </p:cNvSpPr>
          <p:nvPr/>
        </p:nvSpPr>
        <p:spPr>
          <a:xfrm>
            <a:off x="13201650" y="7292340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softmax(Qᴳ K̃ᴳᵀ / √d</a:t>
            </a:r>
            <a:r>
              <a:rPr sz="1330" b="0" i="0" baseline="-2500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900" b="0" i="0">
                <a:solidFill>
                  <a:srgbClr val="1B1B1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+ Mᴳ) Vᴳ</a:t>
            </a:r>
            <a:endParaRPr sz="1900" b="0" i="0">
              <a:solidFill>
                <a:srgbClr val="1B1B1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991" name="updated-key-to-attention"/>
          <p:cNvCxnSpPr/>
          <p:nvPr/>
        </p:nvCxnSpPr>
        <p:spPr>
          <a:xfrm>
            <a:off x="17402175" y="6997065"/>
            <a:ext cx="1" cy="276225"/>
          </a:xfrm>
          <a:custGeom>
            <a:avLst/>
            <a:gdLst/>
            <a:ahLst/>
            <a:cxnLst/>
            <a:pathLst>
              <a:path w="1" h="276225" fill="none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7717">
            <a:solidFill>
              <a:srgbClr val="337F68"/>
            </a:solidFill>
            <a:prstDash val="solid"/>
            <a:tailEnd type="arrow" w="sm" len="sm"/>
          </a:ln>
        </p:spPr>
      </p:cxnSp>
      <p:sp>
        <p:nvSpPr>
          <p:cNvPr id="994" name="Qᴳ, Vᴳ"/>
          <p:cNvSpPr>
            <a:spLocks noGrp="1"/>
          </p:cNvSpPr>
          <p:nvPr/>
        </p:nvSpPr>
        <p:spPr>
          <a:xfrm>
            <a:off x="12649200" y="715899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 i="0">
                <a:solidFill>
                  <a:srgbClr val="4F66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300" b="0" i="0">
                <a:solidFill>
                  <a:srgbClr val="4F66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00" b="0" i="0">
                <a:solidFill>
                  <a:srgbClr val="4F66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Qᴳ, Vᴳ</a:t>
            </a:r>
            <a:endParaRPr sz="1300" b="0" i="0">
              <a:solidFill>
                <a:srgbClr val="4F66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995" name="qv-to-geographic-attention"/>
          <p:cNvCxnSpPr/>
          <p:nvPr/>
        </p:nvCxnSpPr>
        <p:spPr>
          <a:xfrm>
            <a:off x="12992100" y="7387590"/>
            <a:ext cx="171450" cy="1"/>
          </a:xfrm>
          <a:custGeom>
            <a:avLst/>
            <a:gdLst/>
            <a:ahLst/>
            <a:cxnLst/>
            <a:pathLst>
              <a:path w="171450" h="1" fill="none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999" name="Resource i*"/>
          <p:cNvSpPr>
            <a:spLocks noGrp="1"/>
          </p:cNvSpPr>
          <p:nvPr/>
        </p:nvSpPr>
        <p:spPr>
          <a:xfrm>
            <a:off x="12820650" y="9025890"/>
            <a:ext cx="1276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Resource i*</a:t>
            </a:r>
            <a:endParaRPr sz="1800" b="1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1000" name="report-time-axis"/>
          <p:cNvCxnSpPr/>
          <p:nvPr/>
        </p:nvCxnSpPr>
        <p:spPr>
          <a:xfrm>
            <a:off x="14201775" y="9197340"/>
            <a:ext cx="4105275" cy="1"/>
          </a:xfrm>
          <a:custGeom>
            <a:avLst/>
            <a:gdLst/>
            <a:ahLst/>
            <a:cxnLst/>
            <a:pathLst>
              <a:path w="4105275" h="1" fill="none">
                <a:moveTo>
                  <a:pt x="0" y="0"/>
                </a:moveTo>
                <a:lnTo>
                  <a:pt x="4105275" y="0"/>
                </a:lnTo>
              </a:path>
            </a:pathLst>
          </a:custGeom>
          <a:noFill/>
          <a:ln w="14173">
            <a:solidFill>
              <a:srgbClr val="356B91"/>
            </a:solidFill>
            <a:prstDash val="solid"/>
            <a:tailEnd type="arrow" w="sm" len="sm"/>
          </a:ln>
        </p:spPr>
      </p:cxnSp>
      <p:sp>
        <p:nvSpPr>
          <p:cNvPr id="1003" name="line-633"/>
          <p:cNvSpPr>
            <a:spLocks noGrp="1"/>
          </p:cNvSpPr>
          <p:nvPr/>
        </p:nvSpPr>
        <p:spPr>
          <a:xfrm>
            <a:off x="14201775" y="914019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56B91"/>
            </a:solidFill>
            <a:prstDash val="solid"/>
          </a:ln>
        </p:spPr>
      </p:sp>
      <p:sp>
        <p:nvSpPr>
          <p:cNvPr id="1004" name="line-634"/>
          <p:cNvSpPr>
            <a:spLocks noGrp="1"/>
          </p:cNvSpPr>
          <p:nvPr/>
        </p:nvSpPr>
        <p:spPr>
          <a:xfrm>
            <a:off x="15154275" y="914019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56B91"/>
            </a:solidFill>
            <a:prstDash val="solid"/>
          </a:ln>
        </p:spPr>
      </p:sp>
      <p:sp>
        <p:nvSpPr>
          <p:cNvPr id="1005" name="line-635"/>
          <p:cNvSpPr>
            <a:spLocks noGrp="1"/>
          </p:cNvSpPr>
          <p:nvPr/>
        </p:nvSpPr>
        <p:spPr>
          <a:xfrm>
            <a:off x="17059275" y="914019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993">
            <a:solidFill>
              <a:srgbClr val="356B91"/>
            </a:solidFill>
            <a:prstDash val="solid"/>
          </a:ln>
        </p:spPr>
      </p:sp>
      <p:sp>
        <p:nvSpPr>
          <p:cNvPr id="1006" name="t"/>
          <p:cNvSpPr>
            <a:spLocks noGrp="1"/>
          </p:cNvSpPr>
          <p:nvPr/>
        </p:nvSpPr>
        <p:spPr>
          <a:xfrm>
            <a:off x="14058900" y="8902065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endParaRPr sz="1400" b="0" i="1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07" name="t + ŝ"/>
          <p:cNvSpPr>
            <a:spLocks noGrp="1"/>
          </p:cNvSpPr>
          <p:nvPr/>
        </p:nvSpPr>
        <p:spPr>
          <a:xfrm>
            <a:off x="14839950" y="8902065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 + ŝ</a:t>
            </a:r>
            <a:endParaRPr sz="1400" b="0" i="1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08" name="t + ŝ + d̂"/>
          <p:cNvSpPr>
            <a:spLocks noGrp="1"/>
          </p:cNvSpPr>
          <p:nvPr/>
        </p:nvSpPr>
        <p:spPr>
          <a:xfrm>
            <a:off x="16621125" y="890206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1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 + ŝ + d̂</a:t>
            </a:r>
            <a:endParaRPr sz="1400" b="0" i="1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09" name="State"/>
          <p:cNvSpPr>
            <a:spLocks noGrp="1"/>
          </p:cNvSpPr>
          <p:nvPr/>
        </p:nvSpPr>
        <p:spPr>
          <a:xfrm>
            <a:off x="12839700" y="9492615"/>
            <a:ext cx="1152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State</a:t>
            </a:r>
            <a:endParaRPr sz="18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10" name="Predicted occupancy cell"/>
          <p:cNvSpPr>
            <a:spLocks noGrp="1"/>
          </p:cNvSpPr>
          <p:nvPr/>
        </p:nvSpPr>
        <p:spPr>
          <a:xfrm>
            <a:off x="142017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1" name="Predicted occupancy cell"/>
          <p:cNvSpPr>
            <a:spLocks noGrp="1"/>
          </p:cNvSpPr>
          <p:nvPr/>
        </p:nvSpPr>
        <p:spPr>
          <a:xfrm>
            <a:off x="143922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2" name="Predicted occupancy cell"/>
          <p:cNvSpPr>
            <a:spLocks noGrp="1"/>
          </p:cNvSpPr>
          <p:nvPr/>
        </p:nvSpPr>
        <p:spPr>
          <a:xfrm>
            <a:off x="145827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3" name="Predicted occupancy cell"/>
          <p:cNvSpPr>
            <a:spLocks noGrp="1"/>
          </p:cNvSpPr>
          <p:nvPr/>
        </p:nvSpPr>
        <p:spPr>
          <a:xfrm>
            <a:off x="147732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4" name="Predicted occupancy cell"/>
          <p:cNvSpPr>
            <a:spLocks noGrp="1"/>
          </p:cNvSpPr>
          <p:nvPr/>
        </p:nvSpPr>
        <p:spPr>
          <a:xfrm>
            <a:off x="149637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5" name="Predicted occupancy cell"/>
          <p:cNvSpPr>
            <a:spLocks noGrp="1"/>
          </p:cNvSpPr>
          <p:nvPr/>
        </p:nvSpPr>
        <p:spPr>
          <a:xfrm>
            <a:off x="151542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6" name="Predicted occupancy cell"/>
          <p:cNvSpPr>
            <a:spLocks noGrp="1"/>
          </p:cNvSpPr>
          <p:nvPr/>
        </p:nvSpPr>
        <p:spPr>
          <a:xfrm>
            <a:off x="153447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7" name="Predicted occupancy cell"/>
          <p:cNvSpPr>
            <a:spLocks noGrp="1"/>
          </p:cNvSpPr>
          <p:nvPr/>
        </p:nvSpPr>
        <p:spPr>
          <a:xfrm>
            <a:off x="155352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8" name="Predicted occupancy cell"/>
          <p:cNvSpPr>
            <a:spLocks noGrp="1"/>
          </p:cNvSpPr>
          <p:nvPr/>
        </p:nvSpPr>
        <p:spPr>
          <a:xfrm>
            <a:off x="157257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9" name="Predicted occupancy cell"/>
          <p:cNvSpPr>
            <a:spLocks noGrp="1"/>
          </p:cNvSpPr>
          <p:nvPr/>
        </p:nvSpPr>
        <p:spPr>
          <a:xfrm>
            <a:off x="159162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0" name="Predicted occupancy cell"/>
          <p:cNvSpPr>
            <a:spLocks noGrp="1"/>
          </p:cNvSpPr>
          <p:nvPr/>
        </p:nvSpPr>
        <p:spPr>
          <a:xfrm>
            <a:off x="161067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1" name="Predicted occupancy cell"/>
          <p:cNvSpPr>
            <a:spLocks noGrp="1"/>
          </p:cNvSpPr>
          <p:nvPr/>
        </p:nvSpPr>
        <p:spPr>
          <a:xfrm>
            <a:off x="162972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2" name="Predicted occupancy cell"/>
          <p:cNvSpPr>
            <a:spLocks noGrp="1"/>
          </p:cNvSpPr>
          <p:nvPr/>
        </p:nvSpPr>
        <p:spPr>
          <a:xfrm>
            <a:off x="164877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3" name="Predicted occupancy cell"/>
          <p:cNvSpPr>
            <a:spLocks noGrp="1"/>
          </p:cNvSpPr>
          <p:nvPr/>
        </p:nvSpPr>
        <p:spPr>
          <a:xfrm>
            <a:off x="166782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4" name="Predicted occupancy cell"/>
          <p:cNvSpPr>
            <a:spLocks noGrp="1"/>
          </p:cNvSpPr>
          <p:nvPr/>
        </p:nvSpPr>
        <p:spPr>
          <a:xfrm>
            <a:off x="16868775" y="9483090"/>
            <a:ext cx="180975" cy="257175"/>
          </a:xfrm>
          <a:prstGeom prst="rect">
            <a:avLst/>
          </a:prstGeom>
          <a:solidFill>
            <a:srgbClr val="337F6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5" name="Predicted occupancy cell"/>
          <p:cNvSpPr>
            <a:spLocks noGrp="1"/>
          </p:cNvSpPr>
          <p:nvPr/>
        </p:nvSpPr>
        <p:spPr>
          <a:xfrm>
            <a:off x="170592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6" name="Predicted occupancy cell"/>
          <p:cNvSpPr>
            <a:spLocks noGrp="1"/>
          </p:cNvSpPr>
          <p:nvPr/>
        </p:nvSpPr>
        <p:spPr>
          <a:xfrm>
            <a:off x="172497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7" name="Predicted occupancy cell"/>
          <p:cNvSpPr>
            <a:spLocks noGrp="1"/>
          </p:cNvSpPr>
          <p:nvPr/>
        </p:nvSpPr>
        <p:spPr>
          <a:xfrm>
            <a:off x="174402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8" name="Predicted occupancy cell"/>
          <p:cNvSpPr>
            <a:spLocks noGrp="1"/>
          </p:cNvSpPr>
          <p:nvPr/>
        </p:nvSpPr>
        <p:spPr>
          <a:xfrm>
            <a:off x="176307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9" name="Predicted occupancy cell"/>
          <p:cNvSpPr>
            <a:spLocks noGrp="1"/>
          </p:cNvSpPr>
          <p:nvPr/>
        </p:nvSpPr>
        <p:spPr>
          <a:xfrm>
            <a:off x="178212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0" name="Predicted occupancy cell"/>
          <p:cNvSpPr>
            <a:spLocks noGrp="1"/>
          </p:cNvSpPr>
          <p:nvPr/>
        </p:nvSpPr>
        <p:spPr>
          <a:xfrm>
            <a:off x="18011775" y="9483090"/>
            <a:ext cx="180975" cy="257175"/>
          </a:xfrm>
          <a:prstGeom prst="rect">
            <a:avLst/>
          </a:prstGeom>
          <a:solidFill>
            <a:srgbClr val="E1E7EB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1" name="line-636"/>
          <p:cNvSpPr>
            <a:spLocks noGrp="1"/>
          </p:cNvSpPr>
          <p:nvPr/>
        </p:nvSpPr>
        <p:spPr>
          <a:xfrm>
            <a:off x="15154275" y="927354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337F68"/>
            </a:solidFill>
            <a:prstDash val="dash"/>
          </a:ln>
        </p:spPr>
      </p:sp>
      <p:sp>
        <p:nvSpPr>
          <p:cNvPr id="1032" name="line-637"/>
          <p:cNvSpPr>
            <a:spLocks noGrp="1"/>
          </p:cNvSpPr>
          <p:nvPr/>
        </p:nvSpPr>
        <p:spPr>
          <a:xfrm>
            <a:off x="17059275" y="927354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337F68"/>
            </a:solidFill>
            <a:prstDash val="dash"/>
          </a:ln>
        </p:spPr>
      </p:sp>
      <p:sp>
        <p:nvSpPr>
          <p:cNvPr id="1033" name="line-638"/>
          <p:cNvSpPr>
            <a:spLocks noGrp="1"/>
          </p:cNvSpPr>
          <p:nvPr/>
        </p:nvSpPr>
        <p:spPr>
          <a:xfrm>
            <a:off x="15154275" y="9987915"/>
            <a:ext cx="1905000" cy="95"/>
          </a:xfrm>
          <a:custGeom>
            <a:avLst/>
            <a:gdLst/>
            <a:ahLst/>
            <a:cxnLst/>
            <a:pathLst>
              <a:path w="1905000" h="9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7717">
            <a:solidFill>
              <a:srgbClr val="337F68"/>
            </a:solidFill>
            <a:prstDash val="solid"/>
          </a:ln>
        </p:spPr>
      </p:sp>
      <p:sp>
        <p:nvSpPr>
          <p:cNvPr id="1034" name="line-639"/>
          <p:cNvSpPr>
            <a:spLocks noGrp="1"/>
          </p:cNvSpPr>
          <p:nvPr/>
        </p:nvSpPr>
        <p:spPr>
          <a:xfrm>
            <a:off x="15154275" y="993076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7717">
            <a:solidFill>
              <a:srgbClr val="337F68"/>
            </a:solidFill>
            <a:prstDash val="solid"/>
          </a:ln>
        </p:spPr>
      </p:sp>
      <p:sp>
        <p:nvSpPr>
          <p:cNvPr id="1035" name="line-640"/>
          <p:cNvSpPr>
            <a:spLocks noGrp="1"/>
          </p:cNvSpPr>
          <p:nvPr/>
        </p:nvSpPr>
        <p:spPr>
          <a:xfrm>
            <a:off x="17059275" y="993076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7717">
            <a:solidFill>
              <a:srgbClr val="337F68"/>
            </a:solidFill>
            <a:prstDash val="solid"/>
          </a:ln>
        </p:spPr>
      </p:sp>
      <p:sp>
        <p:nvSpPr>
          <p:cNvPr id="1036" name="Occurrence ŵ"/>
          <p:cNvSpPr>
            <a:spLocks noGrp="1"/>
          </p:cNvSpPr>
          <p:nvPr/>
        </p:nvSpPr>
        <p:spPr>
          <a:xfrm>
            <a:off x="12820650" y="10045065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Occurrence ŵ</a:t>
            </a:r>
            <a:endParaRPr sz="18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37" name="Duration d̂"/>
          <p:cNvSpPr>
            <a:spLocks noGrp="1"/>
          </p:cNvSpPr>
          <p:nvPr/>
        </p:nvSpPr>
        <p:spPr>
          <a:xfrm>
            <a:off x="15173325" y="10045065"/>
            <a:ext cx="1885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Duration d̂</a:t>
            </a:r>
            <a:endParaRPr sz="18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38" name="Onset ŝ"/>
          <p:cNvSpPr>
            <a:spLocks noGrp="1"/>
          </p:cNvSpPr>
          <p:nvPr/>
        </p:nvSpPr>
        <p:spPr>
          <a:xfrm>
            <a:off x="14754225" y="978789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4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0" i="0">
                <a:solidFill>
                  <a:srgbClr val="337F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Onset ŝ</a:t>
            </a:r>
            <a:endParaRPr sz="1400" b="0" i="0">
              <a:solidFill>
                <a:srgbClr val="337F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39" name="line-641"/>
          <p:cNvSpPr>
            <a:spLocks noGrp="1"/>
          </p:cNvSpPr>
          <p:nvPr/>
        </p:nvSpPr>
        <p:spPr>
          <a:xfrm>
            <a:off x="12811125" y="10549890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CCD9E1"/>
            </a:solidFill>
            <a:prstDash val="solid"/>
          </a:ln>
        </p:spPr>
      </p:sp>
      <p:sp>
        <p:nvSpPr>
          <p:cNvPr id="1040" name="Process cause ĉ"/>
          <p:cNvSpPr>
            <a:spLocks noGrp="1"/>
          </p:cNvSpPr>
          <p:nvPr/>
        </p:nvSpPr>
        <p:spPr>
          <a:xfrm>
            <a:off x="12820650" y="10768965"/>
            <a:ext cx="19907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 cause ĉ</a:t>
            </a:r>
            <a:endParaRPr sz="18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1" name="Process class indicator"/>
          <p:cNvSpPr>
            <a:spLocks noGrp="1"/>
          </p:cNvSpPr>
          <p:nvPr/>
        </p:nvSpPr>
        <p:spPr>
          <a:xfrm>
            <a:off x="15878175" y="10816590"/>
            <a:ext cx="314325" cy="190500"/>
          </a:xfrm>
          <a:prstGeom prst="rect">
            <a:avLst/>
          </a:prstGeom>
          <a:solidFill>
            <a:srgbClr val="F9D3B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2" name="Process class indicator"/>
          <p:cNvSpPr>
            <a:spLocks noGrp="1"/>
          </p:cNvSpPr>
          <p:nvPr/>
        </p:nvSpPr>
        <p:spPr>
          <a:xfrm>
            <a:off x="16268700" y="10816590"/>
            <a:ext cx="314325" cy="190500"/>
          </a:xfrm>
          <a:prstGeom prst="rect">
            <a:avLst/>
          </a:prstGeom>
          <a:solidFill>
            <a:srgbClr val="B96A43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3" name="Process class indicator"/>
          <p:cNvSpPr>
            <a:spLocks noGrp="1"/>
          </p:cNvSpPr>
          <p:nvPr/>
        </p:nvSpPr>
        <p:spPr>
          <a:xfrm>
            <a:off x="16659225" y="10816590"/>
            <a:ext cx="314325" cy="190500"/>
          </a:xfrm>
          <a:prstGeom prst="rect">
            <a:avLst/>
          </a:prstGeom>
          <a:solidFill>
            <a:srgbClr val="F9D3B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4" name="Process class indicator"/>
          <p:cNvSpPr>
            <a:spLocks noGrp="1"/>
          </p:cNvSpPr>
          <p:nvPr/>
        </p:nvSpPr>
        <p:spPr>
          <a:xfrm>
            <a:off x="17049750" y="10816590"/>
            <a:ext cx="314325" cy="190500"/>
          </a:xfrm>
          <a:prstGeom prst="rect">
            <a:avLst/>
          </a:prstGeom>
          <a:solidFill>
            <a:srgbClr val="F9D3B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6" name="Order remaining time ℓ̂"/>
          <p:cNvSpPr>
            <a:spLocks noGrp="1"/>
          </p:cNvSpPr>
          <p:nvPr/>
        </p:nvSpPr>
        <p:spPr>
          <a:xfrm>
            <a:off x="12820650" y="11454765"/>
            <a:ext cx="27336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 i="0">
                <a:solidFill>
                  <a:srgbClr val="356B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Order remaining time ℓ̂</a:t>
            </a:r>
            <a:endParaRPr sz="1800" b="0" i="0">
              <a:solidFill>
                <a:srgbClr val="356B9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47" name="shape-642"/>
          <p:cNvSpPr>
            <a:spLocks noGrp="1"/>
          </p:cNvSpPr>
          <p:nvPr/>
        </p:nvSpPr>
        <p:spPr>
          <a:xfrm>
            <a:off x="15773400" y="11530965"/>
            <a:ext cx="2524125" cy="123825"/>
          </a:xfrm>
          <a:prstGeom prst="rect">
            <a:avLst/>
          </a:prstGeom>
          <a:solidFill>
            <a:srgbClr val="DCEBF1"/>
          </a:solidFill>
          <a:ln w="5715">
            <a:solidFill>
              <a:srgbClr val="A4CFE2"/>
            </a:solidFill>
            <a:prstDash val="solid"/>
          </a:ln>
        </p:spPr>
      </p:sp>
      <p:sp>
        <p:nvSpPr>
          <p:cNvPr id="1048" name="shape-643"/>
          <p:cNvSpPr>
            <a:spLocks noGrp="1"/>
          </p:cNvSpPr>
          <p:nvPr/>
        </p:nvSpPr>
        <p:spPr>
          <a:xfrm>
            <a:off x="15773400" y="11530965"/>
            <a:ext cx="1695450" cy="123825"/>
          </a:xfrm>
          <a:prstGeom prst="rect">
            <a:avLst/>
          </a:prstGeom>
          <a:solidFill>
            <a:srgbClr val="75AEC7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1485</Words>
  <Application>WPS 演示</Application>
  <PresentationFormat>Converted Presentation</PresentationFormat>
  <Paragraphs>215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田宇潇</cp:lastModifiedBy>
  <cp:revision>10</cp:revision>
  <dcterms:created xsi:type="dcterms:W3CDTF">2026-10-22T08:24:00Z</dcterms:created>
  <dcterms:modified xsi:type="dcterms:W3CDTF">2026-10-25T23:33:35Z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718E08E667F142C293F14A546DE74BCF_13</vt:lpwstr>
  </property>
  <property fmtid="{D5CDD505-2E9C-101B-9397-08002B2CF9AE}" pid="3" name="KSOProductBuildVer">
    <vt:lpwstr>2052-12.1.0.29161</vt:lpwstr>
  </property>
</Properties>
</file>