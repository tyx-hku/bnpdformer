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68231c61745ab" /><Relationship Type="http://schemas.openxmlformats.org/officeDocument/2006/relationships/extended-properties" Target="/docProps/app.xml" Id="R9dbb22d3027a4290" /><Relationship Type="http://schemas.openxmlformats.org/officeDocument/2006/relationships/officeDocument" Target="/ppt/presentation.xml" Id="R9a1d4e60cf6c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9e12b221a4dae"/>
  </p:sldMasterIdLst>
  <p:notesMasterIdLst>
    <p:notesMasterId xmlns:r="http://schemas.openxmlformats.org/officeDocument/2006/relationships" r:id="R843965b5c68a4789"/>
  </p:notesMasterIdLst>
  <p:sldIdLst>
    <p:sldId xmlns:r="http://schemas.openxmlformats.org/officeDocument/2006/relationships" id="256" r:id="R37aa6081966145c4"/>
  </p:sldIdLst>
  <p:sldSz cx="11430000" cy="1333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1a1dcd1974910" /><Relationship Type="http://schemas.openxmlformats.org/officeDocument/2006/relationships/slideMaster" Target="/ppt/slideMasters/slideMaster1.xml" Id="R8789e12b221a4dae" /><Relationship Type="http://schemas.openxmlformats.org/officeDocument/2006/relationships/notesMaster" Target="/ppt/notesMasters/notesMaster1.xml" Id="R843965b5c68a4789" /><Relationship Type="http://schemas.openxmlformats.org/officeDocument/2006/relationships/presProps" Target="/ppt/presProps.xml" Id="Re68d57b9fc9e4975" /><Relationship Type="http://schemas.openxmlformats.org/officeDocument/2006/relationships/tableStyles" Target="/ppt/tableStyles.xml" Id="R94242373582a4fc0" /><Relationship Type="http://schemas.openxmlformats.org/officeDocument/2006/relationships/slide" Target="/ppt/slides/slide1.xml" Id="R37aa6081966145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84677ce8544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c853f67544f9f" /><Relationship Type="http://schemas.openxmlformats.org/officeDocument/2006/relationships/notesMaster" Target="/ppt/notesMasters/notesMaster1.xml" Id="R9861f251a926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redraw: the original a/b/c content is retained. Scene image is byte-for-byte extracted from figures/fig_experiment_final.pptx with the original crop.</a:t>
            </a:r>
          </a:p>
          <a:p xmlns:a="http://schemas.openxmlformats.org/drawingml/2006/main">
            <a:r>
              <a:t>Manufacturing stages 1–6 and handling subtasks 7–9 retain the original task semantics. The diagram is a representative undirected resource graph, not a task-precedence graph.</a:t>
            </a:r>
          </a:p>
          <a:p xmlns:a="http://schemas.openxmlformats.org/drawingml/2006/main">
            <a:r>
              <a:t>Graph edge data: source/isaaclab_tasks/isaaclab_tasks/direct/hc_factory/PDFormer/factory_bn/graph.py, PROCESS_CHAIN and BUFFER_MACHINE_AFFINITY. Agent nodes connect to all seven stations. B1 targets M1/M2; B2 targets M1/M2/M3; B3 targets M3–M7.</a:t>
            </a:r>
          </a:p>
          <a:p xmlns:a="http://schemas.openxmlformats.org/drawingml/2006/main">
            <a:r>
              <a:t>Layout reference: Safe reinforcement learning with online filtering for fatigue-predictive human-robot task planning and allocation in production, Figure 4. No artwork copied from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d8b213b0847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94e1737d44e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20575071f41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47a39ba4f4e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60438d3454d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493203884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E56D5-0670-490F-8A7E-7D2D402BD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5037667"/>
            <a:ext cx="9144000" cy="1926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382CF0-1E9B-448E-95B2-63563B897B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7334250"/>
            <a:ext cx="8001000" cy="148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42615A-F11E-45B9-BB66-20F648A46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5556250"/>
            <a:ext cx="9144000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DE1E9E-1A62-4D89-AF73-82E4228BE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037167"/>
            <a:ext cx="10144125" cy="162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936E24-88E9-4589-8B57-AD925555D0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3704167"/>
            <a:ext cx="10144125" cy="829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17936C-0FE0-4EE7-9327-FE572F939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037167"/>
            <a:ext cx="10144125" cy="162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CD6BF7-FBC8-438A-BADA-D37831E081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3704167"/>
            <a:ext cx="4714875" cy="829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6F2A22-0614-4127-A202-AC1A1DA2DA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3704167"/>
            <a:ext cx="4714875" cy="829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E681A-D85D-4A4F-8FB7-E3518AB65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037167"/>
            <a:ext cx="10144125" cy="162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A77994-8471-4930-A342-A1DCBEE822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3704167"/>
            <a:ext cx="4714875" cy="829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94130bb0a4ca3" /><Relationship Type="http://schemas.openxmlformats.org/officeDocument/2006/relationships/slideLayout" Target="/ppt/slideLayouts/slideLayout1.xml" Id="Rb45fd4fe3c444587" /><Relationship Type="http://schemas.openxmlformats.org/officeDocument/2006/relationships/slideLayout" Target="/ppt/slideLayouts/slideLayout2.xml" Id="R36424ae1991b4c67" /><Relationship Type="http://schemas.openxmlformats.org/officeDocument/2006/relationships/slideLayout" Target="/ppt/slideLayouts/slideLayout3.xml" Id="Rcec38dfe3c774b23" /><Relationship Type="http://schemas.openxmlformats.org/officeDocument/2006/relationships/slideLayout" Target="/ppt/slideLayouts/slideLayout4.xml" Id="R4ccee3737ccc4ea3" /><Relationship Type="http://schemas.openxmlformats.org/officeDocument/2006/relationships/slideLayout" Target="/ppt/slideLayouts/slideLayout5.xml" Id="Rcf5441d03dfa41f4" /><Relationship Type="http://schemas.openxmlformats.org/officeDocument/2006/relationships/slideLayout" Target="/ppt/slideLayouts/slideLayout6.xml" Id="R1d4174c537d0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fd4fe3c444587"/>
    <p:sldLayoutId xmlns:r="http://schemas.openxmlformats.org/officeDocument/2006/relationships" id="2147483650" r:id="R36424ae1991b4c67"/>
    <p:sldLayoutId xmlns:r="http://schemas.openxmlformats.org/officeDocument/2006/relationships" id="2147483651" r:id="Rcec38dfe3c774b23"/>
    <p:sldLayoutId xmlns:r="http://schemas.openxmlformats.org/officeDocument/2006/relationships" id="2147483652" r:id="R4ccee3737ccc4ea3"/>
    <p:sldLayoutId xmlns:r="http://schemas.openxmlformats.org/officeDocument/2006/relationships" id="2147483653" r:id="Rcf5441d03dfa41f4"/>
    <p:sldLayoutId xmlns:r="http://schemas.openxmlformats.org/officeDocument/2006/relationships" id="2147483654" r:id="R1d4174c537d0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781360b2449f6" /><Relationship Type="http://schemas.openxmlformats.org/officeDocument/2006/relationships/image" Target="/ppt/media/image.png" Id="R3b2950c314eb4f0e" /><Relationship Type="http://schemas.openxmlformats.org/officeDocument/2006/relationships/notesSlide" Target="/ppt/notesSlides/notesSlide1.xml" Id="R4e974d8eb6114a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Panel a">
            <a:extLst xmlns:a="http://schemas.openxmlformats.org/drawingml/2006/main">
              <a:ext uri="{FF2B5EF4-FFF2-40B4-BE49-F238E27FC236}">
                <a16:creationId xmlns:a16="http://schemas.microsoft.com/office/drawing/2014/main" id="{EAF422C5-26C4-4F9D-AF71-FEDB8FAA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2875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(a)  Digital-twin production environment and resource entities</a:t>
            </a:r>
          </a:p>
        </p:txBody>
      </p:sp>
      <p:sp>
        <p:nvSpPr>
          <p:cNvPr id="2" name="Panel a divider">
            <a:extLst xmlns:a="http://schemas.openxmlformats.org/drawingml/2006/main">
              <a:ext uri="{FF2B5EF4-FFF2-40B4-BE49-F238E27FC236}">
                <a16:creationId xmlns:a16="http://schemas.microsoft.com/office/drawing/2014/main" id="{A530F68C-5AB9-43B9-803B-ADFBB4B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4825"/>
            <a:ext cx="11087100" cy="95"/>
          </a:xfrm>
          <a:custGeom xmlns:a="http://schemas.openxmlformats.org/drawingml/2006/main">
            <a:pathLst>
              <a:path w="11087100" h="9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53C49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8B298-B7A7-4A0E-83BF-82564A2E0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950c314eb4f0e"/>
          <a:srcRect xmlns:a="http://schemas.openxmlformats.org/drawingml/2006/main" l="0" t="20000" r="32000" b="7000"/>
          <a:stretch xmlns:a="http://schemas.openxmlformats.org/drawingml/2006/main"/>
        </p:blipFill>
        <p:spPr>
          <a:xfrm xmlns:a="http://schemas.openxmlformats.org/drawingml/2006/main">
            <a:off x="171450" y="628650"/>
            <a:ext cx="7334250" cy="3162300"/>
          </a:xfrm>
          <a:prstGeom xmlns:a="http://schemas.openxmlformats.org/drawingml/2006/main" prst="rect">
            <a:avLst/>
          </a:prstGeom>
        </p:spPr>
      </p:pic>
      <p:sp>
        <p:nvSpPr>
          <p:cNvPr id="4" name="Callout M1">
            <a:extLst xmlns:a="http://schemas.openxmlformats.org/drawingml/2006/main">
              <a:ext uri="{FF2B5EF4-FFF2-40B4-BE49-F238E27FC236}">
                <a16:creationId xmlns:a16="http://schemas.microsoft.com/office/drawing/2014/main" id="{725492D5-6079-48C3-81AC-703BFEA0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973" y="2355723"/>
            <a:ext cx="95" cy="328422"/>
          </a:xfrm>
          <a:custGeom xmlns:a="http://schemas.openxmlformats.org/drawingml/2006/main">
            <a:pathLst>
              <a:path w="95" h="328422">
                <a:moveTo>
                  <a:pt x="0" y="0"/>
                </a:moveTo>
                <a:lnTo>
                  <a:pt x="0" y="328422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5" name="Tag M1">
            <a:extLst xmlns:a="http://schemas.openxmlformats.org/drawingml/2006/main">
              <a:ext uri="{FF2B5EF4-FFF2-40B4-BE49-F238E27FC236}">
                <a16:creationId xmlns:a16="http://schemas.microsoft.com/office/drawing/2014/main" id="{452E4276-ACEA-4388-A72A-6915F56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373" y="2127123"/>
            <a:ext cx="457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ene M1">
            <a:extLst xmlns:a="http://schemas.openxmlformats.org/drawingml/2006/main">
              <a:ext uri="{FF2B5EF4-FFF2-40B4-BE49-F238E27FC236}">
                <a16:creationId xmlns:a16="http://schemas.microsoft.com/office/drawing/2014/main" id="{C32C18CF-81EF-4BA6-A487-49E6A621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373" y="21366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7" name="Callout M2">
            <a:extLst xmlns:a="http://schemas.openxmlformats.org/drawingml/2006/main">
              <a:ext uri="{FF2B5EF4-FFF2-40B4-BE49-F238E27FC236}">
                <a16:creationId xmlns:a16="http://schemas.microsoft.com/office/drawing/2014/main" id="{B4857B08-F606-427B-B079-7E5C3251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905" y="2355723"/>
            <a:ext cx="220027" cy="423291"/>
          </a:xfrm>
          <a:custGeom xmlns:a="http://schemas.openxmlformats.org/drawingml/2006/main">
            <a:pathLst>
              <a:path w="220027" h="423291">
                <a:moveTo>
                  <a:pt x="220027" y="0"/>
                </a:moveTo>
                <a:lnTo>
                  <a:pt x="0" y="423291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8" name="Tag M2">
            <a:extLst xmlns:a="http://schemas.openxmlformats.org/drawingml/2006/main">
              <a:ext uri="{FF2B5EF4-FFF2-40B4-BE49-F238E27FC236}">
                <a16:creationId xmlns:a16="http://schemas.microsoft.com/office/drawing/2014/main" id="{0262AE18-174C-4893-8AC1-12C5FF58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333" y="2127123"/>
            <a:ext cx="457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ene M2">
            <a:extLst xmlns:a="http://schemas.openxmlformats.org/drawingml/2006/main">
              <a:ext uri="{FF2B5EF4-FFF2-40B4-BE49-F238E27FC236}">
                <a16:creationId xmlns:a16="http://schemas.microsoft.com/office/drawing/2014/main" id="{B40C2EB3-C2A4-4F53-8942-B0A958D2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333" y="21366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10" name="Callout M3 / M4">
            <a:extLst xmlns:a="http://schemas.openxmlformats.org/drawingml/2006/main">
              <a:ext uri="{FF2B5EF4-FFF2-40B4-BE49-F238E27FC236}">
                <a16:creationId xmlns:a16="http://schemas.microsoft.com/office/drawing/2014/main" id="{B1316D90-6400-4D20-A511-EC3FABDC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1217295"/>
            <a:ext cx="73342" cy="296799"/>
          </a:xfrm>
          <a:custGeom xmlns:a="http://schemas.openxmlformats.org/drawingml/2006/main">
            <a:pathLst>
              <a:path w="73342" h="296799">
                <a:moveTo>
                  <a:pt x="0" y="0"/>
                </a:moveTo>
                <a:lnTo>
                  <a:pt x="73342" y="29679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11" name="Tag M3 / M4">
            <a:extLst xmlns:a="http://schemas.openxmlformats.org/drawingml/2006/main">
              <a:ext uri="{FF2B5EF4-FFF2-40B4-BE49-F238E27FC236}">
                <a16:creationId xmlns:a16="http://schemas.microsoft.com/office/drawing/2014/main" id="{55ACECF2-E0B8-4165-83FB-0A81F00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" y="988695"/>
            <a:ext cx="800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e M3 / M4">
            <a:extLst xmlns:a="http://schemas.openxmlformats.org/drawingml/2006/main">
              <a:ext uri="{FF2B5EF4-FFF2-40B4-BE49-F238E27FC236}">
                <a16:creationId xmlns:a16="http://schemas.microsoft.com/office/drawing/2014/main" id="{071AE2A5-11FF-4648-97D6-42DACB08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" y="99822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M3 / M4</a:t>
            </a:r>
          </a:p>
        </p:txBody>
      </p:sp>
      <p:sp>
        <p:nvSpPr>
          <p:cNvPr id="13" name="Callout M5">
            <a:extLst xmlns:a="http://schemas.openxmlformats.org/drawingml/2006/main">
              <a:ext uri="{FF2B5EF4-FFF2-40B4-BE49-F238E27FC236}">
                <a16:creationId xmlns:a16="http://schemas.microsoft.com/office/drawing/2014/main" id="{BA9C7AAB-837D-44A5-BB8A-6A7F6D75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808" y="2355723"/>
            <a:ext cx="95" cy="328422"/>
          </a:xfrm>
          <a:custGeom xmlns:a="http://schemas.openxmlformats.org/drawingml/2006/main">
            <a:pathLst>
              <a:path w="95" h="328422">
                <a:moveTo>
                  <a:pt x="0" y="0"/>
                </a:moveTo>
                <a:lnTo>
                  <a:pt x="0" y="328422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14" name="Tag M5">
            <a:extLst xmlns:a="http://schemas.openxmlformats.org/drawingml/2006/main">
              <a:ext uri="{FF2B5EF4-FFF2-40B4-BE49-F238E27FC236}">
                <a16:creationId xmlns:a16="http://schemas.microsoft.com/office/drawing/2014/main" id="{34FE32D1-A038-447D-B11A-BB5DA2C0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208" y="2127123"/>
            <a:ext cx="457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e M5">
            <a:extLst xmlns:a="http://schemas.openxmlformats.org/drawingml/2006/main">
              <a:ext uri="{FF2B5EF4-FFF2-40B4-BE49-F238E27FC236}">
                <a16:creationId xmlns:a16="http://schemas.microsoft.com/office/drawing/2014/main" id="{A5F3A48F-4965-4AC0-97A6-0505D398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208" y="21366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M5</a:t>
            </a:r>
          </a:p>
        </p:txBody>
      </p:sp>
      <p:sp>
        <p:nvSpPr>
          <p:cNvPr id="16" name="Callout M6 / M7">
            <a:extLst xmlns:a="http://schemas.openxmlformats.org/drawingml/2006/main">
              <a:ext uri="{FF2B5EF4-FFF2-40B4-BE49-F238E27FC236}">
                <a16:creationId xmlns:a16="http://schemas.microsoft.com/office/drawing/2014/main" id="{A6CBAAB2-3401-4FF4-AD31-CA9A46D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16" y="2355723"/>
            <a:ext cx="95" cy="360045"/>
          </a:xfrm>
          <a:custGeom xmlns:a="http://schemas.openxmlformats.org/drawingml/2006/main">
            <a:pathLst>
              <a:path w="95" h="360045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17" name="Tag M6 / M7">
            <a:extLst xmlns:a="http://schemas.openxmlformats.org/drawingml/2006/main">
              <a:ext uri="{FF2B5EF4-FFF2-40B4-BE49-F238E27FC236}">
                <a16:creationId xmlns:a16="http://schemas.microsoft.com/office/drawing/2014/main" id="{62991F14-9ED1-46FF-B1FA-E3946F42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66" y="2127123"/>
            <a:ext cx="800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e M6 / M7">
            <a:extLst xmlns:a="http://schemas.openxmlformats.org/drawingml/2006/main">
              <a:ext uri="{FF2B5EF4-FFF2-40B4-BE49-F238E27FC236}">
                <a16:creationId xmlns:a16="http://schemas.microsoft.com/office/drawing/2014/main" id="{14732D1E-6313-4417-B48B-9136214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66" y="2136648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M6 / M7</a:t>
            </a:r>
          </a:p>
        </p:txBody>
      </p:sp>
      <p:sp>
        <p:nvSpPr>
          <p:cNvPr id="19" name="Callout Human">
            <a:extLst xmlns:a="http://schemas.openxmlformats.org/drawingml/2006/main">
              <a:ext uri="{FF2B5EF4-FFF2-40B4-BE49-F238E27FC236}">
                <a16:creationId xmlns:a16="http://schemas.microsoft.com/office/drawing/2014/main" id="{02336F86-2350-44CB-8956-233E0BEB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124" y="1106615"/>
            <a:ext cx="110014" cy="407480"/>
          </a:xfrm>
          <a:custGeom xmlns:a="http://schemas.openxmlformats.org/drawingml/2006/main">
            <a:pathLst>
              <a:path w="110014" h="407480">
                <a:moveTo>
                  <a:pt x="0" y="0"/>
                </a:moveTo>
                <a:lnTo>
                  <a:pt x="110014" y="40748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20" name="Tag Human">
            <a:extLst xmlns:a="http://schemas.openxmlformats.org/drawingml/2006/main">
              <a:ext uri="{FF2B5EF4-FFF2-40B4-BE49-F238E27FC236}">
                <a16:creationId xmlns:a16="http://schemas.microsoft.com/office/drawing/2014/main" id="{92F863E4-28E6-4D8C-B67C-54359A55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461" y="878015"/>
            <a:ext cx="695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B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e Human">
            <a:extLst xmlns:a="http://schemas.openxmlformats.org/drawingml/2006/main">
              <a:ext uri="{FF2B5EF4-FFF2-40B4-BE49-F238E27FC236}">
                <a16:creationId xmlns:a16="http://schemas.microsoft.com/office/drawing/2014/main" id="{E83BE8CA-AA4E-4360-9A29-FED9D032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461" y="88754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22" name="Callout Buffer">
            <a:extLst xmlns:a="http://schemas.openxmlformats.org/drawingml/2006/main">
              <a:ext uri="{FF2B5EF4-FFF2-40B4-BE49-F238E27FC236}">
                <a16:creationId xmlns:a16="http://schemas.microsoft.com/office/drawing/2014/main" id="{87C18389-0F9E-4125-A60E-5CCC525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919" y="1106615"/>
            <a:ext cx="36671" cy="407480"/>
          </a:xfrm>
          <a:custGeom xmlns:a="http://schemas.openxmlformats.org/drawingml/2006/main">
            <a:pathLst>
              <a:path w="36671" h="407480">
                <a:moveTo>
                  <a:pt x="0" y="0"/>
                </a:moveTo>
                <a:lnTo>
                  <a:pt x="36671" y="40748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23" name="Tag Buffer">
            <a:extLst xmlns:a="http://schemas.openxmlformats.org/drawingml/2006/main">
              <a:ext uri="{FF2B5EF4-FFF2-40B4-BE49-F238E27FC236}">
                <a16:creationId xmlns:a16="http://schemas.microsoft.com/office/drawing/2014/main" id="{4289B8D8-F590-4E3E-8E2C-4564CF5D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878015"/>
            <a:ext cx="695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e Buffer">
            <a:extLst xmlns:a="http://schemas.openxmlformats.org/drawingml/2006/main">
              <a:ext uri="{FF2B5EF4-FFF2-40B4-BE49-F238E27FC236}">
                <a16:creationId xmlns:a16="http://schemas.microsoft.com/office/drawing/2014/main" id="{0E96C25F-B8F6-4462-8EA0-253F35B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887540"/>
            <a:ext cx="69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Buffer</a:t>
            </a:r>
          </a:p>
        </p:txBody>
      </p:sp>
      <p:sp>
        <p:nvSpPr>
          <p:cNvPr id="25" name="Callout Gantry">
            <a:extLst xmlns:a="http://schemas.openxmlformats.org/drawingml/2006/main">
              <a:ext uri="{FF2B5EF4-FFF2-40B4-BE49-F238E27FC236}">
                <a16:creationId xmlns:a16="http://schemas.microsoft.com/office/drawing/2014/main" id="{29F0E6B1-AF49-44BD-855D-1AC3C2CE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808" y="2023682"/>
            <a:ext cx="586740" cy="122872"/>
          </a:xfrm>
          <a:custGeom xmlns:a="http://schemas.openxmlformats.org/drawingml/2006/main">
            <a:pathLst>
              <a:path w="586740" h="122872">
                <a:moveTo>
                  <a:pt x="0" y="0"/>
                </a:moveTo>
                <a:lnTo>
                  <a:pt x="586740" y="122872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26" name="Tag Gantry">
            <a:extLst xmlns:a="http://schemas.openxmlformats.org/drawingml/2006/main">
              <a:ext uri="{FF2B5EF4-FFF2-40B4-BE49-F238E27FC236}">
                <a16:creationId xmlns:a16="http://schemas.microsoft.com/office/drawing/2014/main" id="{5B2281F6-1F08-45A1-9EED-34660E9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3" y="1795082"/>
            <a:ext cx="70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e Gantry">
            <a:extLst xmlns:a="http://schemas.openxmlformats.org/drawingml/2006/main">
              <a:ext uri="{FF2B5EF4-FFF2-40B4-BE49-F238E27FC236}">
                <a16:creationId xmlns:a16="http://schemas.microsoft.com/office/drawing/2014/main" id="{A557E257-548D-4704-8DCD-FA925FB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3" y="1804607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Gantry</a:t>
            </a:r>
          </a:p>
        </p:txBody>
      </p:sp>
      <p:sp>
        <p:nvSpPr>
          <p:cNvPr id="28" name="Callout AGV">
            <a:extLst xmlns:a="http://schemas.openxmlformats.org/drawingml/2006/main">
              <a:ext uri="{FF2B5EF4-FFF2-40B4-BE49-F238E27FC236}">
                <a16:creationId xmlns:a16="http://schemas.microsoft.com/office/drawing/2014/main" id="{BD567CA2-0918-446A-81D8-F174587A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739" y="3031998"/>
            <a:ext cx="623411" cy="209169"/>
          </a:xfrm>
          <a:custGeom xmlns:a="http://schemas.openxmlformats.org/drawingml/2006/main">
            <a:pathLst>
              <a:path w="623411" h="209169">
                <a:moveTo>
                  <a:pt x="623411" y="2091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29" name="Tag AGV">
            <a:extLst xmlns:a="http://schemas.openxmlformats.org/drawingml/2006/main">
              <a:ext uri="{FF2B5EF4-FFF2-40B4-BE49-F238E27FC236}">
                <a16:creationId xmlns:a16="http://schemas.microsoft.com/office/drawing/2014/main" id="{DB152205-6E3A-4556-AEC2-46FD50D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12567"/>
            <a:ext cx="476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cene AGV">
            <a:extLst xmlns:a="http://schemas.openxmlformats.org/drawingml/2006/main">
              <a:ext uri="{FF2B5EF4-FFF2-40B4-BE49-F238E27FC236}">
                <a16:creationId xmlns:a16="http://schemas.microsoft.com/office/drawing/2014/main" id="{0EF32FC7-B8BA-4FC5-8ACA-DA4F385F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22092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AGV</a:t>
            </a:r>
          </a:p>
        </p:txBody>
      </p:sp>
      <p:sp>
        <p:nvSpPr>
          <p:cNvPr id="31" name="Callout Material">
            <a:extLst xmlns:a="http://schemas.openxmlformats.org/drawingml/2006/main">
              <a:ext uri="{FF2B5EF4-FFF2-40B4-BE49-F238E27FC236}">
                <a16:creationId xmlns:a16="http://schemas.microsoft.com/office/drawing/2014/main" id="{F210C420-09F2-4C25-B96E-0A36D4F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" y="3474720"/>
            <a:ext cx="550069" cy="240792"/>
          </a:xfrm>
          <a:custGeom xmlns:a="http://schemas.openxmlformats.org/drawingml/2006/main">
            <a:pathLst>
              <a:path w="550069" h="240792">
                <a:moveTo>
                  <a:pt x="550069" y="2407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FFFF"/>
            </a:solidFill>
            <a:prstDash val="solid"/>
          </a:ln>
        </p:spPr>
      </p:sp>
      <p:sp>
        <p:nvSpPr>
          <p:cNvPr id="32" name="Tag Material">
            <a:extLst xmlns:a="http://schemas.openxmlformats.org/drawingml/2006/main">
              <a:ext uri="{FF2B5EF4-FFF2-40B4-BE49-F238E27FC236}">
                <a16:creationId xmlns:a16="http://schemas.microsoft.com/office/drawing/2014/main" id="{491B19A9-F205-4846-8138-0520336C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474" y="3486912"/>
            <a:ext cx="781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cene Material">
            <a:extLst xmlns:a="http://schemas.openxmlformats.org/drawingml/2006/main">
              <a:ext uri="{FF2B5EF4-FFF2-40B4-BE49-F238E27FC236}">
                <a16:creationId xmlns:a16="http://schemas.microsoft.com/office/drawing/2014/main" id="{DC7CD4E7-24B7-4432-9747-E4F5A15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474" y="3496437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Material</a:t>
            </a:r>
          </a:p>
        </p:txBody>
      </p:sp>
      <p:sp>
        <p:nvSpPr>
          <p:cNvPr id="34" name="Machine key">
            <a:extLst xmlns:a="http://schemas.openxmlformats.org/drawingml/2006/main">
              <a:ext uri="{FF2B5EF4-FFF2-40B4-BE49-F238E27FC236}">
                <a16:creationId xmlns:a16="http://schemas.microsoft.com/office/drawing/2014/main" id="{A2E1458A-7016-4314-B191-E395B0F0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191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Machine / workstation identifiers</a:t>
            </a:r>
          </a:p>
        </p:txBody>
      </p:sp>
      <p:sp>
        <p:nvSpPr>
          <p:cNvPr id="35" name="M1 key">
            <a:extLst xmlns:a="http://schemas.openxmlformats.org/drawingml/2006/main">
              <a:ext uri="{FF2B5EF4-FFF2-40B4-BE49-F238E27FC236}">
                <a16:creationId xmlns:a16="http://schemas.microsoft.com/office/drawing/2014/main" id="{AC95FC4B-A43B-491D-BE2E-7A990A62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09650"/>
            <a:ext cx="314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36" name="M1 description">
            <a:extLst xmlns:a="http://schemas.openxmlformats.org/drawingml/2006/main">
              <a:ext uri="{FF2B5EF4-FFF2-40B4-BE49-F238E27FC236}">
                <a16:creationId xmlns:a16="http://schemas.microsoft.com/office/drawing/2014/main" id="{82E6BFDB-4700-4650-8006-E6052B06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009650"/>
            <a:ext cx="3057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CNC pipe intersection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cutting machine</a:t>
            </a:r>
          </a:p>
        </p:txBody>
      </p:sp>
      <p:sp>
        <p:nvSpPr>
          <p:cNvPr id="37" name="M2 key">
            <a:extLst xmlns:a="http://schemas.openxmlformats.org/drawingml/2006/main">
              <a:ext uri="{FF2B5EF4-FFF2-40B4-BE49-F238E27FC236}">
                <a16:creationId xmlns:a16="http://schemas.microsoft.com/office/drawing/2014/main" id="{93091B38-571E-4CA7-89EB-4E03F14D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763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38" name="M2 description">
            <a:extLst xmlns:a="http://schemas.openxmlformats.org/drawingml/2006/main">
              <a:ext uri="{FF2B5EF4-FFF2-40B4-BE49-F238E27FC236}">
                <a16:creationId xmlns:a16="http://schemas.microsoft.com/office/drawing/2014/main" id="{5957E8C9-0934-4877-93D6-8A2F1EE2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476375"/>
            <a:ext cx="3057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Large pipe roll-grooving machine</a:t>
            </a:r>
          </a:p>
        </p:txBody>
      </p:sp>
      <p:sp>
        <p:nvSpPr>
          <p:cNvPr id="39" name="M3 key">
            <a:extLst xmlns:a="http://schemas.openxmlformats.org/drawingml/2006/main">
              <a:ext uri="{FF2B5EF4-FFF2-40B4-BE49-F238E27FC236}">
                <a16:creationId xmlns:a16="http://schemas.microsoft.com/office/drawing/2014/main" id="{83E36F8C-06BB-4407-A13E-97F344C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14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40" name="M3 description">
            <a:extLst xmlns:a="http://schemas.openxmlformats.org/drawingml/2006/main">
              <a:ext uri="{FF2B5EF4-FFF2-40B4-BE49-F238E27FC236}">
                <a16:creationId xmlns:a16="http://schemas.microsoft.com/office/drawing/2014/main" id="{54FC3349-F5F0-460B-9D5B-40DCBC0D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90700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Workbench 0</a:t>
            </a:r>
          </a:p>
        </p:txBody>
      </p:sp>
      <p:sp>
        <p:nvSpPr>
          <p:cNvPr id="41" name="M4 key">
            <a:extLst xmlns:a="http://schemas.openxmlformats.org/drawingml/2006/main">
              <a:ext uri="{FF2B5EF4-FFF2-40B4-BE49-F238E27FC236}">
                <a16:creationId xmlns:a16="http://schemas.microsoft.com/office/drawing/2014/main" id="{DB63742D-E183-47B8-96FC-047942E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85975"/>
            <a:ext cx="314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M4</a:t>
            </a:r>
          </a:p>
        </p:txBody>
      </p:sp>
      <p:sp>
        <p:nvSpPr>
          <p:cNvPr id="42" name="M4 description">
            <a:extLst xmlns:a="http://schemas.openxmlformats.org/drawingml/2006/main">
              <a:ext uri="{FF2B5EF4-FFF2-40B4-BE49-F238E27FC236}">
                <a16:creationId xmlns:a16="http://schemas.microsoft.com/office/drawing/2014/main" id="{23802358-F132-413B-BCF3-F632DC10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85975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Workbench 1</a:t>
            </a:r>
          </a:p>
        </p:txBody>
      </p:sp>
      <p:sp>
        <p:nvSpPr>
          <p:cNvPr id="43" name="M5 key">
            <a:extLst xmlns:a="http://schemas.openxmlformats.org/drawingml/2006/main">
              <a:ext uri="{FF2B5EF4-FFF2-40B4-BE49-F238E27FC236}">
                <a16:creationId xmlns:a16="http://schemas.microsoft.com/office/drawing/2014/main" id="{C2CDA602-A8A6-4925-BA47-61BD34F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M5</a:t>
            </a:r>
          </a:p>
        </p:txBody>
      </p:sp>
      <p:sp>
        <p:nvSpPr>
          <p:cNvPr id="44" name="M5 description">
            <a:extLst xmlns:a="http://schemas.openxmlformats.org/drawingml/2006/main">
              <a:ext uri="{FF2B5EF4-FFF2-40B4-BE49-F238E27FC236}">
                <a16:creationId xmlns:a16="http://schemas.microsoft.com/office/drawing/2014/main" id="{EFAB33DC-AA4D-4E10-8C4F-6EF287D3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3057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Robotic root-welding station</a:t>
            </a:r>
          </a:p>
        </p:txBody>
      </p:sp>
      <p:sp>
        <p:nvSpPr>
          <p:cNvPr id="45" name="M6 key">
            <a:extLst xmlns:a="http://schemas.openxmlformats.org/drawingml/2006/main">
              <a:ext uri="{FF2B5EF4-FFF2-40B4-BE49-F238E27FC236}">
                <a16:creationId xmlns:a16="http://schemas.microsoft.com/office/drawing/2014/main" id="{FCFA9670-2E9E-4F35-8485-666202D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955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M6</a:t>
            </a:r>
          </a:p>
        </p:txBody>
      </p:sp>
      <p:sp>
        <p:nvSpPr>
          <p:cNvPr id="46" name="M6 description">
            <a:extLst xmlns:a="http://schemas.openxmlformats.org/drawingml/2006/main">
              <a:ext uri="{FF2B5EF4-FFF2-40B4-BE49-F238E27FC236}">
                <a16:creationId xmlns:a16="http://schemas.microsoft.com/office/drawing/2014/main" id="{83CC81D9-A33F-466E-8E94-9108536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95575"/>
            <a:ext cx="3057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Rotary surface-welding station 0</a:t>
            </a:r>
          </a:p>
        </p:txBody>
      </p:sp>
      <p:sp>
        <p:nvSpPr>
          <p:cNvPr id="47" name="M7 key">
            <a:extLst xmlns:a="http://schemas.openxmlformats.org/drawingml/2006/main">
              <a:ext uri="{FF2B5EF4-FFF2-40B4-BE49-F238E27FC236}">
                <a16:creationId xmlns:a16="http://schemas.microsoft.com/office/drawing/2014/main" id="{791C641C-11B9-45BE-B177-7DD9F38F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M7</a:t>
            </a:r>
          </a:p>
        </p:txBody>
      </p:sp>
      <p:sp>
        <p:nvSpPr>
          <p:cNvPr id="48" name="M7 description">
            <a:extLst xmlns:a="http://schemas.openxmlformats.org/drawingml/2006/main">
              <a:ext uri="{FF2B5EF4-FFF2-40B4-BE49-F238E27FC236}">
                <a16:creationId xmlns:a16="http://schemas.microsoft.com/office/drawing/2014/main" id="{EFFD764C-A3FC-456A-AC92-4434842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09900"/>
            <a:ext cx="3057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Rotary surface-welding station 1</a:t>
            </a:r>
          </a:p>
        </p:txBody>
      </p:sp>
      <p:sp>
        <p:nvSpPr>
          <p:cNvPr id="49" name="Key separator">
            <a:extLst xmlns:a="http://schemas.openxmlformats.org/drawingml/2006/main">
              <a:ext uri="{FF2B5EF4-FFF2-40B4-BE49-F238E27FC236}">
                <a16:creationId xmlns:a16="http://schemas.microsoft.com/office/drawing/2014/main" id="{BEDE54F2-96B3-4E11-8753-69CB78DC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3467100" cy="95"/>
          </a:xfrm>
          <a:custGeom xmlns:a="http://schemas.openxmlformats.org/drawingml/2006/main">
            <a:pathLst>
              <a:path w="3467100" h="95">
                <a:moveTo>
                  <a:pt x="0" y="0"/>
                </a:moveTo>
                <a:lnTo>
                  <a:pt x="346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EC9CF"/>
            </a:solidFill>
            <a:prstDash val="solid"/>
          </a:ln>
        </p:spPr>
      </p:sp>
      <p:sp>
        <p:nvSpPr>
          <p:cNvPr id="50" name="Shared workbenches">
            <a:extLst xmlns:a="http://schemas.openxmlformats.org/drawingml/2006/main">
              <a:ext uri="{FF2B5EF4-FFF2-40B4-BE49-F238E27FC236}">
                <a16:creationId xmlns:a16="http://schemas.microsoft.com/office/drawing/2014/main" id="{14913F7B-8237-4573-9CEE-1D6EAFC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95675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M3 / M4 support spot welding and painting.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AGV: automated guided vehicle.</a:t>
            </a:r>
          </a:p>
        </p:txBody>
      </p:sp>
      <p:sp>
        <p:nvSpPr>
          <p:cNvPr id="51" name="Panel b">
            <a:extLst xmlns:a="http://schemas.openxmlformats.org/drawingml/2006/main">
              <a:ext uri="{FF2B5EF4-FFF2-40B4-BE49-F238E27FC236}">
                <a16:creationId xmlns:a16="http://schemas.microsoft.com/office/drawing/2014/main" id="{AD106EC2-0BDD-46C7-9BBA-91694E13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81475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(b)  Manufacturing stages and shared material-handling subtasks</a:t>
            </a:r>
          </a:p>
        </p:txBody>
      </p:sp>
      <p:sp>
        <p:nvSpPr>
          <p:cNvPr id="52" name="Panel b divider">
            <a:extLst xmlns:a="http://schemas.openxmlformats.org/drawingml/2006/main">
              <a:ext uri="{FF2B5EF4-FFF2-40B4-BE49-F238E27FC236}">
                <a16:creationId xmlns:a16="http://schemas.microsoft.com/office/drawing/2014/main" id="{59D01DF9-5743-4E8A-B2DF-42ADB41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43425"/>
            <a:ext cx="11087100" cy="95"/>
          </a:xfrm>
          <a:custGeom xmlns:a="http://schemas.openxmlformats.org/drawingml/2006/main">
            <a:pathLst>
              <a:path w="11087100" h="9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53C49"/>
            </a:solidFill>
            <a:prstDash val="solid"/>
          </a:ln>
        </p:spPr>
      </p:sp>
      <p:sp>
        <p:nvSpPr>
          <p:cNvPr id="53" name="Manufacturing heading">
            <a:extLst xmlns:a="http://schemas.openxmlformats.org/drawingml/2006/main">
              <a:ext uri="{FF2B5EF4-FFF2-40B4-BE49-F238E27FC236}">
                <a16:creationId xmlns:a16="http://schemas.microsoft.com/office/drawing/2014/main" id="{75522B16-398C-4A6D-AB1D-20BA77B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6958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66C59"/>
                </a:solidFill>
                <a:latin typeface="Times New Roman"/>
                <a:ea typeface="Times New Roman"/>
                <a:cs typeface="Times New Roman"/>
              </a:rPr>
              <a:t>Manufacturing stages</a:t>
            </a:r>
          </a:p>
        </p:txBody>
      </p:sp>
      <p:sp>
        <p:nvSpPr>
          <p:cNvPr id="54" name="Handling heading">
            <a:extLst xmlns:a="http://schemas.openxmlformats.org/drawingml/2006/main">
              <a:ext uri="{FF2B5EF4-FFF2-40B4-BE49-F238E27FC236}">
                <a16:creationId xmlns:a16="http://schemas.microsoft.com/office/drawing/2014/main" id="{93851D2E-C532-438E-9213-1D17354F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958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4F7B98"/>
                </a:solidFill>
                <a:latin typeface="Times New Roman"/>
                <a:ea typeface="Times New Roman"/>
                <a:cs typeface="Times New Roman"/>
              </a:rPr>
              <a:t>Shared handling subtasks</a:t>
            </a:r>
          </a:p>
        </p:txBody>
      </p:sp>
      <p:sp>
        <p:nvSpPr>
          <p:cNvPr id="55" name="Task column separator">
            <a:extLst xmlns:a="http://schemas.openxmlformats.org/drawingml/2006/main">
              <a:ext uri="{FF2B5EF4-FFF2-40B4-BE49-F238E27FC236}">
                <a16:creationId xmlns:a16="http://schemas.microsoft.com/office/drawing/2014/main" id="{CD6E7271-AF14-4840-A82F-84B8FEC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05350"/>
            <a:ext cx="95" cy="4638675"/>
          </a:xfrm>
          <a:custGeom xmlns:a="http://schemas.openxmlformats.org/drawingml/2006/main">
            <a:pathLst>
              <a:path w="95" h="4638675">
                <a:moveTo>
                  <a:pt x="0" y="0"/>
                </a:moveTo>
                <a:lnTo>
                  <a:pt x="0" y="4638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EC9CF"/>
            </a:solidFill>
            <a:prstDash val="solid"/>
          </a:ln>
        </p:spPr>
      </p:sp>
      <p:sp>
        <p:nvSpPr>
          <p:cNvPr id="56" name="Manufacturing sequence">
            <a:extLst xmlns:a="http://schemas.openxmlformats.org/drawingml/2006/main">
              <a:ext uri="{FF2B5EF4-FFF2-40B4-BE49-F238E27FC236}">
                <a16:creationId xmlns:a16="http://schemas.microsoft.com/office/drawing/2014/main" id="{92428081-ADD3-49EB-AB09-DAC846E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48275"/>
            <a:ext cx="95" cy="3752850"/>
          </a:xfrm>
          <a:custGeom xmlns:a="http://schemas.openxmlformats.org/drawingml/2006/main">
            <a:pathLst>
              <a:path w="95" h="3752850">
                <a:moveTo>
                  <a:pt x="0" y="0"/>
                </a:moveTo>
                <a:lnTo>
                  <a:pt x="0" y="3752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4BBB2"/>
            </a:solidFill>
            <a:prstDash val="solid"/>
          </a:ln>
        </p:spPr>
      </p:sp>
      <p:sp>
        <p:nvSpPr>
          <p:cNvPr id="57" name="Task 1">
            <a:extLst xmlns:a="http://schemas.openxmlformats.org/drawingml/2006/main">
              <a:ext uri="{FF2B5EF4-FFF2-40B4-BE49-F238E27FC236}">
                <a16:creationId xmlns:a16="http://schemas.microsoft.com/office/drawing/2014/main" id="{1DAB0226-F5E4-4557-9AF0-B09E0BA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Task number 1">
            <a:extLst xmlns:a="http://schemas.openxmlformats.org/drawingml/2006/main">
              <a:ext uri="{FF2B5EF4-FFF2-40B4-BE49-F238E27FC236}">
                <a16:creationId xmlns:a16="http://schemas.microsoft.com/office/drawing/2014/main" id="{D918D20A-7F28-4167-B559-B30338F6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51339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9" name="Stage 1 title">
            <a:extLst xmlns:a="http://schemas.openxmlformats.org/drawingml/2006/main">
              <a:ext uri="{FF2B5EF4-FFF2-40B4-BE49-F238E27FC236}">
                <a16:creationId xmlns:a16="http://schemas.microsoft.com/office/drawing/2014/main" id="{65AB007A-A82A-4597-93AA-1FA3124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Pipe cutting at M1</a:t>
            </a:r>
          </a:p>
        </p:txBody>
      </p:sp>
      <p:sp>
        <p:nvSpPr>
          <p:cNvPr id="60" name="Stage 1 detail">
            <a:extLst xmlns:a="http://schemas.openxmlformats.org/drawingml/2006/main">
              <a:ext uri="{FF2B5EF4-FFF2-40B4-BE49-F238E27FC236}">
                <a16:creationId xmlns:a16="http://schemas.microsoft.com/office/drawing/2014/main" id="{8A95BB4B-49A2-4F2F-98AB-B42E4135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Raw pipe delivered; worker operates the cutting machine.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Cut pipe is released for transfer.</a:t>
            </a:r>
          </a:p>
        </p:txBody>
      </p:sp>
      <p:sp>
        <p:nvSpPr>
          <p:cNvPr id="61" name="Task 2">
            <a:extLst xmlns:a="http://schemas.openxmlformats.org/drawingml/2006/main">
              <a:ext uri="{FF2B5EF4-FFF2-40B4-BE49-F238E27FC236}">
                <a16:creationId xmlns:a16="http://schemas.microsoft.com/office/drawing/2014/main" id="{FE8768B1-CBF1-4879-B5C9-F22E77E3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838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Task number 2">
            <a:extLst xmlns:a="http://schemas.openxmlformats.org/drawingml/2006/main">
              <a:ext uri="{FF2B5EF4-FFF2-40B4-BE49-F238E27FC236}">
                <a16:creationId xmlns:a16="http://schemas.microsoft.com/office/drawing/2014/main" id="{1BF2FA01-ACCF-4999-9546-5AEEF3B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58578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3" name="Stage 2 title">
            <a:extLst xmlns:a="http://schemas.openxmlformats.org/drawingml/2006/main">
              <a:ext uri="{FF2B5EF4-FFF2-40B4-BE49-F238E27FC236}">
                <a16:creationId xmlns:a16="http://schemas.microsoft.com/office/drawing/2014/main" id="{9F8F965F-E8CA-472E-B099-599E7F5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Roll grooving at M2</a:t>
            </a:r>
          </a:p>
        </p:txBody>
      </p:sp>
      <p:sp>
        <p:nvSpPr>
          <p:cNvPr id="64" name="Stage 2 detail">
            <a:extLst xmlns:a="http://schemas.openxmlformats.org/drawingml/2006/main">
              <a:ext uri="{FF2B5EF4-FFF2-40B4-BE49-F238E27FC236}">
                <a16:creationId xmlns:a16="http://schemas.microsoft.com/office/drawing/2014/main" id="{3B95C3B5-F5BE-4470-BE5A-61B14C1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Cut pipe transferred; worker operates the grooving machine.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Grooved pipe proceeds to assembly.</a:t>
            </a:r>
          </a:p>
        </p:txBody>
      </p:sp>
      <p:sp>
        <p:nvSpPr>
          <p:cNvPr id="65" name="Task 3">
            <a:extLst xmlns:a="http://schemas.openxmlformats.org/drawingml/2006/main">
              <a:ext uri="{FF2B5EF4-FFF2-40B4-BE49-F238E27FC236}">
                <a16:creationId xmlns:a16="http://schemas.microsoft.com/office/drawing/2014/main" id="{6834E903-B145-4CA6-8660-A28E4C8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62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Task number 3">
            <a:extLst xmlns:a="http://schemas.openxmlformats.org/drawingml/2006/main">
              <a:ext uri="{FF2B5EF4-FFF2-40B4-BE49-F238E27FC236}">
                <a16:creationId xmlns:a16="http://schemas.microsoft.com/office/drawing/2014/main" id="{E92AB469-5A15-417A-9C3E-D176263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65817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7" name="Stage 3 title">
            <a:extLst xmlns:a="http://schemas.openxmlformats.org/drawingml/2006/main">
              <a:ext uri="{FF2B5EF4-FFF2-40B4-BE49-F238E27FC236}">
                <a16:creationId xmlns:a16="http://schemas.microsoft.com/office/drawing/2014/main" id="{59CA7964-E70C-44B3-BA7F-87AD3C01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Assembly and spot welding at M3 / M4</a:t>
            </a:r>
          </a:p>
        </p:txBody>
      </p:sp>
      <p:sp>
        <p:nvSpPr>
          <p:cNvPr id="68" name="Stage 3 detail">
            <a:extLst xmlns:a="http://schemas.openxmlformats.org/drawingml/2006/main">
              <a:ext uri="{FF2B5EF4-FFF2-40B4-BE49-F238E27FC236}">
                <a16:creationId xmlns:a16="http://schemas.microsoft.com/office/drawing/2014/main" id="{C4EB9487-402A-4871-82E3-FA86565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Pipe, flange and elbow supplied to a selected workbench.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Assembly and spot welding yield a semi-finished pipe.</a:t>
            </a:r>
          </a:p>
        </p:txBody>
      </p:sp>
      <p:sp>
        <p:nvSpPr>
          <p:cNvPr id="69" name="Task 4">
            <a:extLst xmlns:a="http://schemas.openxmlformats.org/drawingml/2006/main">
              <a:ext uri="{FF2B5EF4-FFF2-40B4-BE49-F238E27FC236}">
                <a16:creationId xmlns:a16="http://schemas.microsoft.com/office/drawing/2014/main" id="{C5E7BB8B-05B1-4528-9B5F-6FDD92D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86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0" name="Task number 4">
            <a:extLst xmlns:a="http://schemas.openxmlformats.org/drawingml/2006/main">
              <a:ext uri="{FF2B5EF4-FFF2-40B4-BE49-F238E27FC236}">
                <a16:creationId xmlns:a16="http://schemas.microsoft.com/office/drawing/2014/main" id="{8A2AEBB9-3DAA-45E4-9579-4B2E775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73056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71" name="Stage 4 title">
            <a:extLst xmlns:a="http://schemas.openxmlformats.org/drawingml/2006/main">
              <a:ext uri="{FF2B5EF4-FFF2-40B4-BE49-F238E27FC236}">
                <a16:creationId xmlns:a16="http://schemas.microsoft.com/office/drawing/2014/main" id="{72729424-1E15-494F-9372-708E8C0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Argon-arc root welding at M5</a:t>
            </a:r>
          </a:p>
        </p:txBody>
      </p:sp>
      <p:sp>
        <p:nvSpPr>
          <p:cNvPr id="72" name="Stage 4 detail">
            <a:extLst xmlns:a="http://schemas.openxmlformats.org/drawingml/2006/main">
              <a:ext uri="{FF2B5EF4-FFF2-40B4-BE49-F238E27FC236}">
                <a16:creationId xmlns:a16="http://schemas.microsoft.com/office/drawing/2014/main" id="{8039A47A-04E0-4CA4-BB4B-5B2765D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819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Semi-finished pipe delivered to the welding robot.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Worker operates the station for root welding.</a:t>
            </a:r>
          </a:p>
        </p:txBody>
      </p:sp>
      <p:sp>
        <p:nvSpPr>
          <p:cNvPr id="73" name="Task 5">
            <a:extLst xmlns:a="http://schemas.openxmlformats.org/drawingml/2006/main">
              <a:ext uri="{FF2B5EF4-FFF2-40B4-BE49-F238E27FC236}">
                <a16:creationId xmlns:a16="http://schemas.microsoft.com/office/drawing/2014/main" id="{82F7AE83-0447-4FF6-83ED-6C43B1BF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010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4" name="Task number 5">
            <a:extLst xmlns:a="http://schemas.openxmlformats.org/drawingml/2006/main">
              <a:ext uri="{FF2B5EF4-FFF2-40B4-BE49-F238E27FC236}">
                <a16:creationId xmlns:a16="http://schemas.microsoft.com/office/drawing/2014/main" id="{136042CD-6034-4F1D-A5DF-393F676E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80295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75" name="Stage 5 title">
            <a:extLst xmlns:a="http://schemas.openxmlformats.org/drawingml/2006/main">
              <a:ext uri="{FF2B5EF4-FFF2-40B4-BE49-F238E27FC236}">
                <a16:creationId xmlns:a16="http://schemas.microsoft.com/office/drawing/2014/main" id="{5DEC9488-74FA-4496-819E-745231F4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200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MIG surface welding at M6 / M7</a:t>
            </a:r>
          </a:p>
        </p:txBody>
      </p:sp>
      <p:sp>
        <p:nvSpPr>
          <p:cNvPr id="76" name="Stage 5 detail">
            <a:extLst xmlns:a="http://schemas.openxmlformats.org/drawingml/2006/main">
              <a:ext uri="{FF2B5EF4-FFF2-40B4-BE49-F238E27FC236}">
                <a16:creationId xmlns:a16="http://schemas.microsoft.com/office/drawing/2014/main" id="{2F5130C4-F593-441A-8C4B-6243F39D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058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Root-welded pipe transferred to a rotary welding station.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Surface welding prepares the pipe for painting.</a:t>
            </a:r>
          </a:p>
        </p:txBody>
      </p:sp>
      <p:sp>
        <p:nvSpPr>
          <p:cNvPr id="77" name="Task 6">
            <a:extLst xmlns:a="http://schemas.openxmlformats.org/drawingml/2006/main">
              <a:ext uri="{FF2B5EF4-FFF2-40B4-BE49-F238E27FC236}">
                <a16:creationId xmlns:a16="http://schemas.microsoft.com/office/drawing/2014/main" id="{CD94F4B3-B631-42EF-AC4F-A5FB499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34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C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Task number 6">
            <a:extLst xmlns:a="http://schemas.openxmlformats.org/drawingml/2006/main">
              <a:ext uri="{FF2B5EF4-FFF2-40B4-BE49-F238E27FC236}">
                <a16:creationId xmlns:a16="http://schemas.microsoft.com/office/drawing/2014/main" id="{B61322A2-4B4E-4865-B155-A30CB16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87534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79" name="Stage 6 title">
            <a:extLst xmlns:a="http://schemas.openxmlformats.org/drawingml/2006/main">
              <a:ext uri="{FF2B5EF4-FFF2-40B4-BE49-F238E27FC236}">
                <a16:creationId xmlns:a16="http://schemas.microsoft.com/office/drawing/2014/main" id="{9CF8A156-064F-4FFD-A33F-5274A67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43950"/>
            <a:ext cx="587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Rust-proof painting at M3 / M4</a:t>
            </a:r>
          </a:p>
        </p:txBody>
      </p:sp>
      <p:sp>
        <p:nvSpPr>
          <p:cNvPr id="80" name="Stage 6 detail">
            <a:extLst xmlns:a="http://schemas.openxmlformats.org/drawingml/2006/main">
              <a:ext uri="{FF2B5EF4-FFF2-40B4-BE49-F238E27FC236}">
                <a16:creationId xmlns:a16="http://schemas.microsoft.com/office/drawing/2014/main" id="{C6CC76B7-FA3A-430C-9CB4-47A4D55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9700"/>
            <a:ext cx="587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Welded pipe returned to a workbench for rust-proof treatment.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The finished water pipe is ready.</a:t>
            </a:r>
          </a:p>
        </p:txBody>
      </p:sp>
      <p:sp>
        <p:nvSpPr>
          <p:cNvPr id="81" name="Task 7">
            <a:extLst xmlns:a="http://schemas.openxmlformats.org/drawingml/2006/main">
              <a:ext uri="{FF2B5EF4-FFF2-40B4-BE49-F238E27FC236}">
                <a16:creationId xmlns:a16="http://schemas.microsoft.com/office/drawing/2014/main" id="{8F14407B-4FF5-4FDA-BD72-49F4FAB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Task number 7">
            <a:extLst xmlns:a="http://schemas.openxmlformats.org/drawingml/2006/main">
              <a:ext uri="{FF2B5EF4-FFF2-40B4-BE49-F238E27FC236}">
                <a16:creationId xmlns:a16="http://schemas.microsoft.com/office/drawing/2014/main" id="{B041F697-EEF5-475F-A5B2-B684E1F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339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83" name="Handling 7 title">
            <a:extLst xmlns:a="http://schemas.openxmlformats.org/drawingml/2006/main">
              <a:ext uri="{FF2B5EF4-FFF2-40B4-BE49-F238E27FC236}">
                <a16:creationId xmlns:a16="http://schemas.microsoft.com/office/drawing/2014/main" id="{9D9AA859-2F62-44C1-B835-96A2D8EA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24450"/>
            <a:ext cx="393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Processing and outbound handling</a:t>
            </a:r>
          </a:p>
        </p:txBody>
      </p:sp>
      <p:sp>
        <p:nvSpPr>
          <p:cNvPr id="84" name="Handling 7 action 0">
            <a:extLst xmlns:a="http://schemas.openxmlformats.org/drawingml/2006/main">
              <a:ext uri="{FF2B5EF4-FFF2-40B4-BE49-F238E27FC236}">
                <a16:creationId xmlns:a16="http://schemas.microsoft.com/office/drawing/2014/main" id="{CACAD165-1A4C-4FA9-94C3-7DDA36CD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4830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Worker approaches the station</a:t>
            </a:r>
          </a:p>
        </p:txBody>
      </p:sp>
      <p:sp>
        <p:nvSpPr>
          <p:cNvPr id="85" name="Handling 7 action 1">
            <a:extLst xmlns:a="http://schemas.openxmlformats.org/drawingml/2006/main">
              <a:ext uri="{FF2B5EF4-FFF2-40B4-BE49-F238E27FC236}">
                <a16:creationId xmlns:a16="http://schemas.microsoft.com/office/drawing/2014/main" id="{164C7463-5289-4D9F-8BED-DB10E53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686425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Controls the machine during processing</a:t>
            </a:r>
          </a:p>
        </p:txBody>
      </p:sp>
      <p:sp>
        <p:nvSpPr>
          <p:cNvPr id="86" name="Handling 7 action 2">
            <a:extLst xmlns:a="http://schemas.openxmlformats.org/drawingml/2006/main">
              <a:ext uri="{FF2B5EF4-FFF2-40B4-BE49-F238E27FC236}">
                <a16:creationId xmlns:a16="http://schemas.microsoft.com/office/drawing/2014/main" id="{C1F3252A-DFB0-43DB-A426-DAE8A1C5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92455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Waits for a free gantry</a:t>
            </a:r>
          </a:p>
        </p:txBody>
      </p:sp>
      <p:sp>
        <p:nvSpPr>
          <p:cNvPr id="87" name="Handling 7 action 3">
            <a:extLst xmlns:a="http://schemas.openxmlformats.org/drawingml/2006/main">
              <a:ext uri="{FF2B5EF4-FFF2-40B4-BE49-F238E27FC236}">
                <a16:creationId xmlns:a16="http://schemas.microsoft.com/office/drawing/2014/main" id="{431C36B0-5BDF-41C3-AE3B-88AC050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162675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Assists loading for outbound transfer</a:t>
            </a:r>
          </a:p>
        </p:txBody>
      </p:sp>
      <p:sp>
        <p:nvSpPr>
          <p:cNvPr id="88" name="Handling separator 0">
            <a:extLst xmlns:a="http://schemas.openxmlformats.org/drawingml/2006/main">
              <a:ext uri="{FF2B5EF4-FFF2-40B4-BE49-F238E27FC236}">
                <a16:creationId xmlns:a16="http://schemas.microsoft.com/office/drawing/2014/main" id="{E157354D-E448-417C-9C3A-1FB8056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391275"/>
            <a:ext cx="4324350" cy="95"/>
          </a:xfrm>
          <a:custGeom xmlns:a="http://schemas.openxmlformats.org/drawingml/2006/main">
            <a:pathLst>
              <a:path w="4324350" h="95">
                <a:moveTo>
                  <a:pt x="0" y="0"/>
                </a:moveTo>
                <a:lnTo>
                  <a:pt x="432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9" name="Task 8">
            <a:extLst xmlns:a="http://schemas.openxmlformats.org/drawingml/2006/main">
              <a:ext uri="{FF2B5EF4-FFF2-40B4-BE49-F238E27FC236}">
                <a16:creationId xmlns:a16="http://schemas.microsoft.com/office/drawing/2014/main" id="{436249C1-F754-4C27-BFFB-87FA8773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52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Task number 8">
            <a:extLst xmlns:a="http://schemas.openxmlformats.org/drawingml/2006/main">
              <a:ext uri="{FF2B5EF4-FFF2-40B4-BE49-F238E27FC236}">
                <a16:creationId xmlns:a16="http://schemas.microsoft.com/office/drawing/2014/main" id="{A719DC17-1551-4903-8DB7-01BB993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5436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1" name="Handling 8 title">
            <a:extLst xmlns:a="http://schemas.openxmlformats.org/drawingml/2006/main">
              <a:ext uri="{FF2B5EF4-FFF2-40B4-BE49-F238E27FC236}">
                <a16:creationId xmlns:a16="http://schemas.microsoft.com/office/drawing/2014/main" id="{A8638EF6-F15F-495F-AF06-C42BA26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534150"/>
            <a:ext cx="393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Transfer within one gantry zone</a:t>
            </a:r>
          </a:p>
        </p:txBody>
      </p:sp>
      <p:sp>
        <p:nvSpPr>
          <p:cNvPr id="92" name="Handling 8 action 0">
            <a:extLst xmlns:a="http://schemas.openxmlformats.org/drawingml/2006/main">
              <a:ext uri="{FF2B5EF4-FFF2-40B4-BE49-F238E27FC236}">
                <a16:creationId xmlns:a16="http://schemas.microsoft.com/office/drawing/2014/main" id="{D7DB0A24-E661-402F-877B-A5F2EA1F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85800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Worker and gantry approach the material</a:t>
            </a:r>
          </a:p>
        </p:txBody>
      </p:sp>
      <p:sp>
        <p:nvSpPr>
          <p:cNvPr id="93" name="Handling 8 action 1">
            <a:extLst xmlns:a="http://schemas.openxmlformats.org/drawingml/2006/main">
              <a:ext uri="{FF2B5EF4-FFF2-40B4-BE49-F238E27FC236}">
                <a16:creationId xmlns:a16="http://schemas.microsoft.com/office/drawing/2014/main" id="{59D97C69-3608-4F32-93F3-DFB7F12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096125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Load onto gantry and carry to destination</a:t>
            </a:r>
          </a:p>
        </p:txBody>
      </p:sp>
      <p:sp>
        <p:nvSpPr>
          <p:cNvPr id="94" name="Handling 8 action 2">
            <a:extLst xmlns:a="http://schemas.openxmlformats.org/drawingml/2006/main">
              <a:ext uri="{FF2B5EF4-FFF2-40B4-BE49-F238E27FC236}">
                <a16:creationId xmlns:a16="http://schemas.microsoft.com/office/drawing/2014/main" id="{2C76F3D7-E75A-48C6-99B9-A4155C09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33425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Place at the station or storage area</a:t>
            </a:r>
          </a:p>
        </p:txBody>
      </p:sp>
      <p:sp>
        <p:nvSpPr>
          <p:cNvPr id="95" name="Handling separator 1">
            <a:extLst xmlns:a="http://schemas.openxmlformats.org/drawingml/2006/main">
              <a:ext uri="{FF2B5EF4-FFF2-40B4-BE49-F238E27FC236}">
                <a16:creationId xmlns:a16="http://schemas.microsoft.com/office/drawing/2014/main" id="{4F054B61-BB35-421D-83DC-2CD135A9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800975"/>
            <a:ext cx="4324350" cy="95"/>
          </a:xfrm>
          <a:custGeom xmlns:a="http://schemas.openxmlformats.org/drawingml/2006/main">
            <a:pathLst>
              <a:path w="4324350" h="95">
                <a:moveTo>
                  <a:pt x="0" y="0"/>
                </a:moveTo>
                <a:lnTo>
                  <a:pt x="432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6" name="Task 9">
            <a:extLst xmlns:a="http://schemas.openxmlformats.org/drawingml/2006/main">
              <a:ext uri="{FF2B5EF4-FFF2-40B4-BE49-F238E27FC236}">
                <a16:creationId xmlns:a16="http://schemas.microsoft.com/office/drawing/2014/main" id="{C5673A77-AE3C-4464-AD17-8031083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934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7" name="Task number 9">
            <a:extLst xmlns:a="http://schemas.openxmlformats.org/drawingml/2006/main">
              <a:ext uri="{FF2B5EF4-FFF2-40B4-BE49-F238E27FC236}">
                <a16:creationId xmlns:a16="http://schemas.microsoft.com/office/drawing/2014/main" id="{876EE54E-BCE3-45EF-8AA4-F6B322D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79533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98" name="Handling 9 title">
            <a:extLst xmlns:a="http://schemas.openxmlformats.org/drawingml/2006/main">
              <a:ext uri="{FF2B5EF4-FFF2-40B4-BE49-F238E27FC236}">
                <a16:creationId xmlns:a16="http://schemas.microsoft.com/office/drawing/2014/main" id="{D2D358A0-9208-422F-96D6-C456C284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943850"/>
            <a:ext cx="393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Transfer across gantry zones</a:t>
            </a:r>
          </a:p>
        </p:txBody>
      </p:sp>
      <p:sp>
        <p:nvSpPr>
          <p:cNvPr id="99" name="Handling 9 action 0">
            <a:extLst xmlns:a="http://schemas.openxmlformats.org/drawingml/2006/main">
              <a:ext uri="{FF2B5EF4-FFF2-40B4-BE49-F238E27FC236}">
                <a16:creationId xmlns:a16="http://schemas.microsoft.com/office/drawing/2014/main" id="{D4A24A8F-0506-4979-BB70-77B8D91E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826770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Source gantry loads an AGV and is released</a:t>
            </a:r>
          </a:p>
        </p:txBody>
      </p:sp>
      <p:sp>
        <p:nvSpPr>
          <p:cNvPr id="100" name="Handling 9 action 1">
            <a:extLst xmlns:a="http://schemas.openxmlformats.org/drawingml/2006/main">
              <a:ext uri="{FF2B5EF4-FFF2-40B4-BE49-F238E27FC236}">
                <a16:creationId xmlns:a16="http://schemas.microsoft.com/office/drawing/2014/main" id="{77B32CB1-4C0E-42DA-AC84-1604A34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8505825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AGV travels to the destination</a:t>
            </a:r>
          </a:p>
        </p:txBody>
      </p:sp>
      <p:sp>
        <p:nvSpPr>
          <p:cNvPr id="101" name="Handling 9 action 2">
            <a:extLst xmlns:a="http://schemas.openxmlformats.org/drawingml/2006/main">
              <a:ext uri="{FF2B5EF4-FFF2-40B4-BE49-F238E27FC236}">
                <a16:creationId xmlns:a16="http://schemas.microsoft.com/office/drawing/2014/main" id="{D84E8B3C-D4F8-496E-83B3-FD3C778D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8743950"/>
            <a:ext cx="3933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→ Free destination gantry unloads and places</a:t>
            </a:r>
          </a:p>
        </p:txBody>
      </p:sp>
      <p:sp>
        <p:nvSpPr>
          <p:cNvPr id="102" name="Panel c">
            <a:extLst xmlns:a="http://schemas.openxmlformats.org/drawingml/2006/main">
              <a:ext uri="{FF2B5EF4-FFF2-40B4-BE49-F238E27FC236}">
                <a16:creationId xmlns:a16="http://schemas.microsoft.com/office/drawing/2014/main" id="{85A8C7AE-6459-4FE1-BB98-5B49B4C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3930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(c)  Multi-entity structural graph</a:t>
            </a:r>
          </a:p>
        </p:txBody>
      </p:sp>
      <p:sp>
        <p:nvSpPr>
          <p:cNvPr id="103" name="Panel c divider">
            <a:extLst xmlns:a="http://schemas.openxmlformats.org/drawingml/2006/main">
              <a:ext uri="{FF2B5EF4-FFF2-40B4-BE49-F238E27FC236}">
                <a16:creationId xmlns:a16="http://schemas.microsoft.com/office/drawing/2014/main" id="{F5B21AC0-4B38-42DC-8001-5D99A1F1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001250"/>
            <a:ext cx="11087100" cy="95"/>
          </a:xfrm>
          <a:custGeom xmlns:a="http://schemas.openxmlformats.org/drawingml/2006/main">
            <a:pathLst>
              <a:path w="11087100" h="9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53C49"/>
            </a:solidFill>
            <a:prstDash val="solid"/>
          </a:ln>
        </p:spPr>
      </p:sp>
      <p:sp>
        <p:nvSpPr>
          <p:cNvPr id="104" name="Graph resources">
            <a:extLst xmlns:a="http://schemas.openxmlformats.org/drawingml/2006/main">
              <a:ext uri="{FF2B5EF4-FFF2-40B4-BE49-F238E27FC236}">
                <a16:creationId xmlns:a16="http://schemas.microsoft.com/office/drawing/2014/main" id="{45D3C490-72B0-4BE5-B351-12F06E6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163175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G: gantries (4)     H: workers (5)     R: AGVs (4)</a:t>
            </a:r>
          </a:p>
        </p:txBody>
      </p:sp>
      <p:sp>
        <p:nvSpPr>
          <p:cNvPr id="105" name="G to M1">
            <a:extLst xmlns:a="http://schemas.openxmlformats.org/drawingml/2006/main">
              <a:ext uri="{FF2B5EF4-FFF2-40B4-BE49-F238E27FC236}">
                <a16:creationId xmlns:a16="http://schemas.microsoft.com/office/drawing/2014/main" id="{13346007-E8F1-4A48-806A-48715420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0"/>
            <a:ext cx="1000125" cy="828675"/>
          </a:xfrm>
          <a:custGeom xmlns:a="http://schemas.openxmlformats.org/drawingml/2006/main">
            <a:pathLst>
              <a:path w="1000125" h="828675">
                <a:moveTo>
                  <a:pt x="1000125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06" name="G to M2">
            <a:extLst xmlns:a="http://schemas.openxmlformats.org/drawingml/2006/main">
              <a:ext uri="{FF2B5EF4-FFF2-40B4-BE49-F238E27FC236}">
                <a16:creationId xmlns:a16="http://schemas.microsoft.com/office/drawing/2014/main" id="{F370BC83-9D95-40F9-8788-C76A654F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85725" cy="1009650"/>
          </a:xfrm>
          <a:custGeom xmlns:a="http://schemas.openxmlformats.org/drawingml/2006/main">
            <a:pathLst>
              <a:path w="85725" h="1009650">
                <a:moveTo>
                  <a:pt x="0" y="0"/>
                </a:moveTo>
                <a:lnTo>
                  <a:pt x="85725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07" name="G to M3">
            <a:extLst xmlns:a="http://schemas.openxmlformats.org/drawingml/2006/main">
              <a:ext uri="{FF2B5EF4-FFF2-40B4-BE49-F238E27FC236}">
                <a16:creationId xmlns:a16="http://schemas.microsoft.com/office/drawing/2014/main" id="{2DC13A31-AEA7-475D-B53F-0C6DDDE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1171575" cy="828675"/>
          </a:xfrm>
          <a:custGeom xmlns:a="http://schemas.openxmlformats.org/drawingml/2006/main">
            <a:pathLst>
              <a:path w="1171575" h="828675">
                <a:moveTo>
                  <a:pt x="0" y="0"/>
                </a:moveTo>
                <a:lnTo>
                  <a:pt x="1171575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08" name="G to M4">
            <a:extLst xmlns:a="http://schemas.openxmlformats.org/drawingml/2006/main">
              <a:ext uri="{FF2B5EF4-FFF2-40B4-BE49-F238E27FC236}">
                <a16:creationId xmlns:a16="http://schemas.microsoft.com/office/drawing/2014/main" id="{8A437B95-56E2-4055-BED9-141AC07C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2257425" cy="1009650"/>
          </a:xfrm>
          <a:custGeom xmlns:a="http://schemas.openxmlformats.org/drawingml/2006/main">
            <a:pathLst>
              <a:path w="2257425" h="1009650">
                <a:moveTo>
                  <a:pt x="0" y="0"/>
                </a:moveTo>
                <a:lnTo>
                  <a:pt x="2257425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09" name="G to M5">
            <a:extLst xmlns:a="http://schemas.openxmlformats.org/drawingml/2006/main">
              <a:ext uri="{FF2B5EF4-FFF2-40B4-BE49-F238E27FC236}">
                <a16:creationId xmlns:a16="http://schemas.microsoft.com/office/drawing/2014/main" id="{E0FD435D-51C9-42FD-9D31-DDC46DF3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3343275" cy="828675"/>
          </a:xfrm>
          <a:custGeom xmlns:a="http://schemas.openxmlformats.org/drawingml/2006/main">
            <a:pathLst>
              <a:path w="3343275" h="828675">
                <a:moveTo>
                  <a:pt x="0" y="0"/>
                </a:moveTo>
                <a:lnTo>
                  <a:pt x="3343275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0" name="G to M6">
            <a:extLst xmlns:a="http://schemas.openxmlformats.org/drawingml/2006/main">
              <a:ext uri="{FF2B5EF4-FFF2-40B4-BE49-F238E27FC236}">
                <a16:creationId xmlns:a16="http://schemas.microsoft.com/office/drawing/2014/main" id="{69CB7912-899E-4DDC-B512-774853B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4429125" cy="1009650"/>
          </a:xfrm>
          <a:custGeom xmlns:a="http://schemas.openxmlformats.org/drawingml/2006/main">
            <a:pathLst>
              <a:path w="4429125" h="1009650">
                <a:moveTo>
                  <a:pt x="0" y="0"/>
                </a:moveTo>
                <a:lnTo>
                  <a:pt x="4429125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1" name="G to M7">
            <a:extLst xmlns:a="http://schemas.openxmlformats.org/drawingml/2006/main">
              <a:ext uri="{FF2B5EF4-FFF2-40B4-BE49-F238E27FC236}">
                <a16:creationId xmlns:a16="http://schemas.microsoft.com/office/drawing/2014/main" id="{574B8091-3A88-4337-9FD3-BE510CA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0"/>
            <a:ext cx="5514975" cy="828675"/>
          </a:xfrm>
          <a:custGeom xmlns:a="http://schemas.openxmlformats.org/drawingml/2006/main">
            <a:pathLst>
              <a:path w="5514975" h="828675">
                <a:moveTo>
                  <a:pt x="0" y="0"/>
                </a:moveTo>
                <a:lnTo>
                  <a:pt x="5514975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2" name="H to M1">
            <a:extLst xmlns:a="http://schemas.openxmlformats.org/drawingml/2006/main">
              <a:ext uri="{FF2B5EF4-FFF2-40B4-BE49-F238E27FC236}">
                <a16:creationId xmlns:a16="http://schemas.microsoft.com/office/drawing/2014/main" id="{1CD185C4-D820-47BB-B941-3ECE7920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0"/>
            <a:ext cx="3257550" cy="828675"/>
          </a:xfrm>
          <a:custGeom xmlns:a="http://schemas.openxmlformats.org/drawingml/2006/main">
            <a:pathLst>
              <a:path w="3257550" h="828675">
                <a:moveTo>
                  <a:pt x="3257550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3" name="H to M2">
            <a:extLst xmlns:a="http://schemas.openxmlformats.org/drawingml/2006/main">
              <a:ext uri="{FF2B5EF4-FFF2-40B4-BE49-F238E27FC236}">
                <a16:creationId xmlns:a16="http://schemas.microsoft.com/office/drawing/2014/main" id="{CFB04EC6-486C-49BF-B4D4-B7FFC4CF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0668000"/>
            <a:ext cx="2171700" cy="1009650"/>
          </a:xfrm>
          <a:custGeom xmlns:a="http://schemas.openxmlformats.org/drawingml/2006/main">
            <a:pathLst>
              <a:path w="2171700" h="1009650">
                <a:moveTo>
                  <a:pt x="217170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4" name="H to M3">
            <a:extLst xmlns:a="http://schemas.openxmlformats.org/drawingml/2006/main">
              <a:ext uri="{FF2B5EF4-FFF2-40B4-BE49-F238E27FC236}">
                <a16:creationId xmlns:a16="http://schemas.microsoft.com/office/drawing/2014/main" id="{904AA8E1-D05E-4B37-A44A-2D0270C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0668000"/>
            <a:ext cx="1085850" cy="828675"/>
          </a:xfrm>
          <a:custGeom xmlns:a="http://schemas.openxmlformats.org/drawingml/2006/main">
            <a:pathLst>
              <a:path w="1085850" h="828675">
                <a:moveTo>
                  <a:pt x="1085850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5" name="H to M4">
            <a:extLst xmlns:a="http://schemas.openxmlformats.org/drawingml/2006/main">
              <a:ext uri="{FF2B5EF4-FFF2-40B4-BE49-F238E27FC236}">
                <a16:creationId xmlns:a16="http://schemas.microsoft.com/office/drawing/2014/main" id="{578F2734-9F7F-4A33-B022-0FBF28C9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0"/>
            <a:ext cx="95" cy="1009650"/>
          </a:xfrm>
          <a:custGeom xmlns:a="http://schemas.openxmlformats.org/drawingml/2006/main">
            <a:pathLst>
              <a:path w="9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6" name="H to M5">
            <a:extLst xmlns:a="http://schemas.openxmlformats.org/drawingml/2006/main">
              <a:ext uri="{FF2B5EF4-FFF2-40B4-BE49-F238E27FC236}">
                <a16:creationId xmlns:a16="http://schemas.microsoft.com/office/drawing/2014/main" id="{FE121954-FCE4-46A4-AFE1-DDB68FE5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0"/>
            <a:ext cx="1085850" cy="828675"/>
          </a:xfrm>
          <a:custGeom xmlns:a="http://schemas.openxmlformats.org/drawingml/2006/main">
            <a:pathLst>
              <a:path w="1085850" h="828675">
                <a:moveTo>
                  <a:pt x="0" y="0"/>
                </a:moveTo>
                <a:lnTo>
                  <a:pt x="108585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7" name="H to M6">
            <a:extLst xmlns:a="http://schemas.openxmlformats.org/drawingml/2006/main">
              <a:ext uri="{FF2B5EF4-FFF2-40B4-BE49-F238E27FC236}">
                <a16:creationId xmlns:a16="http://schemas.microsoft.com/office/drawing/2014/main" id="{0526171B-587C-4D9D-8F50-09C7C47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0"/>
            <a:ext cx="2171700" cy="1009650"/>
          </a:xfrm>
          <a:custGeom xmlns:a="http://schemas.openxmlformats.org/drawingml/2006/main">
            <a:pathLst>
              <a:path w="2171700" h="1009650">
                <a:moveTo>
                  <a:pt x="0" y="0"/>
                </a:moveTo>
                <a:lnTo>
                  <a:pt x="217170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8" name="H to M7">
            <a:extLst xmlns:a="http://schemas.openxmlformats.org/drawingml/2006/main">
              <a:ext uri="{FF2B5EF4-FFF2-40B4-BE49-F238E27FC236}">
                <a16:creationId xmlns:a16="http://schemas.microsoft.com/office/drawing/2014/main" id="{8E3641AB-6D42-43D2-9E13-D07387A9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0"/>
            <a:ext cx="3257550" cy="828675"/>
          </a:xfrm>
          <a:custGeom xmlns:a="http://schemas.openxmlformats.org/drawingml/2006/main">
            <a:pathLst>
              <a:path w="3257550" h="828675">
                <a:moveTo>
                  <a:pt x="0" y="0"/>
                </a:moveTo>
                <a:lnTo>
                  <a:pt x="325755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19" name="R to M1">
            <a:extLst xmlns:a="http://schemas.openxmlformats.org/drawingml/2006/main">
              <a:ext uri="{FF2B5EF4-FFF2-40B4-BE49-F238E27FC236}">
                <a16:creationId xmlns:a16="http://schemas.microsoft.com/office/drawing/2014/main" id="{6447BA53-E475-4CFB-8D6B-36C1A15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0"/>
            <a:ext cx="5514975" cy="828675"/>
          </a:xfrm>
          <a:custGeom xmlns:a="http://schemas.openxmlformats.org/drawingml/2006/main">
            <a:pathLst>
              <a:path w="5514975" h="828675">
                <a:moveTo>
                  <a:pt x="5514975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0" name="R to M2">
            <a:extLst xmlns:a="http://schemas.openxmlformats.org/drawingml/2006/main">
              <a:ext uri="{FF2B5EF4-FFF2-40B4-BE49-F238E27FC236}">
                <a16:creationId xmlns:a16="http://schemas.microsoft.com/office/drawing/2014/main" id="{741FEB41-51F0-40ED-88B8-836637B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0668000"/>
            <a:ext cx="4429125" cy="1009650"/>
          </a:xfrm>
          <a:custGeom xmlns:a="http://schemas.openxmlformats.org/drawingml/2006/main">
            <a:pathLst>
              <a:path w="4429125" h="1009650">
                <a:moveTo>
                  <a:pt x="4429125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1" name="R to M3">
            <a:extLst xmlns:a="http://schemas.openxmlformats.org/drawingml/2006/main">
              <a:ext uri="{FF2B5EF4-FFF2-40B4-BE49-F238E27FC236}">
                <a16:creationId xmlns:a16="http://schemas.microsoft.com/office/drawing/2014/main" id="{42403ED8-0DF7-4C29-A5D6-68E2041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0668000"/>
            <a:ext cx="3343275" cy="828675"/>
          </a:xfrm>
          <a:custGeom xmlns:a="http://schemas.openxmlformats.org/drawingml/2006/main">
            <a:pathLst>
              <a:path w="3343275" h="828675">
                <a:moveTo>
                  <a:pt x="3343275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2" name="R to M4">
            <a:extLst xmlns:a="http://schemas.openxmlformats.org/drawingml/2006/main">
              <a:ext uri="{FF2B5EF4-FFF2-40B4-BE49-F238E27FC236}">
                <a16:creationId xmlns:a16="http://schemas.microsoft.com/office/drawing/2014/main" id="{3CD30DCF-EFEF-400C-A2CC-CF63C14C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668000"/>
            <a:ext cx="2257425" cy="1009650"/>
          </a:xfrm>
          <a:custGeom xmlns:a="http://schemas.openxmlformats.org/drawingml/2006/main">
            <a:pathLst>
              <a:path w="2257425" h="1009650">
                <a:moveTo>
                  <a:pt x="2257425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3" name="R to M5">
            <a:extLst xmlns:a="http://schemas.openxmlformats.org/drawingml/2006/main">
              <a:ext uri="{FF2B5EF4-FFF2-40B4-BE49-F238E27FC236}">
                <a16:creationId xmlns:a16="http://schemas.microsoft.com/office/drawing/2014/main" id="{4801B427-F738-4BDE-9E16-D896DDB5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0668000"/>
            <a:ext cx="1171575" cy="828675"/>
          </a:xfrm>
          <a:custGeom xmlns:a="http://schemas.openxmlformats.org/drawingml/2006/main">
            <a:pathLst>
              <a:path w="1171575" h="828675">
                <a:moveTo>
                  <a:pt x="1171575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4" name="R to M6">
            <a:extLst xmlns:a="http://schemas.openxmlformats.org/drawingml/2006/main">
              <a:ext uri="{FF2B5EF4-FFF2-40B4-BE49-F238E27FC236}">
                <a16:creationId xmlns:a16="http://schemas.microsoft.com/office/drawing/2014/main" id="{C4C19895-D655-4D21-A60C-A077A3C8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668000"/>
            <a:ext cx="85725" cy="1009650"/>
          </a:xfrm>
          <a:custGeom xmlns:a="http://schemas.openxmlformats.org/drawingml/2006/main">
            <a:pathLst>
              <a:path w="85725" h="1009650">
                <a:moveTo>
                  <a:pt x="85725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5" name="R to M7">
            <a:extLst xmlns:a="http://schemas.openxmlformats.org/drawingml/2006/main">
              <a:ext uri="{FF2B5EF4-FFF2-40B4-BE49-F238E27FC236}">
                <a16:creationId xmlns:a16="http://schemas.microsoft.com/office/drawing/2014/main" id="{DCD5524F-1150-4D77-B641-06B4845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668000"/>
            <a:ext cx="1000125" cy="828675"/>
          </a:xfrm>
          <a:custGeom xmlns:a="http://schemas.openxmlformats.org/drawingml/2006/main">
            <a:pathLst>
              <a:path w="1000125" h="828675">
                <a:moveTo>
                  <a:pt x="0" y="0"/>
                </a:moveTo>
                <a:lnTo>
                  <a:pt x="1000125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B8ADC9"/>
            </a:solidFill>
            <a:prstDash val="solid"/>
          </a:ln>
        </p:spPr>
      </p:sp>
      <p:sp>
        <p:nvSpPr>
          <p:cNvPr id="126" name="B1 to M1">
            <a:extLst xmlns:a="http://schemas.openxmlformats.org/drawingml/2006/main">
              <a:ext uri="{FF2B5EF4-FFF2-40B4-BE49-F238E27FC236}">
                <a16:creationId xmlns:a16="http://schemas.microsoft.com/office/drawing/2014/main" id="{949E70F4-2521-4724-B4BF-884F685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96675"/>
            <a:ext cx="1000125" cy="990600"/>
          </a:xfrm>
          <a:custGeom xmlns:a="http://schemas.openxmlformats.org/drawingml/2006/main">
            <a:pathLst>
              <a:path w="1000125" h="990600">
                <a:moveTo>
                  <a:pt x="1000125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27" name="B1 to M2">
            <a:extLst xmlns:a="http://schemas.openxmlformats.org/drawingml/2006/main">
              <a:ext uri="{FF2B5EF4-FFF2-40B4-BE49-F238E27FC236}">
                <a16:creationId xmlns:a16="http://schemas.microsoft.com/office/drawing/2014/main" id="{15AF1A7A-20A4-4DCD-993D-2092CD6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677650"/>
            <a:ext cx="85725" cy="809625"/>
          </a:xfrm>
          <a:custGeom xmlns:a="http://schemas.openxmlformats.org/drawingml/2006/main">
            <a:pathLst>
              <a:path w="85725" h="809625">
                <a:moveTo>
                  <a:pt x="0" y="809625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28" name="B2 to M1">
            <a:extLst xmlns:a="http://schemas.openxmlformats.org/drawingml/2006/main">
              <a:ext uri="{FF2B5EF4-FFF2-40B4-BE49-F238E27FC236}">
                <a16:creationId xmlns:a16="http://schemas.microsoft.com/office/drawing/2014/main" id="{5E759911-11B8-4B5D-A7EC-C703977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96675"/>
            <a:ext cx="3257550" cy="990600"/>
          </a:xfrm>
          <a:custGeom xmlns:a="http://schemas.openxmlformats.org/drawingml/2006/main">
            <a:pathLst>
              <a:path w="3257550" h="990600">
                <a:moveTo>
                  <a:pt x="3257550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29" name="B2 to M2">
            <a:extLst xmlns:a="http://schemas.openxmlformats.org/drawingml/2006/main">
              <a:ext uri="{FF2B5EF4-FFF2-40B4-BE49-F238E27FC236}">
                <a16:creationId xmlns:a16="http://schemas.microsoft.com/office/drawing/2014/main" id="{CC221700-610D-47F6-B782-D642642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1677650"/>
            <a:ext cx="2171700" cy="809625"/>
          </a:xfrm>
          <a:custGeom xmlns:a="http://schemas.openxmlformats.org/drawingml/2006/main">
            <a:pathLst>
              <a:path w="2171700" h="809625">
                <a:moveTo>
                  <a:pt x="2171700" y="809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0" name="B2 to M3">
            <a:extLst xmlns:a="http://schemas.openxmlformats.org/drawingml/2006/main">
              <a:ext uri="{FF2B5EF4-FFF2-40B4-BE49-F238E27FC236}">
                <a16:creationId xmlns:a16="http://schemas.microsoft.com/office/drawing/2014/main" id="{F2CBA83D-2BF3-46CB-8237-8B0F5F0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496675"/>
            <a:ext cx="1085850" cy="990600"/>
          </a:xfrm>
          <a:custGeom xmlns:a="http://schemas.openxmlformats.org/drawingml/2006/main">
            <a:pathLst>
              <a:path w="1085850" h="990600">
                <a:moveTo>
                  <a:pt x="1085850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1" name="B3 to M3">
            <a:extLst xmlns:a="http://schemas.openxmlformats.org/drawingml/2006/main">
              <a:ext uri="{FF2B5EF4-FFF2-40B4-BE49-F238E27FC236}">
                <a16:creationId xmlns:a16="http://schemas.microsoft.com/office/drawing/2014/main" id="{1FB7E431-E3C0-4384-AAEE-D1012363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496675"/>
            <a:ext cx="3343275" cy="990600"/>
          </a:xfrm>
          <a:custGeom xmlns:a="http://schemas.openxmlformats.org/drawingml/2006/main">
            <a:pathLst>
              <a:path w="3343275" h="990600">
                <a:moveTo>
                  <a:pt x="3343275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2" name="B3 to M4">
            <a:extLst xmlns:a="http://schemas.openxmlformats.org/drawingml/2006/main">
              <a:ext uri="{FF2B5EF4-FFF2-40B4-BE49-F238E27FC236}">
                <a16:creationId xmlns:a16="http://schemas.microsoft.com/office/drawing/2014/main" id="{5E2AB542-16FE-4787-A993-8A43FA5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677650"/>
            <a:ext cx="2257425" cy="809625"/>
          </a:xfrm>
          <a:custGeom xmlns:a="http://schemas.openxmlformats.org/drawingml/2006/main">
            <a:pathLst>
              <a:path w="2257425" h="809625">
                <a:moveTo>
                  <a:pt x="2257425" y="809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3" name="B3 to M5">
            <a:extLst xmlns:a="http://schemas.openxmlformats.org/drawingml/2006/main">
              <a:ext uri="{FF2B5EF4-FFF2-40B4-BE49-F238E27FC236}">
                <a16:creationId xmlns:a16="http://schemas.microsoft.com/office/drawing/2014/main" id="{180207EB-B291-4890-9664-483BA0B6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1496675"/>
            <a:ext cx="1171575" cy="990600"/>
          </a:xfrm>
          <a:custGeom xmlns:a="http://schemas.openxmlformats.org/drawingml/2006/main">
            <a:pathLst>
              <a:path w="1171575" h="990600">
                <a:moveTo>
                  <a:pt x="1171575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4" name="B3 to M6">
            <a:extLst xmlns:a="http://schemas.openxmlformats.org/drawingml/2006/main">
              <a:ext uri="{FF2B5EF4-FFF2-40B4-BE49-F238E27FC236}">
                <a16:creationId xmlns:a16="http://schemas.microsoft.com/office/drawing/2014/main" id="{64A42B72-A365-46FA-8EAA-AE525A4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677650"/>
            <a:ext cx="85725" cy="809625"/>
          </a:xfrm>
          <a:custGeom xmlns:a="http://schemas.openxmlformats.org/drawingml/2006/main">
            <a:pathLst>
              <a:path w="85725" h="809625">
                <a:moveTo>
                  <a:pt x="85725" y="809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5" name="B3 to M7">
            <a:extLst xmlns:a="http://schemas.openxmlformats.org/drawingml/2006/main">
              <a:ext uri="{FF2B5EF4-FFF2-40B4-BE49-F238E27FC236}">
                <a16:creationId xmlns:a16="http://schemas.microsoft.com/office/drawing/2014/main" id="{76294728-2624-4F87-A3B4-B91A511B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1496675"/>
            <a:ext cx="1000125" cy="990600"/>
          </a:xfrm>
          <a:custGeom xmlns:a="http://schemas.openxmlformats.org/drawingml/2006/main">
            <a:pathLst>
              <a:path w="1000125" h="990600">
                <a:moveTo>
                  <a:pt x="0" y="99060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36" name="M1 backbone M2">
            <a:extLst xmlns:a="http://schemas.openxmlformats.org/drawingml/2006/main">
              <a:ext uri="{FF2B5EF4-FFF2-40B4-BE49-F238E27FC236}">
                <a16:creationId xmlns:a16="http://schemas.microsoft.com/office/drawing/2014/main" id="{D92FEB49-DA5F-43B6-9F64-C686447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0"/>
                </a:moveTo>
                <a:lnTo>
                  <a:pt x="108585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37" name="M2 backbone M3">
            <a:extLst xmlns:a="http://schemas.openxmlformats.org/drawingml/2006/main">
              <a:ext uri="{FF2B5EF4-FFF2-40B4-BE49-F238E27FC236}">
                <a16:creationId xmlns:a16="http://schemas.microsoft.com/office/drawing/2014/main" id="{267006DF-1E44-4A0F-80A5-A190519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180975"/>
                </a:moveTo>
                <a:lnTo>
                  <a:pt x="1085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38" name="M3 backbone M4">
            <a:extLst xmlns:a="http://schemas.openxmlformats.org/drawingml/2006/main">
              <a:ext uri="{FF2B5EF4-FFF2-40B4-BE49-F238E27FC236}">
                <a16:creationId xmlns:a16="http://schemas.microsoft.com/office/drawing/2014/main" id="{C58A5941-E926-4767-B139-5130192F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0"/>
                </a:moveTo>
                <a:lnTo>
                  <a:pt x="108585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39" name="M4 backbone M5">
            <a:extLst xmlns:a="http://schemas.openxmlformats.org/drawingml/2006/main">
              <a:ext uri="{FF2B5EF4-FFF2-40B4-BE49-F238E27FC236}">
                <a16:creationId xmlns:a16="http://schemas.microsoft.com/office/drawing/2014/main" id="{B4F51D1E-C3B6-4724-AF6F-2773885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180975"/>
                </a:moveTo>
                <a:lnTo>
                  <a:pt x="1085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40" name="M5 backbone M6">
            <a:extLst xmlns:a="http://schemas.openxmlformats.org/drawingml/2006/main">
              <a:ext uri="{FF2B5EF4-FFF2-40B4-BE49-F238E27FC236}">
                <a16:creationId xmlns:a16="http://schemas.microsoft.com/office/drawing/2014/main" id="{074F6BF5-ED17-423F-988A-2C33EA24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0"/>
                </a:moveTo>
                <a:lnTo>
                  <a:pt x="108585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41" name="M6 backbone M7">
            <a:extLst xmlns:a="http://schemas.openxmlformats.org/drawingml/2006/main">
              <a:ext uri="{FF2B5EF4-FFF2-40B4-BE49-F238E27FC236}">
                <a16:creationId xmlns:a16="http://schemas.microsoft.com/office/drawing/2014/main" id="{594125F2-82FF-4F7B-9EAA-5751AFC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496675"/>
            <a:ext cx="1085850" cy="180975"/>
          </a:xfrm>
          <a:custGeom xmlns:a="http://schemas.openxmlformats.org/drawingml/2006/main">
            <a:pathLst>
              <a:path w="1085850" h="180975">
                <a:moveTo>
                  <a:pt x="0" y="180975"/>
                </a:moveTo>
                <a:lnTo>
                  <a:pt x="1085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42" name="Representative G">
            <a:extLst xmlns:a="http://schemas.openxmlformats.org/drawingml/2006/main">
              <a:ext uri="{FF2B5EF4-FFF2-40B4-BE49-F238E27FC236}">
                <a16:creationId xmlns:a16="http://schemas.microsoft.com/office/drawing/2014/main" id="{05E659CB-A858-4CF5-A182-588EEDB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487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3" name="Node G">
            <a:extLst xmlns:a="http://schemas.openxmlformats.org/drawingml/2006/main">
              <a:ext uri="{FF2B5EF4-FFF2-40B4-BE49-F238E27FC236}">
                <a16:creationId xmlns:a16="http://schemas.microsoft.com/office/drawing/2014/main" id="{76AE9666-1991-4D3E-9224-CB3879B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54417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44" name="Representative H">
            <a:extLst xmlns:a="http://schemas.openxmlformats.org/drawingml/2006/main">
              <a:ext uri="{FF2B5EF4-FFF2-40B4-BE49-F238E27FC236}">
                <a16:creationId xmlns:a16="http://schemas.microsoft.com/office/drawing/2014/main" id="{A375A037-DF5B-457C-B373-436AEFF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487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7BA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5" name="Node H">
            <a:extLst xmlns:a="http://schemas.openxmlformats.org/drawingml/2006/main">
              <a:ext uri="{FF2B5EF4-FFF2-40B4-BE49-F238E27FC236}">
                <a16:creationId xmlns:a16="http://schemas.microsoft.com/office/drawing/2014/main" id="{61947DAA-0919-4023-9F41-BD3768D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54417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46" name="Representative R">
            <a:extLst xmlns:a="http://schemas.openxmlformats.org/drawingml/2006/main">
              <a:ext uri="{FF2B5EF4-FFF2-40B4-BE49-F238E27FC236}">
                <a16:creationId xmlns:a16="http://schemas.microsoft.com/office/drawing/2014/main" id="{C6A83B9B-5A2E-4FC7-BA3A-1BACCABD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0487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7" name="Node R">
            <a:extLst xmlns:a="http://schemas.openxmlformats.org/drawingml/2006/main">
              <a:ext uri="{FF2B5EF4-FFF2-40B4-BE49-F238E27FC236}">
                <a16:creationId xmlns:a16="http://schemas.microsoft.com/office/drawing/2014/main" id="{7BB47CDB-7A61-4FCB-8858-E4A91E3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054417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48" name="Workstation M1">
            <a:extLst xmlns:a="http://schemas.openxmlformats.org/drawingml/2006/main">
              <a:ext uri="{FF2B5EF4-FFF2-40B4-BE49-F238E27FC236}">
                <a16:creationId xmlns:a16="http://schemas.microsoft.com/office/drawing/2014/main" id="{22C745E6-B8FA-484C-B748-81F6152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296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9" name="Node M1">
            <a:extLst xmlns:a="http://schemas.openxmlformats.org/drawingml/2006/main">
              <a:ext uri="{FF2B5EF4-FFF2-40B4-BE49-F238E27FC236}">
                <a16:creationId xmlns:a16="http://schemas.microsoft.com/office/drawing/2014/main" id="{132FFE35-8091-40EE-B0C9-CD47FC4A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372850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150" name="Workstation M2">
            <a:extLst xmlns:a="http://schemas.openxmlformats.org/drawingml/2006/main">
              <a:ext uri="{FF2B5EF4-FFF2-40B4-BE49-F238E27FC236}">
                <a16:creationId xmlns:a16="http://schemas.microsoft.com/office/drawing/2014/main" id="{0418599C-A8ED-4650-A916-CC54217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77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Node M2">
            <a:extLst xmlns:a="http://schemas.openxmlformats.org/drawingml/2006/main">
              <a:ext uri="{FF2B5EF4-FFF2-40B4-BE49-F238E27FC236}">
                <a16:creationId xmlns:a16="http://schemas.microsoft.com/office/drawing/2014/main" id="{68BFCF8A-4B51-446E-9A50-8FA7EA4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15538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152" name="Workstation M3">
            <a:extLst xmlns:a="http://schemas.openxmlformats.org/drawingml/2006/main">
              <a:ext uri="{FF2B5EF4-FFF2-40B4-BE49-F238E27FC236}">
                <a16:creationId xmlns:a16="http://schemas.microsoft.com/office/drawing/2014/main" id="{2435AA4B-06C0-4766-9BB6-1C9D26F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1296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3" name="Node M3">
            <a:extLst xmlns:a="http://schemas.openxmlformats.org/drawingml/2006/main">
              <a:ext uri="{FF2B5EF4-FFF2-40B4-BE49-F238E27FC236}">
                <a16:creationId xmlns:a16="http://schemas.microsoft.com/office/drawing/2014/main" id="{11861FC2-634A-4A8D-8084-D4674D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1372850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154" name="Workstation M4">
            <a:extLst xmlns:a="http://schemas.openxmlformats.org/drawingml/2006/main">
              <a:ext uri="{FF2B5EF4-FFF2-40B4-BE49-F238E27FC236}">
                <a16:creationId xmlns:a16="http://schemas.microsoft.com/office/drawing/2014/main" id="{201F3861-56A6-48AC-89AE-847B3F2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1477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Node M4">
            <a:extLst xmlns:a="http://schemas.openxmlformats.org/drawingml/2006/main">
              <a:ext uri="{FF2B5EF4-FFF2-40B4-BE49-F238E27FC236}">
                <a16:creationId xmlns:a16="http://schemas.microsoft.com/office/drawing/2014/main" id="{407EB080-DE2B-47C2-96F8-147044D1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5538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M4</a:t>
            </a:r>
          </a:p>
        </p:txBody>
      </p:sp>
      <p:sp>
        <p:nvSpPr>
          <p:cNvPr id="156" name="Workstation M5">
            <a:extLst xmlns:a="http://schemas.openxmlformats.org/drawingml/2006/main">
              <a:ext uri="{FF2B5EF4-FFF2-40B4-BE49-F238E27FC236}">
                <a16:creationId xmlns:a16="http://schemas.microsoft.com/office/drawing/2014/main" id="{E9FB78B3-7711-4A49-8762-3FE0178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296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7" name="Node M5">
            <a:extLst xmlns:a="http://schemas.openxmlformats.org/drawingml/2006/main">
              <a:ext uri="{FF2B5EF4-FFF2-40B4-BE49-F238E27FC236}">
                <a16:creationId xmlns:a16="http://schemas.microsoft.com/office/drawing/2014/main" id="{335EFA0E-EF0C-492E-AAC1-C311E6A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372850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M5</a:t>
            </a:r>
          </a:p>
        </p:txBody>
      </p:sp>
      <p:sp>
        <p:nvSpPr>
          <p:cNvPr id="158" name="Workstation M6">
            <a:extLst xmlns:a="http://schemas.openxmlformats.org/drawingml/2006/main">
              <a:ext uri="{FF2B5EF4-FFF2-40B4-BE49-F238E27FC236}">
                <a16:creationId xmlns:a16="http://schemas.microsoft.com/office/drawing/2014/main" id="{A4D70AD8-A998-4CA9-B827-A4360EE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1477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9" name="Node M6">
            <a:extLst xmlns:a="http://schemas.openxmlformats.org/drawingml/2006/main">
              <a:ext uri="{FF2B5EF4-FFF2-40B4-BE49-F238E27FC236}">
                <a16:creationId xmlns:a16="http://schemas.microsoft.com/office/drawing/2014/main" id="{826AEE88-A083-4655-8DF5-EBC925CE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1553825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M6</a:t>
            </a:r>
          </a:p>
        </p:txBody>
      </p:sp>
      <p:sp>
        <p:nvSpPr>
          <p:cNvPr id="160" name="Workstation M7">
            <a:extLst xmlns:a="http://schemas.openxmlformats.org/drawingml/2006/main">
              <a:ext uri="{FF2B5EF4-FFF2-40B4-BE49-F238E27FC236}">
                <a16:creationId xmlns:a16="http://schemas.microsoft.com/office/drawing/2014/main" id="{28B040AE-BBF2-4BC6-AC5E-214B248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1296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B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Node M7">
            <a:extLst xmlns:a="http://schemas.openxmlformats.org/drawingml/2006/main">
              <a:ext uri="{FF2B5EF4-FFF2-40B4-BE49-F238E27FC236}">
                <a16:creationId xmlns:a16="http://schemas.microsoft.com/office/drawing/2014/main" id="{FB43A8A7-0C4F-404D-8EDF-56BD9EA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372850"/>
            <a:ext cx="43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M7</a:t>
            </a:r>
          </a:p>
        </p:txBody>
      </p:sp>
      <p:sp>
        <p:nvSpPr>
          <p:cNvPr id="162" name="Representative B1">
            <a:extLst xmlns:a="http://schemas.openxmlformats.org/drawingml/2006/main">
              <a:ext uri="{FF2B5EF4-FFF2-40B4-BE49-F238E27FC236}">
                <a16:creationId xmlns:a16="http://schemas.microsoft.com/office/drawing/2014/main" id="{15290F45-0FFC-40E8-A6DE-5035DFB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230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Node B1">
            <a:extLst xmlns:a="http://schemas.openxmlformats.org/drawingml/2006/main">
              <a:ext uri="{FF2B5EF4-FFF2-40B4-BE49-F238E27FC236}">
                <a16:creationId xmlns:a16="http://schemas.microsoft.com/office/drawing/2014/main" id="{9C6DBF0B-AE9D-4EB2-95D0-E4AADC18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23634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64" name="Representative B2">
            <a:extLst xmlns:a="http://schemas.openxmlformats.org/drawingml/2006/main">
              <a:ext uri="{FF2B5EF4-FFF2-40B4-BE49-F238E27FC236}">
                <a16:creationId xmlns:a16="http://schemas.microsoft.com/office/drawing/2014/main" id="{A5BAB81D-5AA8-417B-A764-7DA3B93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230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5" name="Node B2">
            <a:extLst xmlns:a="http://schemas.openxmlformats.org/drawingml/2006/main">
              <a:ext uri="{FF2B5EF4-FFF2-40B4-BE49-F238E27FC236}">
                <a16:creationId xmlns:a16="http://schemas.microsoft.com/office/drawing/2014/main" id="{4386763A-4AC7-425F-8596-1B9FC390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3634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66" name="Representative B3">
            <a:extLst xmlns:a="http://schemas.openxmlformats.org/drawingml/2006/main">
              <a:ext uri="{FF2B5EF4-FFF2-40B4-BE49-F238E27FC236}">
                <a16:creationId xmlns:a16="http://schemas.microsoft.com/office/drawing/2014/main" id="{868D0B5E-FBA9-4641-8287-C721930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0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7" name="Node B3">
            <a:extLst xmlns:a="http://schemas.openxmlformats.org/drawingml/2006/main">
              <a:ext uri="{FF2B5EF4-FFF2-40B4-BE49-F238E27FC236}">
                <a16:creationId xmlns:a16="http://schemas.microsoft.com/office/drawing/2014/main" id="{10790D93-C20F-4146-9798-A1FDC7B7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3634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B3</a:t>
            </a:r>
          </a:p>
        </p:txBody>
      </p:sp>
      <p:sp>
        <p:nvSpPr>
          <p:cNvPr id="168" name="Buffer family key">
            <a:extLst xmlns:a="http://schemas.openxmlformats.org/drawingml/2006/main">
              <a:ext uri="{FF2B5EF4-FFF2-40B4-BE49-F238E27FC236}">
                <a16:creationId xmlns:a16="http://schemas.microsoft.com/office/drawing/2014/main" id="{8257464A-3B55-4FCF-82E2-030EB025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80160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B1: BlackStorage     B2: GroundStorage     B3: YellowStorage</a:t>
            </a:r>
          </a:p>
        </p:txBody>
      </p:sp>
      <p:sp>
        <p:nvSpPr>
          <p:cNvPr id="169" name="Graph key heading">
            <a:extLst xmlns:a="http://schemas.openxmlformats.org/drawingml/2006/main">
              <a:ext uri="{FF2B5EF4-FFF2-40B4-BE49-F238E27FC236}">
                <a16:creationId xmlns:a16="http://schemas.microsoft.com/office/drawing/2014/main" id="{014810E6-F949-4C48-BD54-756342B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163175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Structural relations</a:t>
            </a:r>
          </a:p>
        </p:txBody>
      </p:sp>
      <p:sp>
        <p:nvSpPr>
          <p:cNvPr id="170" name="Graph legend line 0">
            <a:extLst xmlns:a="http://schemas.openxmlformats.org/drawingml/2006/main">
              <a:ext uri="{FF2B5EF4-FFF2-40B4-BE49-F238E27FC236}">
                <a16:creationId xmlns:a16="http://schemas.microsoft.com/office/drawing/2014/main" id="{15CD1024-9C9B-42CB-B3F4-84F484D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582275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4F7B98"/>
            </a:solidFill>
            <a:prstDash val="solid"/>
          </a:ln>
        </p:spPr>
      </p:sp>
      <p:sp>
        <p:nvSpPr>
          <p:cNvPr id="171" name="Graph legend 0">
            <a:extLst xmlns:a="http://schemas.openxmlformats.org/drawingml/2006/main">
              <a:ext uri="{FF2B5EF4-FFF2-40B4-BE49-F238E27FC236}">
                <a16:creationId xmlns:a16="http://schemas.microsoft.com/office/drawing/2014/main" id="{793AE182-1D22-4551-903E-A360D05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458450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Workstation backbone</a:t>
            </a:r>
          </a:p>
        </p:txBody>
      </p:sp>
      <p:sp>
        <p:nvSpPr>
          <p:cNvPr id="172" name="Graph legend line 1">
            <a:extLst xmlns:a="http://schemas.openxmlformats.org/drawingml/2006/main">
              <a:ext uri="{FF2B5EF4-FFF2-40B4-BE49-F238E27FC236}">
                <a16:creationId xmlns:a16="http://schemas.microsoft.com/office/drawing/2014/main" id="{0DC9C2A4-7B23-41D5-BBB3-CBD125F0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896600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ADC9"/>
            </a:solidFill>
            <a:prstDash val="solid"/>
          </a:ln>
        </p:spPr>
      </p:sp>
      <p:sp>
        <p:nvSpPr>
          <p:cNvPr id="173" name="Graph legend 1">
            <a:extLst xmlns:a="http://schemas.openxmlformats.org/drawingml/2006/main">
              <a:ext uri="{FF2B5EF4-FFF2-40B4-BE49-F238E27FC236}">
                <a16:creationId xmlns:a16="http://schemas.microsoft.com/office/drawing/2014/main" id="{5349C370-01D6-4F12-AA5E-4914B095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772775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Human / transport–station links</a:t>
            </a:r>
          </a:p>
        </p:txBody>
      </p:sp>
      <p:sp>
        <p:nvSpPr>
          <p:cNvPr id="174" name="Graph legend line 2">
            <a:extLst xmlns:a="http://schemas.openxmlformats.org/drawingml/2006/main">
              <a:ext uri="{FF2B5EF4-FFF2-40B4-BE49-F238E27FC236}">
                <a16:creationId xmlns:a16="http://schemas.microsoft.com/office/drawing/2014/main" id="{8BE7B663-8CAE-4D01-B47B-02665D4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210925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8B45"/>
            </a:solidFill>
            <a:prstDash val="solid"/>
          </a:ln>
        </p:spPr>
      </p:sp>
      <p:sp>
        <p:nvSpPr>
          <p:cNvPr id="175" name="Graph legend 2">
            <a:extLst xmlns:a="http://schemas.openxmlformats.org/drawingml/2006/main">
              <a:ext uri="{FF2B5EF4-FFF2-40B4-BE49-F238E27FC236}">
                <a16:creationId xmlns:a16="http://schemas.microsoft.com/office/drawing/2014/main" id="{7652DD8A-4BC2-4F31-847B-3FB3934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087100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Buffer–station affinities</a:t>
            </a:r>
          </a:p>
        </p:txBody>
      </p:sp>
      <p:sp>
        <p:nvSpPr>
          <p:cNvPr id="176" name="Graph size">
            <a:extLst xmlns:a="http://schemas.openxmlformats.org/drawingml/2006/main">
              <a:ext uri="{FF2B5EF4-FFF2-40B4-BE49-F238E27FC236}">
                <a16:creationId xmlns:a16="http://schemas.microsoft.com/office/drawing/2014/main" id="{6F1C7039-A6BD-4AF3-AE50-662D4DF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515725"/>
            <a:ext cx="346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38 nodes: 7 workstations, 4 gantries,</a:t>
            </a:r>
          </a:p>
          <a:p xmlns:a="http://schemas.openxmlformats.org/drawingml/2006/main">
            <a:pPr algn="l">
              <a:def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5 workers, 4 AGVs and 18 buffers.</a:t>
            </a:r>
          </a:p>
        </p:txBody>
      </p:sp>
      <p:sp>
        <p:nvSpPr>
          <p:cNvPr id="177" name="Graph interpretation">
            <a:extLst xmlns:a="http://schemas.openxmlformats.org/drawingml/2006/main">
              <a:ext uri="{FF2B5EF4-FFF2-40B4-BE49-F238E27FC236}">
                <a16:creationId xmlns:a16="http://schemas.microsoft.com/office/drawing/2014/main" id="{49A955DA-FE6C-44E5-AE55-6F8DD98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106275"/>
            <a:ext cx="346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Undirected associations, with representative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G / H / R and buffer nodes. Repeated nodes,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self-loops and within-type transport links</a:t>
            </a:r>
          </a:p>
          <a:p xmlns:a="http://schemas.openxmlformats.org/drawingml/2006/main">
            <a:pPr algn="l">
              <a:def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3C49"/>
                </a:solidFill>
                <a:latin typeface="Times New Roman"/>
                <a:ea typeface="Times New Roman"/>
                <a:cs typeface="Times New Roman"/>
              </a:rPr>
              <a:t>are omitted.</a:t>
            </a:r>
          </a:p>
        </p:txBody>
      </p:sp>
      <p:sp>
        <p:nvSpPr>
          <p:cNvPr id="178" name="Graph bottom rule">
            <a:extLst xmlns:a="http://schemas.openxmlformats.org/drawingml/2006/main">
              <a:ext uri="{FF2B5EF4-FFF2-40B4-BE49-F238E27FC236}">
                <a16:creationId xmlns:a16="http://schemas.microsoft.com/office/drawing/2014/main" id="{40E2CEF4-85B2-418E-A26D-847C893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58775"/>
            <a:ext cx="11087100" cy="95"/>
          </a:xfrm>
          <a:custGeom xmlns:a="http://schemas.openxmlformats.org/drawingml/2006/main">
            <a:pathLst>
              <a:path w="11087100" h="9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EC9CF"/>
            </a:solidFill>
            <a:prstDash val="solid"/>
          </a:ln>
        </p:spPr>
      </p:sp>
      <p:sp>
        <p:nvSpPr>
          <p:cNvPr id="179" name="Material features note">
            <a:extLst xmlns:a="http://schemas.openxmlformats.org/drawingml/2006/main">
              <a:ext uri="{FF2B5EF4-FFF2-40B4-BE49-F238E27FC236}">
                <a16:creationId xmlns:a16="http://schemas.microsoft.com/office/drawing/2014/main" id="{142BE9A1-A09E-4FDC-959A-20023E9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968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86873"/>
                </a:solidFill>
                <a:latin typeface="Times New Roman"/>
                <a:ea typeface="Times New Roman"/>
                <a:cs typeface="Times New Roman"/>
              </a:rPr>
              <a:t>Material availability enters resource features through supply, waiting and buffer occupancy.</a:t>
            </a:r>
          </a:p>
        </p:txBody>
      </p:sp>
    </p:spTree>
    <p:extLst>
      <p:ext uri="{BB962C8B-B14F-4D97-AF65-F5344CB8AC3E}">
        <p14:creationId xmlns:p14="http://schemas.microsoft.com/office/powerpoint/2010/main" val="32295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2026-10-23T18:20:48.2570000Z</dcterms:created>
  <dcterms:modified xsi:type="dcterms:W3CDTF">2026-10-23T18:20:48.2570000Z</dcterms:modified>
</coreProperties>
</file>