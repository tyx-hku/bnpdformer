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3167360" cy="69672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37160" y="137160"/>
            <a:ext cx="3474720" cy="3246120"/>
            <a:chOff x="137160" y="137160"/>
            <a:chExt cx="3474720" cy="3246120"/>
          </a:xfrm>
        </p:grpSpPr>
        <p:sp>
          <p:nvSpPr>
            <p:cNvPr id="3" name="Rounded Rectangle 2"/>
            <p:cNvSpPr/>
            <p:nvPr/>
          </p:nvSpPr>
          <p:spPr>
            <a:xfrm>
              <a:off x="137160" y="137160"/>
              <a:ext cx="3474720" cy="3246120"/>
            </a:xfrm>
            <a:prstGeom prst="roundRect">
              <a:avLst>
                <a:gd name="adj" fmla="val 2105"/>
              </a:avLst>
            </a:prstGeom>
            <a:solidFill>
              <a:srgbClr val="F6F6F6"/>
            </a:solidFill>
            <a:ln w="12700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4320" y="201168"/>
              <a:ext cx="32004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6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Digital </a:t>
              </a:r>
              <a:r>
                <a:rPr lang="en-US" sz="16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manufacturing environment</a:t>
              </a:r>
              <a:endParaRPr lang="en-US" sz="16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pic>
          <p:nvPicPr>
            <p:cNvPr id="6" name="Picture 5" descr="factory.jp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2806" y="521208"/>
              <a:ext cx="1563429" cy="896112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83464" y="1435608"/>
              <a:ext cx="3182112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Isaac Sim </a:t>
              </a:r>
              <a:r>
                <a:rPr lang="en-US"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product 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line </a:t>
              </a:r>
              <a:r>
                <a:rPr lang="en-US"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with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single-axis disturbances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87" name="Environment icon"/>
            <p:cNvSpPr/>
            <p:nvPr/>
          </p:nvSpPr>
          <p:spPr>
            <a:xfrm>
              <a:off x="598932" y="1837944"/>
              <a:ext cx="137160" cy="13716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88" name="Environment icon"/>
            <p:cNvSpPr/>
            <p:nvPr/>
          </p:nvSpPr>
          <p:spPr>
            <a:xfrm>
              <a:off x="585216" y="1810512"/>
              <a:ext cx="164592" cy="68580"/>
            </a:xfrm>
            <a:prstGeom prst="roundRect">
              <a:avLst/>
            </a:prstGeom>
            <a:solidFill>
              <a:srgbClr val="E8AE52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89" name="Environment icon"/>
            <p:cNvSpPr/>
            <p:nvPr/>
          </p:nvSpPr>
          <p:spPr>
            <a:xfrm>
              <a:off x="566928" y="1874520"/>
              <a:ext cx="201168" cy="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490" name="Environment icon"/>
            <p:cNvSpPr/>
            <p:nvPr/>
          </p:nvSpPr>
          <p:spPr>
            <a:xfrm>
              <a:off x="534924" y="1988820"/>
              <a:ext cx="265176" cy="146304"/>
            </a:xfrm>
            <a:prstGeom prst="round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91" name="Environment icon"/>
            <p:cNvSpPr/>
            <p:nvPr/>
          </p:nvSpPr>
          <p:spPr>
            <a:xfrm>
              <a:off x="626364" y="1993392"/>
              <a:ext cx="41148" cy="73152"/>
            </a:xfrm>
            <a:prstGeom prst="lin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</p:sp>
        <p:sp>
          <p:nvSpPr>
            <p:cNvPr id="492" name="Environment icon"/>
            <p:cNvSpPr/>
            <p:nvPr/>
          </p:nvSpPr>
          <p:spPr>
            <a:xfrm flipV="1">
              <a:off x="667512" y="1993392"/>
              <a:ext cx="41148" cy="73152"/>
            </a:xfrm>
            <a:prstGeom prst="lin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</p:sp>
        <p:sp>
          <p:nvSpPr>
            <p:cNvPr id="493" name="Environment icon"/>
            <p:cNvSpPr/>
            <p:nvPr/>
          </p:nvSpPr>
          <p:spPr>
            <a:xfrm>
              <a:off x="667512" y="2066544"/>
              <a:ext cx="0" cy="64008"/>
            </a:xfrm>
            <a:prstGeom prst="lin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</p:sp>
        <p:sp>
          <p:nvSpPr>
            <p:cNvPr id="494" name="Environment label"/>
            <p:cNvSpPr/>
            <p:nvPr/>
          </p:nvSpPr>
          <p:spPr>
            <a:xfrm>
              <a:off x="320040" y="214884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Worker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495" name="Environment icon"/>
            <p:cNvSpPr/>
            <p:nvPr/>
          </p:nvSpPr>
          <p:spPr>
            <a:xfrm>
              <a:off x="1220724" y="1805940"/>
              <a:ext cx="393192" cy="310896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96" name="Environment icon"/>
            <p:cNvSpPr/>
            <p:nvPr/>
          </p:nvSpPr>
          <p:spPr>
            <a:xfrm>
              <a:off x="1248156" y="1842516"/>
              <a:ext cx="219456" cy="201168"/>
            </a:xfrm>
            <a:prstGeom prst="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497" name="Environment icon"/>
            <p:cNvSpPr/>
            <p:nvPr/>
          </p:nvSpPr>
          <p:spPr>
            <a:xfrm>
              <a:off x="1362456" y="1851660"/>
              <a:ext cx="0" cy="96012"/>
            </a:xfrm>
            <a:prstGeom prst="line">
              <a:avLst/>
            </a:prstGeom>
            <a:noFill/>
            <a:ln w="16510">
              <a:solidFill>
                <a:srgbClr val="FFFFFF"/>
              </a:solidFill>
            </a:ln>
            <a:effectLst/>
          </p:spPr>
        </p:sp>
        <p:sp>
          <p:nvSpPr>
            <p:cNvPr id="498" name="Environment icon"/>
            <p:cNvSpPr/>
            <p:nvPr/>
          </p:nvSpPr>
          <p:spPr>
            <a:xfrm>
              <a:off x="1289304" y="1997964"/>
              <a:ext cx="137160" cy="22860"/>
            </a:xfrm>
            <a:prstGeom prst="rect">
              <a:avLst/>
            </a:prstGeom>
            <a:solidFill>
              <a:srgbClr val="FFFFFF"/>
            </a:solidFill>
            <a:ln w="11430">
              <a:noFill/>
            </a:ln>
            <a:effectLst/>
          </p:spPr>
        </p:sp>
        <p:sp>
          <p:nvSpPr>
            <p:cNvPr id="499" name="Environment icon"/>
            <p:cNvSpPr/>
            <p:nvPr/>
          </p:nvSpPr>
          <p:spPr>
            <a:xfrm>
              <a:off x="1504188" y="1847088"/>
              <a:ext cx="68580" cy="68580"/>
            </a:xfrm>
            <a:prstGeom prst="rect">
              <a:avLst/>
            </a:prstGeom>
            <a:solidFill>
              <a:srgbClr val="E8AE52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0" name="Environment icon"/>
            <p:cNvSpPr/>
            <p:nvPr/>
          </p:nvSpPr>
          <p:spPr>
            <a:xfrm>
              <a:off x="1508760" y="1956816"/>
              <a:ext cx="10973" cy="10973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01" name="Environment icon"/>
            <p:cNvSpPr/>
            <p:nvPr/>
          </p:nvSpPr>
          <p:spPr>
            <a:xfrm>
              <a:off x="1532534" y="1956816"/>
              <a:ext cx="10973" cy="10973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02" name="Environment icon"/>
            <p:cNvSpPr/>
            <p:nvPr/>
          </p:nvSpPr>
          <p:spPr>
            <a:xfrm>
              <a:off x="1556309" y="1956816"/>
              <a:ext cx="10973" cy="10973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03" name="Environment icon"/>
            <p:cNvSpPr/>
            <p:nvPr/>
          </p:nvSpPr>
          <p:spPr>
            <a:xfrm>
              <a:off x="1261872" y="2130552"/>
              <a:ext cx="320040" cy="0"/>
            </a:xfrm>
            <a:prstGeom prst="line">
              <a:avLst/>
            </a:prstGeom>
            <a:noFill/>
            <a:ln w="17780">
              <a:solidFill>
                <a:srgbClr val="385570"/>
              </a:solidFill>
            </a:ln>
            <a:effectLst/>
          </p:spPr>
        </p:sp>
        <p:sp>
          <p:nvSpPr>
            <p:cNvPr id="504" name="Environment label"/>
            <p:cNvSpPr/>
            <p:nvPr/>
          </p:nvSpPr>
          <p:spPr>
            <a:xfrm>
              <a:off x="1088136" y="214884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Machine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05" name="Environment icon"/>
            <p:cNvSpPr/>
            <p:nvPr/>
          </p:nvSpPr>
          <p:spPr>
            <a:xfrm>
              <a:off x="438912" y="2308860"/>
              <a:ext cx="457200" cy="54864"/>
            </a:xfrm>
            <a:prstGeom prst="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6" name="Environment icon"/>
            <p:cNvSpPr/>
            <p:nvPr/>
          </p:nvSpPr>
          <p:spPr>
            <a:xfrm>
              <a:off x="461772" y="2363724"/>
              <a:ext cx="41148" cy="265176"/>
            </a:xfrm>
            <a:prstGeom prst="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7" name="Environment icon"/>
            <p:cNvSpPr/>
            <p:nvPr/>
          </p:nvSpPr>
          <p:spPr>
            <a:xfrm>
              <a:off x="832104" y="2363724"/>
              <a:ext cx="41148" cy="265176"/>
            </a:xfrm>
            <a:prstGeom prst="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8" name="Environment icon"/>
            <p:cNvSpPr/>
            <p:nvPr/>
          </p:nvSpPr>
          <p:spPr>
            <a:xfrm>
              <a:off x="621792" y="2350008"/>
              <a:ext cx="91440" cy="64008"/>
            </a:xfrm>
            <a:prstGeom prst="rect">
              <a:avLst/>
            </a:prstGeom>
            <a:solidFill>
              <a:srgbClr val="E8AE52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09" name="Environment icon"/>
            <p:cNvSpPr/>
            <p:nvPr/>
          </p:nvSpPr>
          <p:spPr>
            <a:xfrm>
              <a:off x="667512" y="2414016"/>
              <a:ext cx="0" cy="105156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0" name="Environment icon"/>
            <p:cNvSpPr/>
            <p:nvPr/>
          </p:nvSpPr>
          <p:spPr>
            <a:xfrm flipV="1">
              <a:off x="617220" y="2519172"/>
              <a:ext cx="50292" cy="41148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1" name="Environment icon"/>
            <p:cNvSpPr/>
            <p:nvPr/>
          </p:nvSpPr>
          <p:spPr>
            <a:xfrm>
              <a:off x="667512" y="2519172"/>
              <a:ext cx="50292" cy="41148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2" name="Environment icon"/>
            <p:cNvSpPr/>
            <p:nvPr/>
          </p:nvSpPr>
          <p:spPr>
            <a:xfrm>
              <a:off x="617220" y="2560320"/>
              <a:ext cx="27432" cy="32004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3" name="Environment icon"/>
            <p:cNvSpPr/>
            <p:nvPr/>
          </p:nvSpPr>
          <p:spPr>
            <a:xfrm flipV="1">
              <a:off x="690372" y="2560320"/>
              <a:ext cx="27432" cy="32004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4" name="Environment icon"/>
            <p:cNvSpPr/>
            <p:nvPr/>
          </p:nvSpPr>
          <p:spPr>
            <a:xfrm>
              <a:off x="438912" y="2633472"/>
              <a:ext cx="91440" cy="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5" name="Environment icon"/>
            <p:cNvSpPr/>
            <p:nvPr/>
          </p:nvSpPr>
          <p:spPr>
            <a:xfrm>
              <a:off x="804672" y="2633472"/>
              <a:ext cx="91440" cy="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16" name="Environment label"/>
            <p:cNvSpPr/>
            <p:nvPr/>
          </p:nvSpPr>
          <p:spPr>
            <a:xfrm>
              <a:off x="320040" y="265176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Gantry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17" name="Environment icon"/>
            <p:cNvSpPr/>
            <p:nvPr/>
          </p:nvSpPr>
          <p:spPr>
            <a:xfrm>
              <a:off x="1207008" y="2514600"/>
              <a:ext cx="457200" cy="82296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18" name="Environment icon"/>
            <p:cNvSpPr/>
            <p:nvPr/>
          </p:nvSpPr>
          <p:spPr>
            <a:xfrm>
              <a:off x="1229868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19" name="Environment icon"/>
            <p:cNvSpPr/>
            <p:nvPr/>
          </p:nvSpPr>
          <p:spPr>
            <a:xfrm>
              <a:off x="1301191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0" name="Environment icon"/>
            <p:cNvSpPr/>
            <p:nvPr/>
          </p:nvSpPr>
          <p:spPr>
            <a:xfrm>
              <a:off x="1372514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1" name="Environment icon"/>
            <p:cNvSpPr/>
            <p:nvPr/>
          </p:nvSpPr>
          <p:spPr>
            <a:xfrm>
              <a:off x="1443838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2" name="Environment icon"/>
            <p:cNvSpPr/>
            <p:nvPr/>
          </p:nvSpPr>
          <p:spPr>
            <a:xfrm>
              <a:off x="1515161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3" name="Environment icon"/>
            <p:cNvSpPr/>
            <p:nvPr/>
          </p:nvSpPr>
          <p:spPr>
            <a:xfrm>
              <a:off x="1586484" y="2528316"/>
              <a:ext cx="41148" cy="41148"/>
            </a:xfrm>
            <a:prstGeom prst="ellipse">
              <a:avLst/>
            </a:prstGeom>
            <a:solidFill>
              <a:srgbClr val="5B84AF"/>
            </a:solidFill>
            <a:ln w="11430">
              <a:noFill/>
            </a:ln>
            <a:effectLst/>
          </p:spPr>
        </p:sp>
        <p:sp>
          <p:nvSpPr>
            <p:cNvPr id="524" name="Environment icon"/>
            <p:cNvSpPr/>
            <p:nvPr/>
          </p:nvSpPr>
          <p:spPr>
            <a:xfrm>
              <a:off x="1243584" y="2368296"/>
              <a:ext cx="155448" cy="141732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25" name="Environment icon"/>
            <p:cNvSpPr/>
            <p:nvPr/>
          </p:nvSpPr>
          <p:spPr>
            <a:xfrm>
              <a:off x="1463040" y="2368296"/>
              <a:ext cx="155448" cy="141732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26" name="Environment icon"/>
            <p:cNvSpPr/>
            <p:nvPr/>
          </p:nvSpPr>
          <p:spPr>
            <a:xfrm>
              <a:off x="1298448" y="2386584"/>
              <a:ext cx="45720" cy="0"/>
            </a:xfrm>
            <a:prstGeom prst="line">
              <a:avLst/>
            </a:prstGeom>
            <a:noFill/>
            <a:ln w="25400">
              <a:solidFill>
                <a:srgbClr val="E8AE52"/>
              </a:solidFill>
            </a:ln>
            <a:effectLst/>
          </p:spPr>
        </p:sp>
        <p:sp>
          <p:nvSpPr>
            <p:cNvPr id="527" name="Environment icon"/>
            <p:cNvSpPr/>
            <p:nvPr/>
          </p:nvSpPr>
          <p:spPr>
            <a:xfrm>
              <a:off x="1517904" y="2386584"/>
              <a:ext cx="45720" cy="0"/>
            </a:xfrm>
            <a:prstGeom prst="line">
              <a:avLst/>
            </a:prstGeom>
            <a:noFill/>
            <a:ln w="25400">
              <a:solidFill>
                <a:srgbClr val="E8AE52"/>
              </a:solidFill>
            </a:ln>
            <a:effectLst/>
          </p:spPr>
        </p:sp>
        <p:sp>
          <p:nvSpPr>
            <p:cNvPr id="528" name="Environment icon"/>
            <p:cNvSpPr/>
            <p:nvPr/>
          </p:nvSpPr>
          <p:spPr>
            <a:xfrm>
              <a:off x="1261872" y="2596896"/>
              <a:ext cx="0" cy="4572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29" name="Environment icon"/>
            <p:cNvSpPr/>
            <p:nvPr/>
          </p:nvSpPr>
          <p:spPr>
            <a:xfrm>
              <a:off x="1609344" y="2596896"/>
              <a:ext cx="0" cy="45720"/>
            </a:xfrm>
            <a:prstGeom prst="line">
              <a:avLst/>
            </a:prstGeom>
            <a:noFill/>
            <a:ln w="12700">
              <a:solidFill>
                <a:srgbClr val="385570"/>
              </a:solidFill>
            </a:ln>
            <a:effectLst/>
          </p:spPr>
        </p:sp>
        <p:sp>
          <p:nvSpPr>
            <p:cNvPr id="530" name="Environment label"/>
            <p:cNvSpPr/>
            <p:nvPr/>
          </p:nvSpPr>
          <p:spPr>
            <a:xfrm>
              <a:off x="1088136" y="265176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Buffer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31" name="Environment icon"/>
            <p:cNvSpPr/>
            <p:nvPr/>
          </p:nvSpPr>
          <p:spPr>
            <a:xfrm>
              <a:off x="457200" y="2962656"/>
              <a:ext cx="420624" cy="132588"/>
            </a:xfrm>
            <a:prstGeom prst="roundRect">
              <a:avLst/>
            </a:prstGeom>
            <a:solidFill>
              <a:srgbClr val="5B84A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32" name="Environment icon"/>
            <p:cNvSpPr/>
            <p:nvPr/>
          </p:nvSpPr>
          <p:spPr>
            <a:xfrm>
              <a:off x="530352" y="2875788"/>
              <a:ext cx="274320" cy="82296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33" name="Environment icon"/>
            <p:cNvSpPr/>
            <p:nvPr/>
          </p:nvSpPr>
          <p:spPr>
            <a:xfrm>
              <a:off x="548640" y="3095244"/>
              <a:ext cx="68580" cy="50292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34" name="Environment icon"/>
            <p:cNvSpPr/>
            <p:nvPr/>
          </p:nvSpPr>
          <p:spPr>
            <a:xfrm>
              <a:off x="740664" y="3095244"/>
              <a:ext cx="68580" cy="50292"/>
            </a:xfrm>
            <a:prstGeom prst="ellipse">
              <a:avLst/>
            </a:prstGeom>
            <a:solidFill>
              <a:srgbClr val="385570"/>
            </a:solidFill>
            <a:ln w="11430">
              <a:noFill/>
            </a:ln>
            <a:effectLst/>
          </p:spPr>
        </p:sp>
        <p:sp>
          <p:nvSpPr>
            <p:cNvPr id="535" name="Environment icon"/>
            <p:cNvSpPr/>
            <p:nvPr/>
          </p:nvSpPr>
          <p:spPr>
            <a:xfrm>
              <a:off x="480060" y="2994660"/>
              <a:ext cx="45720" cy="36576"/>
            </a:xfrm>
            <a:prstGeom prst="rect">
              <a:avLst/>
            </a:prstGeom>
            <a:solidFill>
              <a:srgbClr val="E8AE52"/>
            </a:solidFill>
            <a:ln w="11430">
              <a:noFill/>
            </a:ln>
            <a:effectLst/>
          </p:spPr>
        </p:sp>
        <p:sp>
          <p:nvSpPr>
            <p:cNvPr id="536" name="Environment icon"/>
            <p:cNvSpPr/>
            <p:nvPr/>
          </p:nvSpPr>
          <p:spPr>
            <a:xfrm>
              <a:off x="768096" y="2994660"/>
              <a:ext cx="64008" cy="36576"/>
            </a:xfrm>
            <a:prstGeom prst="rect">
              <a:avLst/>
            </a:prstGeom>
            <a:solidFill>
              <a:srgbClr val="FFFFFF"/>
            </a:solidFill>
            <a:ln w="11430">
              <a:noFill/>
            </a:ln>
            <a:effectLst/>
          </p:spPr>
        </p:sp>
        <p:sp>
          <p:nvSpPr>
            <p:cNvPr id="537" name="Environment icon"/>
            <p:cNvSpPr/>
            <p:nvPr/>
          </p:nvSpPr>
          <p:spPr>
            <a:xfrm>
              <a:off x="576072" y="2916936"/>
              <a:ext cx="182880" cy="0"/>
            </a:xfrm>
            <a:prstGeom prst="line">
              <a:avLst/>
            </a:prstGeom>
            <a:noFill/>
            <a:ln w="17780">
              <a:solidFill>
                <a:srgbClr val="E8AE52"/>
              </a:solidFill>
            </a:ln>
            <a:effectLst/>
          </p:spPr>
        </p:sp>
        <p:sp>
          <p:nvSpPr>
            <p:cNvPr id="538" name="Environment label"/>
            <p:cNvSpPr/>
            <p:nvPr/>
          </p:nvSpPr>
          <p:spPr>
            <a:xfrm>
              <a:off x="320040" y="315468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Robot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39" name="Environment icon"/>
            <p:cNvSpPr/>
            <p:nvPr/>
          </p:nvSpPr>
          <p:spPr>
            <a:xfrm>
              <a:off x="1225296" y="2990088"/>
              <a:ext cx="237744" cy="123444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0" name="Environment icon"/>
            <p:cNvSpPr/>
            <p:nvPr/>
          </p:nvSpPr>
          <p:spPr>
            <a:xfrm>
              <a:off x="1225296" y="2990088"/>
              <a:ext cx="91440" cy="12344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1" name="Environment icon"/>
            <p:cNvSpPr/>
            <p:nvPr/>
          </p:nvSpPr>
          <p:spPr>
            <a:xfrm>
              <a:off x="1335024" y="3017520"/>
              <a:ext cx="100584" cy="0"/>
            </a:xfrm>
            <a:prstGeom prst="line">
              <a:avLst/>
            </a:prstGeom>
            <a:noFill/>
            <a:ln w="10160">
              <a:solidFill>
                <a:srgbClr val="5B84AF"/>
              </a:solidFill>
            </a:ln>
            <a:effectLst/>
          </p:spPr>
        </p:sp>
        <p:sp>
          <p:nvSpPr>
            <p:cNvPr id="542" name="Environment icon"/>
            <p:cNvSpPr/>
            <p:nvPr/>
          </p:nvSpPr>
          <p:spPr>
            <a:xfrm>
              <a:off x="1380744" y="2990088"/>
              <a:ext cx="237744" cy="123444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3" name="Environment icon"/>
            <p:cNvSpPr/>
            <p:nvPr/>
          </p:nvSpPr>
          <p:spPr>
            <a:xfrm>
              <a:off x="1380744" y="2990088"/>
              <a:ext cx="91440" cy="12344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4" name="Environment icon"/>
            <p:cNvSpPr/>
            <p:nvPr/>
          </p:nvSpPr>
          <p:spPr>
            <a:xfrm>
              <a:off x="1490472" y="3017520"/>
              <a:ext cx="100584" cy="0"/>
            </a:xfrm>
            <a:prstGeom prst="line">
              <a:avLst/>
            </a:prstGeom>
            <a:noFill/>
            <a:ln w="10160">
              <a:solidFill>
                <a:srgbClr val="5B84AF"/>
              </a:solidFill>
            </a:ln>
            <a:effectLst/>
          </p:spPr>
        </p:sp>
        <p:sp>
          <p:nvSpPr>
            <p:cNvPr id="545" name="Environment icon"/>
            <p:cNvSpPr/>
            <p:nvPr/>
          </p:nvSpPr>
          <p:spPr>
            <a:xfrm>
              <a:off x="1303020" y="2852928"/>
              <a:ext cx="237744" cy="123444"/>
            </a:xfrm>
            <a:prstGeom prst="roundRect">
              <a:avLst/>
            </a:prstGeom>
            <a:solidFill>
              <a:srgbClr val="E3ECF5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6" name="Environment icon"/>
            <p:cNvSpPr/>
            <p:nvPr/>
          </p:nvSpPr>
          <p:spPr>
            <a:xfrm>
              <a:off x="1303020" y="2852928"/>
              <a:ext cx="91440" cy="12344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385570"/>
              </a:solidFill>
            </a:ln>
            <a:effectLst/>
          </p:spPr>
        </p:sp>
        <p:sp>
          <p:nvSpPr>
            <p:cNvPr id="547" name="Environment icon"/>
            <p:cNvSpPr/>
            <p:nvPr/>
          </p:nvSpPr>
          <p:spPr>
            <a:xfrm>
              <a:off x="1412748" y="2880360"/>
              <a:ext cx="100584" cy="0"/>
            </a:xfrm>
            <a:prstGeom prst="line">
              <a:avLst/>
            </a:prstGeom>
            <a:noFill/>
            <a:ln w="10160">
              <a:solidFill>
                <a:srgbClr val="5B84AF"/>
              </a:solidFill>
            </a:ln>
            <a:effectLst/>
          </p:spPr>
        </p:sp>
        <p:sp>
          <p:nvSpPr>
            <p:cNvPr id="548" name="Environment label"/>
            <p:cNvSpPr/>
            <p:nvPr/>
          </p:nvSpPr>
          <p:spPr>
            <a:xfrm>
              <a:off x="1088136" y="3154680"/>
              <a:ext cx="694944" cy="155448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Material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49" name="Environment label"/>
            <p:cNvSpPr/>
            <p:nvPr/>
          </p:nvSpPr>
          <p:spPr>
            <a:xfrm>
              <a:off x="1920240" y="1746504"/>
              <a:ext cx="1554480" cy="164592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80" b="1">
                  <a:solidFill>
                    <a:srgbClr val="385570"/>
                  </a:solidFill>
                  <a:latin typeface="Times New Roman" panose="02020603050405020304"/>
                </a:rPr>
                <a:t>Input tensor (schematic)</a:t>
              </a:r>
              <a:endParaRPr sz="1080" b="1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50" name="Environment icon"/>
            <p:cNvSpPr/>
            <p:nvPr/>
          </p:nvSpPr>
          <p:spPr>
            <a:xfrm>
              <a:off x="2386584" y="2075688"/>
              <a:ext cx="1024128" cy="576072"/>
            </a:xfrm>
            <a:prstGeom prst="rect">
              <a:avLst/>
            </a:prstGeom>
            <a:solidFill>
              <a:srgbClr val="F4F8FC"/>
            </a:solidFill>
            <a:ln w="8890">
              <a:solidFill>
                <a:srgbClr val="8DA9C5"/>
              </a:solidFill>
            </a:ln>
            <a:effectLst/>
          </p:spPr>
        </p:sp>
        <p:sp>
          <p:nvSpPr>
            <p:cNvPr id="551" name="Environment icon"/>
            <p:cNvSpPr/>
            <p:nvPr/>
          </p:nvSpPr>
          <p:spPr>
            <a:xfrm flipV="1">
              <a:off x="2176272" y="2075688"/>
              <a:ext cx="210312" cy="192024"/>
            </a:xfrm>
            <a:prstGeom prst="line">
              <a:avLst/>
            </a:prstGeom>
            <a:noFill/>
            <a:ln w="10160">
              <a:solidFill>
                <a:srgbClr val="8DA9C5"/>
              </a:solidFill>
            </a:ln>
            <a:effectLst/>
          </p:spPr>
        </p:sp>
        <p:sp>
          <p:nvSpPr>
            <p:cNvPr id="552" name="Environment icon"/>
            <p:cNvSpPr/>
            <p:nvPr/>
          </p:nvSpPr>
          <p:spPr>
            <a:xfrm flipV="1">
              <a:off x="3200400" y="2075688"/>
              <a:ext cx="210312" cy="192024"/>
            </a:xfrm>
            <a:prstGeom prst="line">
              <a:avLst/>
            </a:prstGeom>
            <a:noFill/>
            <a:ln w="10160">
              <a:solidFill>
                <a:srgbClr val="8DA9C5"/>
              </a:solidFill>
            </a:ln>
            <a:effectLst/>
          </p:spPr>
        </p:sp>
        <p:sp>
          <p:nvSpPr>
            <p:cNvPr id="553" name="Environment icon"/>
            <p:cNvSpPr/>
            <p:nvPr/>
          </p:nvSpPr>
          <p:spPr>
            <a:xfrm flipV="1">
              <a:off x="3200400" y="2651760"/>
              <a:ext cx="210312" cy="192024"/>
            </a:xfrm>
            <a:prstGeom prst="line">
              <a:avLst/>
            </a:prstGeom>
            <a:noFill/>
            <a:ln w="10160">
              <a:solidFill>
                <a:srgbClr val="8DA9C5"/>
              </a:solidFill>
            </a:ln>
            <a:effectLst/>
          </p:spPr>
        </p:sp>
        <p:sp>
          <p:nvSpPr>
            <p:cNvPr id="554" name="Environment icon"/>
            <p:cNvSpPr/>
            <p:nvPr/>
          </p:nvSpPr>
          <p:spPr>
            <a:xfrm>
              <a:off x="2176272" y="2267712"/>
              <a:ext cx="1024128" cy="576072"/>
            </a:xfrm>
            <a:prstGeom prst="rect">
              <a:avLst/>
            </a:prstGeom>
            <a:solidFill>
              <a:srgbClr val="E3ECF5"/>
            </a:solidFill>
            <a:ln w="12700">
              <a:solidFill>
                <a:srgbClr val="5B84AF"/>
              </a:solidFill>
            </a:ln>
            <a:effectLst/>
          </p:spPr>
        </p:sp>
        <p:sp>
          <p:nvSpPr>
            <p:cNvPr id="555" name="Environment icon"/>
            <p:cNvSpPr/>
            <p:nvPr/>
          </p:nvSpPr>
          <p:spPr>
            <a:xfrm>
              <a:off x="2304288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6" name="Environment icon"/>
            <p:cNvSpPr/>
            <p:nvPr/>
          </p:nvSpPr>
          <p:spPr>
            <a:xfrm>
              <a:off x="2432304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7" name="Environment icon"/>
            <p:cNvSpPr/>
            <p:nvPr/>
          </p:nvSpPr>
          <p:spPr>
            <a:xfrm>
              <a:off x="2560320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8" name="Environment icon"/>
            <p:cNvSpPr/>
            <p:nvPr/>
          </p:nvSpPr>
          <p:spPr>
            <a:xfrm>
              <a:off x="2688336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59" name="Environment icon"/>
            <p:cNvSpPr/>
            <p:nvPr/>
          </p:nvSpPr>
          <p:spPr>
            <a:xfrm>
              <a:off x="2816352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0" name="Environment icon"/>
            <p:cNvSpPr/>
            <p:nvPr/>
          </p:nvSpPr>
          <p:spPr>
            <a:xfrm>
              <a:off x="2944368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1" name="Environment icon"/>
            <p:cNvSpPr/>
            <p:nvPr/>
          </p:nvSpPr>
          <p:spPr>
            <a:xfrm>
              <a:off x="3072384" y="2267712"/>
              <a:ext cx="0" cy="576072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2" name="Environment icon"/>
            <p:cNvSpPr/>
            <p:nvPr/>
          </p:nvSpPr>
          <p:spPr>
            <a:xfrm>
              <a:off x="2176272" y="2363724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3" name="Environment icon"/>
            <p:cNvSpPr/>
            <p:nvPr/>
          </p:nvSpPr>
          <p:spPr>
            <a:xfrm>
              <a:off x="2176272" y="2459736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4" name="Environment icon"/>
            <p:cNvSpPr/>
            <p:nvPr/>
          </p:nvSpPr>
          <p:spPr>
            <a:xfrm>
              <a:off x="2176272" y="2555748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5" name="Environment icon"/>
            <p:cNvSpPr/>
            <p:nvPr/>
          </p:nvSpPr>
          <p:spPr>
            <a:xfrm>
              <a:off x="2176272" y="2651760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6" name="Environment icon"/>
            <p:cNvSpPr/>
            <p:nvPr/>
          </p:nvSpPr>
          <p:spPr>
            <a:xfrm>
              <a:off x="2176272" y="2747772"/>
              <a:ext cx="1024128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</a:ln>
            <a:effectLst/>
          </p:spPr>
        </p:sp>
        <p:sp>
          <p:nvSpPr>
            <p:cNvPr id="567" name="Environment label"/>
            <p:cNvSpPr/>
            <p:nvPr/>
          </p:nvSpPr>
          <p:spPr>
            <a:xfrm>
              <a:off x="2157984" y="1924812"/>
              <a:ext cx="1298448" cy="146304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27 features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68" name="Environment label"/>
            <p:cNvSpPr/>
            <p:nvPr/>
          </p:nvSpPr>
          <p:spPr>
            <a:xfrm rot="16200000">
              <a:off x="1728216" y="2468880"/>
              <a:ext cx="649224" cy="182880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50" b="0">
                  <a:solidFill>
                    <a:srgbClr val="385570"/>
                  </a:solidFill>
                  <a:latin typeface="Times New Roman" panose="02020603050405020304"/>
                </a:rPr>
                <a:t>38 resources</a:t>
              </a:r>
              <a:endParaRPr sz="105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69" name="Environment label"/>
            <p:cNvSpPr/>
            <p:nvPr/>
          </p:nvSpPr>
          <p:spPr>
            <a:xfrm>
              <a:off x="2103120" y="2871216"/>
              <a:ext cx="1335024" cy="182880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>
                  <a:solidFill>
                    <a:srgbClr val="385570"/>
                  </a:solidFill>
                  <a:latin typeface="Times New Roman" panose="02020603050405020304"/>
                </a:rPr>
                <a:t>30 time windows</a:t>
              </a:r>
              <a:endParaRPr sz="1140" b="0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  <p:sp>
          <p:nvSpPr>
            <p:cNvPr id="570" name="Environment label"/>
            <p:cNvSpPr/>
            <p:nvPr/>
          </p:nvSpPr>
          <p:spPr>
            <a:xfrm>
              <a:off x="2020824" y="3108960"/>
              <a:ext cx="1472184" cy="210312"/>
            </a:xfr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>
                  <a:solidFill>
                    <a:srgbClr val="385570"/>
                  </a:solidFill>
                  <a:latin typeface="Times New Roman" panose="02020603050405020304"/>
                </a:rPr>
                <a:t>Xₜ: 30 × 38 × 27</a:t>
              </a:r>
              <a:endParaRPr sz="1200" b="1">
                <a:solidFill>
                  <a:srgbClr val="385570"/>
                </a:solidFill>
                <a:latin typeface="Times New Roman" panose="02020603050405020304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794760" y="137160"/>
            <a:ext cx="4572000" cy="3246120"/>
            <a:chOff x="3794760" y="137160"/>
            <a:chExt cx="4572000" cy="3246120"/>
          </a:xfrm>
        </p:grpSpPr>
        <p:sp>
          <p:nvSpPr>
            <p:cNvPr id="36" name="Rounded Rectangle 35"/>
            <p:cNvSpPr/>
            <p:nvPr/>
          </p:nvSpPr>
          <p:spPr>
            <a:xfrm>
              <a:off x="3794760" y="137160"/>
              <a:ext cx="4572000" cy="3246120"/>
            </a:xfrm>
            <a:prstGeom prst="roundRect">
              <a:avLst>
                <a:gd name="adj" fmla="val 1839"/>
              </a:avLst>
            </a:prstGeom>
            <a:solidFill>
              <a:srgbClr val="EEF5FB"/>
            </a:solidFill>
            <a:ln w="1905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 Same Side Corner Rectangle 36"/>
            <p:cNvSpPr/>
            <p:nvPr/>
          </p:nvSpPr>
          <p:spPr>
            <a:xfrm>
              <a:off x="3794760" y="137160"/>
              <a:ext cx="4572000" cy="365760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94760" y="137160"/>
              <a:ext cx="4572000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Multi-entity heterogeneous graph</a:t>
              </a:r>
              <a:endParaRPr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86" name="Connector 485"/>
            <p:cNvCxnSpPr/>
            <p:nvPr/>
          </p:nvCxnSpPr>
          <p:spPr>
            <a:xfrm>
              <a:off x="804672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Connector 484"/>
            <p:cNvCxnSpPr/>
            <p:nvPr/>
          </p:nvCxnSpPr>
          <p:spPr>
            <a:xfrm>
              <a:off x="740664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 483"/>
            <p:cNvCxnSpPr/>
            <p:nvPr/>
          </p:nvCxnSpPr>
          <p:spPr>
            <a:xfrm>
              <a:off x="676656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Connector 482"/>
            <p:cNvCxnSpPr/>
            <p:nvPr/>
          </p:nvCxnSpPr>
          <p:spPr>
            <a:xfrm>
              <a:off x="612648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Connector 481"/>
            <p:cNvCxnSpPr/>
            <p:nvPr/>
          </p:nvCxnSpPr>
          <p:spPr>
            <a:xfrm>
              <a:off x="548640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Connector 480"/>
            <p:cNvCxnSpPr/>
            <p:nvPr/>
          </p:nvCxnSpPr>
          <p:spPr>
            <a:xfrm>
              <a:off x="484632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ctor 479"/>
            <p:cNvCxnSpPr/>
            <p:nvPr/>
          </p:nvCxnSpPr>
          <p:spPr>
            <a:xfrm>
              <a:off x="4206240" y="1719072"/>
              <a:ext cx="0" cy="482939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Connector 478"/>
            <p:cNvCxnSpPr/>
            <p:nvPr/>
          </p:nvCxnSpPr>
          <p:spPr>
            <a:xfrm>
              <a:off x="804672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Connector 477"/>
            <p:cNvCxnSpPr/>
            <p:nvPr/>
          </p:nvCxnSpPr>
          <p:spPr>
            <a:xfrm>
              <a:off x="708660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Connector 476"/>
            <p:cNvCxnSpPr/>
            <p:nvPr/>
          </p:nvCxnSpPr>
          <p:spPr>
            <a:xfrm>
              <a:off x="612648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Connector 475"/>
            <p:cNvCxnSpPr/>
            <p:nvPr/>
          </p:nvCxnSpPr>
          <p:spPr>
            <a:xfrm>
              <a:off x="516636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Connector 474"/>
            <p:cNvCxnSpPr/>
            <p:nvPr/>
          </p:nvCxnSpPr>
          <p:spPr>
            <a:xfrm>
              <a:off x="4206240" y="1650492"/>
              <a:ext cx="0" cy="6858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Connector 473"/>
            <p:cNvCxnSpPr/>
            <p:nvPr/>
          </p:nvCxnSpPr>
          <p:spPr>
            <a:xfrm>
              <a:off x="4206240" y="1719072"/>
              <a:ext cx="3840480" cy="0"/>
            </a:xfrm>
            <a:prstGeom prst="line">
              <a:avLst/>
            </a:prstGeom>
            <a:ln w="13335">
              <a:solidFill>
                <a:srgbClr val="D9A34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3931920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05072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✕ </a:t>
              </a:r>
              <a:r>
                <a:rPr sz="1200" b="1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Prior work</a:t>
              </a:r>
              <a:endParaRPr sz="1200" b="1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482389" y="992124"/>
              <a:ext cx="865022" cy="0"/>
            </a:xfrm>
            <a:prstGeom prst="line">
              <a:avLst/>
            </a:prstGeom>
            <a:ln w="15875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/>
            <p:nvPr/>
          </p:nvSpPr>
          <p:spPr>
            <a:xfrm>
              <a:off x="4409237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41748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274259" y="918972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77640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machine-only nodes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5943600" y="982980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ounded Rectangle 46"/>
            <p:cNvSpPr/>
            <p:nvPr/>
          </p:nvSpPr>
          <p:spPr>
            <a:xfrm>
              <a:off x="6190488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63640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3D6EB4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✓ </a:t>
              </a:r>
              <a:r>
                <a:rPr sz="1200" b="1" i="0">
                  <a:solidFill>
                    <a:srgbClr val="3D6EB4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2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9" name="Connector 48"/>
            <p:cNvCxnSpPr/>
            <p:nvPr/>
          </p:nvCxnSpPr>
          <p:spPr>
            <a:xfrm flipV="1">
              <a:off x="659053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 flipV="1">
              <a:off x="708202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7573518" y="1010412"/>
              <a:ext cx="91440" cy="137160"/>
            </a:xfrm>
            <a:prstGeom prst="line">
              <a:avLst/>
            </a:prstGeom>
            <a:ln w="6350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6681978" y="873252"/>
              <a:ext cx="0" cy="13716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 flipV="1">
              <a:off x="7664958" y="1010412"/>
              <a:ext cx="0" cy="13716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6681978" y="1010412"/>
              <a:ext cx="982980" cy="0"/>
            </a:xfrm>
            <a:prstGeom prst="line">
              <a:avLst/>
            </a:prstGeom>
            <a:ln w="1905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6627114" y="818388"/>
              <a:ext cx="109728" cy="10972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118604" y="818388"/>
              <a:ext cx="109728" cy="10972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610094" y="1092708"/>
              <a:ext cx="109728" cy="109728"/>
            </a:xfrm>
            <a:prstGeom prst="ellipse">
              <a:avLst/>
            </a:prstGeom>
            <a:solidFill>
              <a:srgbClr val="A6DCED"/>
            </a:solidFill>
            <a:ln w="762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655853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61339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705002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10488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541514" y="1115568"/>
              <a:ext cx="64008" cy="64008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596378" y="941832"/>
              <a:ext cx="137160" cy="137160"/>
            </a:xfrm>
            <a:prstGeom prst="ellipse">
              <a:avLst/>
            </a:prstGeom>
            <a:solidFill>
              <a:srgbClr val="3D6EB4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236208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3D6EB4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5 entity types, typed edges</a:t>
              </a:r>
              <a:endParaRPr sz="114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65" name="Connector 64"/>
            <p:cNvCxnSpPr/>
            <p:nvPr/>
          </p:nvCxnSpPr>
          <p:spPr>
            <a:xfrm flipH="1">
              <a:off x="4206240" y="1874520"/>
              <a:ext cx="320040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 flipH="1" flipV="1">
              <a:off x="4206240" y="2359152"/>
              <a:ext cx="320040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4526280" y="1874520"/>
              <a:ext cx="320040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 flipV="1">
              <a:off x="4526280" y="2359152"/>
              <a:ext cx="320040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 flipH="1">
              <a:off x="5486400" y="1874520"/>
              <a:ext cx="118872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 flipH="1" flipV="1">
              <a:off x="5486400" y="2359152"/>
              <a:ext cx="118872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5605272" y="1874520"/>
              <a:ext cx="521208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 flipV="1">
              <a:off x="5605272" y="2359152"/>
              <a:ext cx="521208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6684264" y="1874520"/>
              <a:ext cx="82296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 flipV="1">
              <a:off x="6684264" y="2359152"/>
              <a:ext cx="82296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6684264" y="1874520"/>
              <a:ext cx="722376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 flipV="1">
              <a:off x="6684264" y="2359152"/>
              <a:ext cx="722376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7763256" y="1874520"/>
              <a:ext cx="283464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 flipV="1">
              <a:off x="7763256" y="2359152"/>
              <a:ext cx="283464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7763256" y="1874520"/>
              <a:ext cx="283464" cy="484632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 flipV="1">
              <a:off x="7763256" y="2359152"/>
              <a:ext cx="283464" cy="457200"/>
            </a:xfrm>
            <a:prstGeom prst="line">
              <a:avLst/>
            </a:prstGeom>
            <a:ln w="9525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4526280" y="1874520"/>
              <a:ext cx="3236976" cy="0"/>
            </a:xfrm>
            <a:prstGeom prst="line">
              <a:avLst/>
            </a:prstGeom>
            <a:ln w="9525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4526280" y="2816352"/>
              <a:ext cx="3236976" cy="0"/>
            </a:xfrm>
            <a:prstGeom prst="line">
              <a:avLst/>
            </a:prstGeom>
            <a:ln w="9525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 flipV="1">
              <a:off x="405079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 flipH="1" flipV="1">
              <a:off x="420624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 flipV="1">
              <a:off x="469087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 flipH="1" flipV="1">
              <a:off x="484632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 flipV="1">
              <a:off x="533095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H="1" flipV="1">
              <a:off x="548640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 flipV="1">
              <a:off x="597103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 flipH="1" flipV="1">
              <a:off x="612648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 flipV="1">
              <a:off x="661111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 flipH="1" flipV="1">
              <a:off x="676656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 flipV="1">
              <a:off x="725119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740664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 flipV="1">
              <a:off x="7891272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 flipH="1" flipV="1">
              <a:off x="8046720" y="2359152"/>
              <a:ext cx="155448" cy="214312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931920" y="2212294"/>
              <a:ext cx="274320" cy="146858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 flipH="1">
              <a:off x="8046720" y="2212294"/>
              <a:ext cx="274320" cy="146858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5971032" y="2138865"/>
              <a:ext cx="155448" cy="220287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>
              <a:off x="6126480" y="2138865"/>
              <a:ext cx="155448" cy="220287"/>
            </a:xfrm>
            <a:prstGeom prst="line">
              <a:avLst/>
            </a:prstGeom>
            <a:ln w="762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4206240" y="2359152"/>
              <a:ext cx="3840480" cy="0"/>
            </a:xfrm>
            <a:prstGeom prst="line">
              <a:avLst/>
            </a:prstGeom>
            <a:ln w="2540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Freeform 101"/>
            <p:cNvSpPr/>
            <p:nvPr/>
          </p:nvSpPr>
          <p:spPr>
            <a:xfrm>
              <a:off x="5486400" y="2249008"/>
              <a:ext cx="640080" cy="65857"/>
            </a:xfrm>
            <a:custGeom>
              <a:avLst/>
              <a:gdLst/>
              <a:ahLst/>
              <a:cxnLst/>
              <a:rect l="l" t="t" r="r" b="b"/>
              <a:pathLst>
                <a:path w="640080" h="82011">
                  <a:moveTo>
                    <a:pt x="0" y="0"/>
                  </a:moveTo>
                  <a:lnTo>
                    <a:pt x="37652" y="18225"/>
                  </a:lnTo>
                  <a:lnTo>
                    <a:pt x="75304" y="34171"/>
                  </a:lnTo>
                  <a:lnTo>
                    <a:pt x="112955" y="47840"/>
                  </a:lnTo>
                  <a:lnTo>
                    <a:pt x="150607" y="59230"/>
                  </a:lnTo>
                  <a:lnTo>
                    <a:pt x="188259" y="68343"/>
                  </a:lnTo>
                  <a:lnTo>
                    <a:pt x="225911" y="75177"/>
                  </a:lnTo>
                  <a:lnTo>
                    <a:pt x="263562" y="79733"/>
                  </a:lnTo>
                  <a:lnTo>
                    <a:pt x="301214" y="82011"/>
                  </a:lnTo>
                  <a:lnTo>
                    <a:pt x="338866" y="82011"/>
                  </a:lnTo>
                  <a:lnTo>
                    <a:pt x="376518" y="79733"/>
                  </a:lnTo>
                  <a:lnTo>
                    <a:pt x="414169" y="75177"/>
                  </a:lnTo>
                  <a:lnTo>
                    <a:pt x="451821" y="68343"/>
                  </a:lnTo>
                  <a:lnTo>
                    <a:pt x="489473" y="59230"/>
                  </a:lnTo>
                  <a:lnTo>
                    <a:pt x="527125" y="47840"/>
                  </a:lnTo>
                  <a:lnTo>
                    <a:pt x="564776" y="34171"/>
                  </a:lnTo>
                  <a:lnTo>
                    <a:pt x="602428" y="18225"/>
                  </a:lnTo>
                  <a:lnTo>
                    <a:pt x="640080" y="0"/>
                  </a:lnTo>
                </a:path>
              </a:pathLst>
            </a:custGeom>
            <a:noFill/>
            <a:ln w="1143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766560" y="2249008"/>
              <a:ext cx="640080" cy="65857"/>
            </a:xfrm>
            <a:custGeom>
              <a:avLst/>
              <a:gdLst/>
              <a:ahLst/>
              <a:cxnLst/>
              <a:rect l="l" t="t" r="r" b="b"/>
              <a:pathLst>
                <a:path w="640080" h="82011">
                  <a:moveTo>
                    <a:pt x="0" y="0"/>
                  </a:moveTo>
                  <a:lnTo>
                    <a:pt x="37652" y="18225"/>
                  </a:lnTo>
                  <a:lnTo>
                    <a:pt x="75304" y="34171"/>
                  </a:lnTo>
                  <a:lnTo>
                    <a:pt x="112955" y="47840"/>
                  </a:lnTo>
                  <a:lnTo>
                    <a:pt x="150607" y="59230"/>
                  </a:lnTo>
                  <a:lnTo>
                    <a:pt x="188259" y="68343"/>
                  </a:lnTo>
                  <a:lnTo>
                    <a:pt x="225911" y="75177"/>
                  </a:lnTo>
                  <a:lnTo>
                    <a:pt x="263562" y="79733"/>
                  </a:lnTo>
                  <a:lnTo>
                    <a:pt x="301214" y="82011"/>
                  </a:lnTo>
                  <a:lnTo>
                    <a:pt x="338866" y="82011"/>
                  </a:lnTo>
                  <a:lnTo>
                    <a:pt x="376518" y="79733"/>
                  </a:lnTo>
                  <a:lnTo>
                    <a:pt x="414169" y="75177"/>
                  </a:lnTo>
                  <a:lnTo>
                    <a:pt x="451821" y="68343"/>
                  </a:lnTo>
                  <a:lnTo>
                    <a:pt x="489473" y="59230"/>
                  </a:lnTo>
                  <a:lnTo>
                    <a:pt x="527125" y="47840"/>
                  </a:lnTo>
                  <a:lnTo>
                    <a:pt x="564776" y="34171"/>
                  </a:lnTo>
                  <a:lnTo>
                    <a:pt x="602428" y="18225"/>
                  </a:lnTo>
                  <a:lnTo>
                    <a:pt x="640080" y="0"/>
                  </a:lnTo>
                </a:path>
              </a:pathLst>
            </a:custGeom>
            <a:noFill/>
            <a:ln w="1143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400964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432054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464972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496062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528980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560070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592988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624078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656996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688086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721004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752094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7850124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8161020" y="253231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3890772" y="217114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8279892" y="2171146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5929884" y="2097717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6240780" y="2097717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4425696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4425696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5504688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5504688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6583680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6583680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7662672" y="1781129"/>
              <a:ext cx="201168" cy="201168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7662672" y="2705717"/>
              <a:ext cx="201168" cy="201168"/>
            </a:xfrm>
            <a:prstGeom prst="ellipse">
              <a:avLst/>
            </a:prstGeom>
            <a:solidFill>
              <a:srgbClr val="A6DCED"/>
            </a:solidFill>
            <a:ln w="952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412851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508863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04875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700887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7968996" y="1495044"/>
              <a:ext cx="155448" cy="155448"/>
            </a:xfrm>
            <a:prstGeom prst="rect">
              <a:avLst/>
            </a:prstGeom>
            <a:solidFill>
              <a:srgbClr val="FCB84D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405079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405079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M1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39" name="Oval 138"/>
            <p:cNvSpPr/>
            <p:nvPr/>
          </p:nvSpPr>
          <p:spPr>
            <a:xfrm>
              <a:off x="469087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469087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M2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1" name="Oval 140"/>
            <p:cNvSpPr/>
            <p:nvPr/>
          </p:nvSpPr>
          <p:spPr>
            <a:xfrm>
              <a:off x="533095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33095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M3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3" name="Oval 142"/>
            <p:cNvSpPr/>
            <p:nvPr/>
          </p:nvSpPr>
          <p:spPr>
            <a:xfrm>
              <a:off x="597103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97103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M4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5" name="Oval 144"/>
            <p:cNvSpPr/>
            <p:nvPr/>
          </p:nvSpPr>
          <p:spPr>
            <a:xfrm>
              <a:off x="661111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61111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M5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7" name="Oval 146"/>
            <p:cNvSpPr/>
            <p:nvPr/>
          </p:nvSpPr>
          <p:spPr>
            <a:xfrm>
              <a:off x="725119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725119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M6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49" name="Oval 148"/>
            <p:cNvSpPr/>
            <p:nvPr/>
          </p:nvSpPr>
          <p:spPr>
            <a:xfrm>
              <a:off x="7891272" y="2202011"/>
              <a:ext cx="310896" cy="310896"/>
            </a:xfrm>
            <a:prstGeom prst="ellipse">
              <a:avLst/>
            </a:prstGeom>
            <a:solidFill>
              <a:srgbClr val="3D6EB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891272" y="2202011"/>
              <a:ext cx="310896" cy="31089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M7</a:t>
              </a:r>
              <a:endParaRPr sz="102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1" name="Oval 150"/>
            <p:cNvSpPr/>
            <p:nvPr/>
          </p:nvSpPr>
          <p:spPr>
            <a:xfrm>
              <a:off x="3895344" y="2999377"/>
              <a:ext cx="109728" cy="109728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041648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machine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3" name="Oval 152"/>
            <p:cNvSpPr/>
            <p:nvPr/>
          </p:nvSpPr>
          <p:spPr>
            <a:xfrm>
              <a:off x="4782312" y="2999377"/>
              <a:ext cx="109728" cy="109728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4928616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gantry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5" name="Oval 154"/>
            <p:cNvSpPr/>
            <p:nvPr/>
          </p:nvSpPr>
          <p:spPr>
            <a:xfrm>
              <a:off x="5669280" y="2999377"/>
              <a:ext cx="109728" cy="109728"/>
            </a:xfrm>
            <a:prstGeom prst="ellipse">
              <a:avLst/>
            </a:prstGeom>
            <a:solidFill>
              <a:srgbClr val="A6DCED"/>
            </a:solidFill>
            <a:ln w="762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5815584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robot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6556248" y="3013054"/>
              <a:ext cx="109728" cy="82373"/>
            </a:xfrm>
            <a:prstGeom prst="rect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6702552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worker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59" name="Oval 158"/>
            <p:cNvSpPr/>
            <p:nvPr/>
          </p:nvSpPr>
          <p:spPr>
            <a:xfrm>
              <a:off x="7456932" y="3010770"/>
              <a:ext cx="82296" cy="82296"/>
            </a:xfrm>
            <a:prstGeom prst="ellipse">
              <a:avLst/>
            </a:prstGeom>
            <a:solidFill>
              <a:srgbClr val="8C8C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7589520" y="2968993"/>
              <a:ext cx="731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buffer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1" name="Connector 160"/>
            <p:cNvCxnSpPr/>
            <p:nvPr/>
          </p:nvCxnSpPr>
          <p:spPr>
            <a:xfrm>
              <a:off x="3886200" y="3255264"/>
              <a:ext cx="256032" cy="0"/>
            </a:xfrm>
            <a:prstGeom prst="line">
              <a:avLst/>
            </a:prstGeom>
            <a:ln w="25400">
              <a:solidFill>
                <a:srgbClr val="3D6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4197096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process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3" name="Connector 162"/>
            <p:cNvCxnSpPr/>
            <p:nvPr/>
          </p:nvCxnSpPr>
          <p:spPr>
            <a:xfrm>
              <a:off x="4965192" y="3255264"/>
              <a:ext cx="256032" cy="0"/>
            </a:xfrm>
            <a:prstGeom prst="line">
              <a:avLst/>
            </a:prstGeom>
            <a:ln w="11430">
              <a:solidFill>
                <a:srgbClr val="5BA7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5276088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handling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5" name="Connector 164"/>
            <p:cNvCxnSpPr/>
            <p:nvPr/>
          </p:nvCxnSpPr>
          <p:spPr>
            <a:xfrm>
              <a:off x="6044184" y="3255264"/>
              <a:ext cx="256032" cy="0"/>
            </a:xfrm>
            <a:prstGeom prst="line">
              <a:avLst/>
            </a:prstGeom>
            <a:ln w="11430">
              <a:solidFill>
                <a:srgbClr val="8C8C8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/>
            <p:cNvSpPr txBox="1"/>
            <p:nvPr/>
          </p:nvSpPr>
          <p:spPr>
            <a:xfrm>
              <a:off x="6355080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weak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67" name="Connector 166"/>
            <p:cNvCxnSpPr/>
            <p:nvPr/>
          </p:nvCxnSpPr>
          <p:spPr>
            <a:xfrm>
              <a:off x="7123176" y="3255264"/>
              <a:ext cx="256032" cy="0"/>
            </a:xfrm>
            <a:prstGeom prst="line">
              <a:avLst/>
            </a:prstGeom>
            <a:ln w="1143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/>
            <p:cNvSpPr txBox="1"/>
            <p:nvPr/>
          </p:nvSpPr>
          <p:spPr>
            <a:xfrm>
              <a:off x="7434072" y="3153766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buffer link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169" name="Group 168"/>
          <p:cNvGrpSpPr/>
          <p:nvPr/>
        </p:nvGrpSpPr>
        <p:grpSpPr>
          <a:xfrm>
            <a:off x="8549640" y="137160"/>
            <a:ext cx="4480560" cy="3246120"/>
            <a:chOff x="8549640" y="137160"/>
            <a:chExt cx="4480560" cy="3246120"/>
          </a:xfrm>
        </p:grpSpPr>
        <p:sp>
          <p:nvSpPr>
            <p:cNvPr id="170" name="Rounded Rectangle 169"/>
            <p:cNvSpPr/>
            <p:nvPr/>
          </p:nvSpPr>
          <p:spPr>
            <a:xfrm>
              <a:off x="8549640" y="137160"/>
              <a:ext cx="4480560" cy="3246120"/>
            </a:xfrm>
            <a:prstGeom prst="roundRect">
              <a:avLst>
                <a:gd name="adj" fmla="val 1839"/>
              </a:avLst>
            </a:prstGeom>
            <a:solidFill>
              <a:srgbClr val="FFF9EA"/>
            </a:solidFill>
            <a:ln w="19050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ound Same Side Corner Rectangle 170"/>
            <p:cNvSpPr/>
            <p:nvPr/>
          </p:nvSpPr>
          <p:spPr>
            <a:xfrm>
              <a:off x="8549640" y="137160"/>
              <a:ext cx="4480560" cy="365760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8549640" y="137160"/>
              <a:ext cx="4480560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Process-informed rules</a:t>
              </a:r>
              <a:endParaRPr lang="en-US"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3" name="Rounded Rectangle 172"/>
            <p:cNvSpPr/>
            <p:nvPr/>
          </p:nvSpPr>
          <p:spPr>
            <a:xfrm>
              <a:off x="8686800" y="594360"/>
              <a:ext cx="1965960" cy="777240"/>
            </a:xfrm>
            <a:prstGeom prst="roundRect">
              <a:avLst>
                <a:gd name="adj" fmla="val 7058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8759952" y="621792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✕ </a:t>
              </a:r>
              <a:r>
                <a:rPr sz="1200" b="1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Prior work</a:t>
              </a:r>
              <a:endParaRPr sz="1200" b="1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75" name="Connector 174"/>
            <p:cNvCxnSpPr/>
            <p:nvPr/>
          </p:nvCxnSpPr>
          <p:spPr>
            <a:xfrm>
              <a:off x="8778240" y="987552"/>
              <a:ext cx="1783080" cy="0"/>
            </a:xfrm>
            <a:prstGeom prst="line">
              <a:avLst/>
            </a:prstGeom>
            <a:ln w="11430">
              <a:solidFill>
                <a:srgbClr val="CB001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Freeform 175"/>
            <p:cNvSpPr/>
            <p:nvPr/>
          </p:nvSpPr>
          <p:spPr>
            <a:xfrm>
              <a:off x="8823960" y="937260"/>
              <a:ext cx="1691640" cy="146304"/>
            </a:xfrm>
            <a:custGeom>
              <a:avLst/>
              <a:gdLst/>
              <a:ahLst/>
              <a:cxnLst/>
              <a:rect l="l" t="t" r="r" b="b"/>
              <a:pathLst>
                <a:path w="1691640" h="146304">
                  <a:moveTo>
                    <a:pt x="0" y="82296"/>
                  </a:moveTo>
                  <a:lnTo>
                    <a:pt x="120831" y="137160"/>
                  </a:lnTo>
                  <a:lnTo>
                    <a:pt x="241663" y="9144"/>
                  </a:lnTo>
                  <a:lnTo>
                    <a:pt x="362494" y="137160"/>
                  </a:lnTo>
                  <a:lnTo>
                    <a:pt x="483326" y="100584"/>
                  </a:lnTo>
                  <a:lnTo>
                    <a:pt x="604157" y="128016"/>
                  </a:lnTo>
                  <a:lnTo>
                    <a:pt x="724989" y="82296"/>
                  </a:lnTo>
                  <a:lnTo>
                    <a:pt x="845820" y="0"/>
                  </a:lnTo>
                  <a:lnTo>
                    <a:pt x="966651" y="146304"/>
                  </a:lnTo>
                  <a:lnTo>
                    <a:pt x="1087483" y="91440"/>
                  </a:lnTo>
                  <a:lnTo>
                    <a:pt x="1208314" y="118872"/>
                  </a:lnTo>
                  <a:lnTo>
                    <a:pt x="1329146" y="82296"/>
                  </a:lnTo>
                  <a:lnTo>
                    <a:pt x="1449977" y="18288"/>
                  </a:lnTo>
                  <a:lnTo>
                    <a:pt x="1570809" y="137160"/>
                  </a:lnTo>
                  <a:lnTo>
                    <a:pt x="1691640" y="100584"/>
                  </a:lnTo>
                </a:path>
              </a:pathLst>
            </a:custGeom>
            <a:noFill/>
            <a:ln w="12700">
              <a:solidFill>
                <a:srgbClr val="8C8C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9083911" y="873252"/>
              <a:ext cx="146304" cy="1097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×</a:t>
              </a:r>
              <a:endParaRPr sz="108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9688068" y="864108"/>
              <a:ext cx="146304" cy="1097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×</a:t>
              </a:r>
              <a:endParaRPr sz="108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0292225" y="882396"/>
              <a:ext cx="146304" cy="10972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×</a:t>
              </a:r>
              <a:endParaRPr sz="108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8732520" y="1161288"/>
              <a:ext cx="18745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threshold spikes ≠ bottleneck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181" name="Connector 180"/>
            <p:cNvCxnSpPr/>
            <p:nvPr/>
          </p:nvCxnSpPr>
          <p:spPr>
            <a:xfrm>
              <a:off x="10698480" y="982980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ounded Rectangle 181"/>
            <p:cNvSpPr/>
            <p:nvPr/>
          </p:nvSpPr>
          <p:spPr>
            <a:xfrm>
              <a:off x="10945368" y="594360"/>
              <a:ext cx="1920240" cy="77724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 w="12700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11018520" y="621792"/>
              <a:ext cx="1828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F26121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✓ </a:t>
              </a:r>
              <a:r>
                <a:rPr sz="1200" b="1" i="0">
                  <a:solidFill>
                    <a:srgbClr val="F2612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200" b="1" i="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11082528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1200094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11317659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11435225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1552791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11670357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11787922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1905488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12023054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12140619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12258185" y="946404"/>
              <a:ext cx="117566" cy="128016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12375751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12493317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12610882" y="946404"/>
              <a:ext cx="117566" cy="128016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0991088" y="1161288"/>
              <a:ext cx="1828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F2612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sustained events, 8-min rule</a:t>
              </a:r>
              <a:endParaRPr sz="1140" b="1" i="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99" name="Rounded Rectangle 198"/>
            <p:cNvSpPr/>
            <p:nvPr/>
          </p:nvSpPr>
          <p:spPr>
            <a:xfrm>
              <a:off x="8686800" y="1481328"/>
              <a:ext cx="1463040" cy="1819656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2700">
              <a:solidFill>
                <a:srgbClr val="FCB8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8686800" y="1527048"/>
              <a:ext cx="1463040" cy="3657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/>
              <a:r>
                <a:rPr lang="en-US" sz="11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Clustered pattern</a:t>
              </a:r>
              <a:endParaRPr lang="en-US" sz="11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/>
              <a:r>
                <a:rPr lang="en-US" sz="11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/>
              </a:r>
              <a:endParaRPr lang="en-US" sz="11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01" name="Oval 200"/>
            <p:cNvSpPr/>
            <p:nvPr/>
          </p:nvSpPr>
          <p:spPr>
            <a:xfrm>
              <a:off x="9215947" y="1979667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9082396" y="2143263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val 202"/>
            <p:cNvSpPr/>
            <p:nvPr/>
          </p:nvSpPr>
          <p:spPr>
            <a:xfrm>
              <a:off x="9010737" y="2172245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881751" y="2170901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val 204"/>
            <p:cNvSpPr/>
            <p:nvPr/>
          </p:nvSpPr>
          <p:spPr>
            <a:xfrm>
              <a:off x="8976784" y="2463458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9066569" y="2160968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>
              <a:off x="9024839" y="2135010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961153" y="2157827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>
              <a:off x="9087650" y="2170356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val 209"/>
            <p:cNvSpPr/>
            <p:nvPr/>
          </p:nvSpPr>
          <p:spPr>
            <a:xfrm>
              <a:off x="9126808" y="2173545"/>
              <a:ext cx="45720" cy="45720"/>
            </a:xfrm>
            <a:prstGeom prst="ellipse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5-Point Star 210"/>
            <p:cNvSpPr/>
            <p:nvPr/>
          </p:nvSpPr>
          <p:spPr>
            <a:xfrm>
              <a:off x="9011412" y="2153412"/>
              <a:ext cx="118872" cy="118872"/>
            </a:xfrm>
            <a:prstGeom prst="star5">
              <a:avLst/>
            </a:prstGeom>
            <a:solidFill>
              <a:srgbClr val="3D6EB4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9744928" y="2280627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9787792" y="2111834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val 213"/>
            <p:cNvSpPr/>
            <p:nvPr/>
          </p:nvSpPr>
          <p:spPr>
            <a:xfrm>
              <a:off x="9727885" y="2197895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9902182" y="2131223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val 215"/>
            <p:cNvSpPr/>
            <p:nvPr/>
          </p:nvSpPr>
          <p:spPr>
            <a:xfrm>
              <a:off x="9722888" y="2235898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val 216"/>
            <p:cNvSpPr/>
            <p:nvPr/>
          </p:nvSpPr>
          <p:spPr>
            <a:xfrm>
              <a:off x="9669980" y="2129405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9815561" y="2201172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val 218"/>
            <p:cNvSpPr/>
            <p:nvPr/>
          </p:nvSpPr>
          <p:spPr>
            <a:xfrm>
              <a:off x="9750463" y="2208559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val 219"/>
            <p:cNvSpPr/>
            <p:nvPr/>
          </p:nvSpPr>
          <p:spPr>
            <a:xfrm>
              <a:off x="9510186" y="2237461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Oval 220"/>
            <p:cNvSpPr/>
            <p:nvPr/>
          </p:nvSpPr>
          <p:spPr>
            <a:xfrm>
              <a:off x="9663957" y="2016091"/>
              <a:ext cx="45720" cy="45720"/>
            </a:xfrm>
            <a:prstGeom prst="ellipse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5-Point Star 221"/>
            <p:cNvSpPr/>
            <p:nvPr/>
          </p:nvSpPr>
          <p:spPr>
            <a:xfrm>
              <a:off x="9706356" y="2116836"/>
              <a:ext cx="118872" cy="118872"/>
            </a:xfrm>
            <a:prstGeom prst="star5">
              <a:avLst/>
            </a:prstGeom>
            <a:solidFill>
              <a:srgbClr val="5BA7D9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Oval 222"/>
            <p:cNvSpPr/>
            <p:nvPr/>
          </p:nvSpPr>
          <p:spPr>
            <a:xfrm>
              <a:off x="9125602" y="285114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Oval 223"/>
            <p:cNvSpPr/>
            <p:nvPr/>
          </p:nvSpPr>
          <p:spPr>
            <a:xfrm>
              <a:off x="9066249" y="2704908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Oval 224"/>
            <p:cNvSpPr/>
            <p:nvPr/>
          </p:nvSpPr>
          <p:spPr>
            <a:xfrm>
              <a:off x="9105002" y="2789151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9218527" y="2855001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9118802" y="2884975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Oval 227"/>
            <p:cNvSpPr/>
            <p:nvPr/>
          </p:nvSpPr>
          <p:spPr>
            <a:xfrm>
              <a:off x="9085938" y="271729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Oval 228"/>
            <p:cNvSpPr/>
            <p:nvPr/>
          </p:nvSpPr>
          <p:spPr>
            <a:xfrm>
              <a:off x="9150918" y="2841433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9085172" y="2729070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Oval 230"/>
            <p:cNvSpPr/>
            <p:nvPr/>
          </p:nvSpPr>
          <p:spPr>
            <a:xfrm>
              <a:off x="9121710" y="2588254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Oval 231"/>
            <p:cNvSpPr/>
            <p:nvPr/>
          </p:nvSpPr>
          <p:spPr>
            <a:xfrm>
              <a:off x="9159647" y="2833930"/>
              <a:ext cx="45720" cy="45720"/>
            </a:xfrm>
            <a:prstGeom prst="ellipse">
              <a:avLst/>
            </a:prstGeom>
            <a:solidFill>
              <a:srgbClr val="FCB8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5-Point Star 232"/>
            <p:cNvSpPr/>
            <p:nvPr/>
          </p:nvSpPr>
          <p:spPr>
            <a:xfrm>
              <a:off x="9066276" y="2756916"/>
              <a:ext cx="118872" cy="118872"/>
            </a:xfrm>
            <a:prstGeom prst="star5">
              <a:avLst/>
            </a:prstGeom>
            <a:solidFill>
              <a:srgbClr val="FCB84D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Oval 233"/>
            <p:cNvSpPr/>
            <p:nvPr/>
          </p:nvSpPr>
          <p:spPr>
            <a:xfrm>
              <a:off x="9626349" y="2835117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Oval 234"/>
            <p:cNvSpPr/>
            <p:nvPr/>
          </p:nvSpPr>
          <p:spPr>
            <a:xfrm>
              <a:off x="9681878" y="2892384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>
              <a:off x="9593816" y="2754809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Oval 236"/>
            <p:cNvSpPr/>
            <p:nvPr/>
          </p:nvSpPr>
          <p:spPr>
            <a:xfrm>
              <a:off x="9819616" y="2925235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Oval 237"/>
            <p:cNvSpPr/>
            <p:nvPr/>
          </p:nvSpPr>
          <p:spPr>
            <a:xfrm>
              <a:off x="9583625" y="2789081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Oval 238"/>
            <p:cNvSpPr/>
            <p:nvPr/>
          </p:nvSpPr>
          <p:spPr>
            <a:xfrm>
              <a:off x="9788215" y="2779932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Oval 239"/>
            <p:cNvSpPr/>
            <p:nvPr/>
          </p:nvSpPr>
          <p:spPr>
            <a:xfrm>
              <a:off x="9892123" y="2732035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Oval 240"/>
            <p:cNvSpPr/>
            <p:nvPr/>
          </p:nvSpPr>
          <p:spPr>
            <a:xfrm>
              <a:off x="9790397" y="2743788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Oval 241"/>
            <p:cNvSpPr/>
            <p:nvPr/>
          </p:nvSpPr>
          <p:spPr>
            <a:xfrm>
              <a:off x="9876925" y="2828286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Oval 242"/>
            <p:cNvSpPr/>
            <p:nvPr/>
          </p:nvSpPr>
          <p:spPr>
            <a:xfrm>
              <a:off x="9730585" y="2688668"/>
              <a:ext cx="45720" cy="45720"/>
            </a:xfrm>
            <a:prstGeom prst="ellipse">
              <a:avLst/>
            </a:prstGeom>
            <a:solidFill>
              <a:srgbClr val="F261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5-Point Star 243"/>
            <p:cNvSpPr/>
            <p:nvPr/>
          </p:nvSpPr>
          <p:spPr>
            <a:xfrm>
              <a:off x="9724644" y="2793492"/>
              <a:ext cx="118872" cy="118872"/>
            </a:xfrm>
            <a:prstGeom prst="star5">
              <a:avLst/>
            </a:prstGeom>
            <a:solidFill>
              <a:srgbClr val="F26121"/>
            </a:solidFill>
            <a:ln w="6350">
              <a:solidFill>
                <a:srgbClr val="2626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8686800" y="3041904"/>
              <a:ext cx="146304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16 pattern keys K</a:t>
              </a:r>
              <a:r>
                <a:rPr sz="1140" b="0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</a:t>
              </a:r>
              <a:endParaRPr sz="1140" b="0" i="0" baseline="30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332720" y="1463040"/>
              <a:ext cx="25603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Type-specific rule </a:t>
              </a:r>
              <a:r>
                <a:rPr sz="120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</a:t>
              </a:r>
              <a:r>
                <a:rPr sz="1200" b="0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raw</a:t>
              </a:r>
              <a:endParaRPr sz="1200" b="0" i="0" baseline="30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0332720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046073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10588752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10716768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1084478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0972800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10081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11228832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1356848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1148486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11612880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11740896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11868912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11996928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12124944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12252960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12380976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12508992" y="1700784"/>
              <a:ext cx="128016" cy="137160"/>
            </a:xfrm>
            <a:prstGeom prst="rect">
              <a:avLst/>
            </a:prstGeom>
            <a:solidFill>
              <a:srgbClr val="FCB84D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12637008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12765024" y="1700784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8" name="Connector 267"/>
            <p:cNvCxnSpPr/>
            <p:nvPr/>
          </p:nvCxnSpPr>
          <p:spPr>
            <a:xfrm>
              <a:off x="11612880" y="1865376"/>
              <a:ext cx="0" cy="201168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10332720" y="1874520"/>
              <a:ext cx="1207008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persistence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1704320" y="1874520"/>
              <a:ext cx="118872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 = 8,  g = 1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10332720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10460736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10588752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10716768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1084478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10972800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11100816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11228832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11356848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1148486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11612880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11740896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11868912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11996928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12124944" y="2093976"/>
              <a:ext cx="128016" cy="137160"/>
            </a:xfrm>
            <a:prstGeom prst="rect">
              <a:avLst/>
            </a:prstGeom>
            <a:solidFill>
              <a:srgbClr val="F26121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12252960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12380976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12508992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12637008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12765024" y="20939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10332720" y="2313432"/>
              <a:ext cx="25603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Event target </a:t>
              </a:r>
              <a:r>
                <a:rPr sz="120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(w, s, d)</a:t>
              </a:r>
              <a:endParaRPr sz="120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10332720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10460736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10588752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10716768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10844784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10972800" y="2551176"/>
              <a:ext cx="128016" cy="137160"/>
            </a:xfrm>
            <a:prstGeom prst="rect">
              <a:avLst/>
            </a:prstGeom>
            <a:solidFill>
              <a:srgbClr val="E6E6E6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11100816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11228832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11356848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11484864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angle 301"/>
            <p:cNvSpPr/>
            <p:nvPr/>
          </p:nvSpPr>
          <p:spPr>
            <a:xfrm>
              <a:off x="11612880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11740896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11868912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angle 304"/>
            <p:cNvSpPr/>
            <p:nvPr/>
          </p:nvSpPr>
          <p:spPr>
            <a:xfrm>
              <a:off x="11996928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angle 305"/>
            <p:cNvSpPr/>
            <p:nvPr/>
          </p:nvSpPr>
          <p:spPr>
            <a:xfrm>
              <a:off x="12124944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12252960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12380976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12508992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12637008" y="2551176"/>
              <a:ext cx="128016" cy="137160"/>
            </a:xfrm>
            <a:prstGeom prst="rect">
              <a:avLst/>
            </a:prstGeom>
            <a:solidFill>
              <a:srgbClr val="CB001C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ctangle 310"/>
            <p:cNvSpPr/>
            <p:nvPr/>
          </p:nvSpPr>
          <p:spPr>
            <a:xfrm>
              <a:off x="12765024" y="2551176"/>
              <a:ext cx="128016" cy="137160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2" name="Connector 311"/>
            <p:cNvCxnSpPr/>
            <p:nvPr/>
          </p:nvCxnSpPr>
          <p:spPr>
            <a:xfrm>
              <a:off x="11100816" y="2496312"/>
              <a:ext cx="0" cy="246888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TextBox 312"/>
            <p:cNvSpPr txBox="1"/>
            <p:nvPr/>
          </p:nvSpPr>
          <p:spPr>
            <a:xfrm>
              <a:off x="10332720" y="2724912"/>
              <a:ext cx="768096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history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14" name="Freeform 313"/>
            <p:cNvSpPr/>
            <p:nvPr/>
          </p:nvSpPr>
          <p:spPr>
            <a:xfrm>
              <a:off x="11100816" y="2743200"/>
              <a:ext cx="512064" cy="36576"/>
            </a:xfrm>
            <a:custGeom>
              <a:avLst/>
              <a:gdLst/>
              <a:ahLst/>
              <a:cxnLst/>
              <a:rect l="l" t="t" r="r" b="b"/>
              <a:pathLst>
                <a:path w="512064" h="36576">
                  <a:moveTo>
                    <a:pt x="0" y="0"/>
                  </a:moveTo>
                  <a:lnTo>
                    <a:pt x="0" y="36576"/>
                  </a:lnTo>
                  <a:lnTo>
                    <a:pt x="512064" y="36576"/>
                  </a:lnTo>
                  <a:lnTo>
                    <a:pt x="512064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11100816" y="2788920"/>
              <a:ext cx="512064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</a:t>
              </a:r>
              <a:endParaRPr sz="120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16" name="Freeform 315"/>
            <p:cNvSpPr/>
            <p:nvPr/>
          </p:nvSpPr>
          <p:spPr>
            <a:xfrm>
              <a:off x="11612880" y="2743200"/>
              <a:ext cx="1152144" cy="36576"/>
            </a:xfrm>
            <a:custGeom>
              <a:avLst/>
              <a:gdLst/>
              <a:ahLst/>
              <a:cxnLst/>
              <a:rect l="l" t="t" r="r" b="b"/>
              <a:pathLst>
                <a:path w="1152144" h="36576">
                  <a:moveTo>
                    <a:pt x="0" y="0"/>
                  </a:moveTo>
                  <a:lnTo>
                    <a:pt x="0" y="36576"/>
                  </a:lnTo>
                  <a:lnTo>
                    <a:pt x="1152144" y="36576"/>
                  </a:lnTo>
                  <a:lnTo>
                    <a:pt x="1152144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11612880" y="2788920"/>
              <a:ext cx="1152144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</a:t>
              </a:r>
              <a:endParaRPr sz="120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321" name="Group 320"/>
          <p:cNvGrpSpPr/>
          <p:nvPr/>
        </p:nvGrpSpPr>
        <p:grpSpPr>
          <a:xfrm>
            <a:off x="137160" y="3621024"/>
            <a:ext cx="10332720" cy="3209544"/>
            <a:chOff x="137160" y="3621024"/>
            <a:chExt cx="10332720" cy="3209544"/>
          </a:xfrm>
        </p:grpSpPr>
        <p:sp>
          <p:nvSpPr>
            <p:cNvPr id="322" name="Rounded Rectangle 321"/>
            <p:cNvSpPr/>
            <p:nvPr/>
          </p:nvSpPr>
          <p:spPr>
            <a:xfrm>
              <a:off x="137160" y="3621024"/>
              <a:ext cx="10332720" cy="3209544"/>
            </a:xfrm>
            <a:prstGeom prst="roundRect">
              <a:avLst>
                <a:gd name="adj" fmla="val 2025"/>
              </a:avLst>
            </a:prstGeom>
            <a:solidFill>
              <a:srgbClr val="F3F8FC"/>
            </a:solidFill>
            <a:ln w="15875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494030" y="3785308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600" b="1" i="0">
                  <a:solidFill>
                    <a:srgbClr val="3D6EB4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6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24" name="Rounded Rectangle 323"/>
            <p:cNvSpPr/>
            <p:nvPr/>
          </p:nvSpPr>
          <p:spPr>
            <a:xfrm>
              <a:off x="274320" y="4422775"/>
              <a:ext cx="2148840" cy="2286000"/>
            </a:xfrm>
            <a:prstGeom prst="roundRect">
              <a:avLst>
                <a:gd name="adj" fmla="val 2553"/>
              </a:avLst>
            </a:prstGeom>
            <a:solidFill>
              <a:srgbClr val="F4F7FC"/>
            </a:solidFill>
            <a:ln w="12700">
              <a:solidFill>
                <a:srgbClr val="A9BE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274320" y="4485640"/>
              <a:ext cx="214884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320" b="1" i="0">
                  <a:solidFill>
                    <a:srgbClr val="27456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Grouped embedding</a:t>
              </a:r>
              <a:endParaRPr sz="132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28" name="Connector 327"/>
            <p:cNvCxnSpPr/>
            <p:nvPr/>
          </p:nvCxnSpPr>
          <p:spPr>
            <a:xfrm>
              <a:off x="1517904" y="4993132"/>
              <a:ext cx="301752" cy="68580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Rounded Rectangle 328"/>
            <p:cNvSpPr/>
            <p:nvPr/>
          </p:nvSpPr>
          <p:spPr>
            <a:xfrm>
              <a:off x="438912" y="486968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TextBox 329"/>
            <p:cNvSpPr txBox="1"/>
            <p:nvPr/>
          </p:nvSpPr>
          <p:spPr>
            <a:xfrm>
              <a:off x="521208" y="486968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Queue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32" name="Connector 331"/>
            <p:cNvCxnSpPr/>
            <p:nvPr/>
          </p:nvCxnSpPr>
          <p:spPr>
            <a:xfrm>
              <a:off x="1517904" y="5267452"/>
              <a:ext cx="301752" cy="41148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Rounded Rectangle 332"/>
            <p:cNvSpPr/>
            <p:nvPr/>
          </p:nvSpPr>
          <p:spPr>
            <a:xfrm>
              <a:off x="438912" y="514400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521208" y="514400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Stall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36" name="Connector 335"/>
            <p:cNvCxnSpPr/>
            <p:nvPr/>
          </p:nvCxnSpPr>
          <p:spPr>
            <a:xfrm>
              <a:off x="1517904" y="5541772"/>
              <a:ext cx="301752" cy="13716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Rounded Rectangle 336"/>
            <p:cNvSpPr/>
            <p:nvPr/>
          </p:nvSpPr>
          <p:spPr>
            <a:xfrm>
              <a:off x="438912" y="541832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521208" y="541832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Logistics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40" name="Connector 339"/>
            <p:cNvCxnSpPr/>
            <p:nvPr/>
          </p:nvCxnSpPr>
          <p:spPr>
            <a:xfrm flipV="1">
              <a:off x="1517904" y="5678932"/>
              <a:ext cx="301752" cy="13716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Rounded Rectangle 340"/>
            <p:cNvSpPr/>
            <p:nvPr/>
          </p:nvSpPr>
          <p:spPr>
            <a:xfrm>
              <a:off x="438912" y="569264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521208" y="569264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Shortage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44" name="Connector 343"/>
            <p:cNvCxnSpPr/>
            <p:nvPr/>
          </p:nvCxnSpPr>
          <p:spPr>
            <a:xfrm flipV="1">
              <a:off x="1517904" y="5678932"/>
              <a:ext cx="301752" cy="41148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Rounded Rectangle 344"/>
            <p:cNvSpPr/>
            <p:nvPr/>
          </p:nvSpPr>
          <p:spPr>
            <a:xfrm>
              <a:off x="438912" y="596696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TextBox 345"/>
            <p:cNvSpPr txBox="1"/>
            <p:nvPr/>
          </p:nvSpPr>
          <p:spPr>
            <a:xfrm>
              <a:off x="521208" y="596696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Context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48" name="Connector 347"/>
            <p:cNvCxnSpPr/>
            <p:nvPr/>
          </p:nvCxnSpPr>
          <p:spPr>
            <a:xfrm flipV="1">
              <a:off x="1517904" y="5706237"/>
              <a:ext cx="301752" cy="685800"/>
            </a:xfrm>
            <a:prstGeom prst="line">
              <a:avLst/>
            </a:prstGeom>
            <a:ln w="12700">
              <a:solidFill>
                <a:srgbClr val="91ABC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Rounded Rectangle 348"/>
            <p:cNvSpPr/>
            <p:nvPr/>
          </p:nvSpPr>
          <p:spPr>
            <a:xfrm>
              <a:off x="438912" y="6241288"/>
              <a:ext cx="1078992" cy="246888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3D2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521208" y="6241288"/>
              <a:ext cx="914400" cy="246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30465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Type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52" name="Oval 351"/>
            <p:cNvSpPr/>
            <p:nvPr/>
          </p:nvSpPr>
          <p:spPr>
            <a:xfrm>
              <a:off x="1819656" y="5443474"/>
              <a:ext cx="484632" cy="402336"/>
            </a:xfrm>
            <a:prstGeom prst="roundRect">
              <a:avLst>
                <a:gd name="adj" fmla="val 14000"/>
              </a:avLst>
            </a:prstGeom>
            <a:solidFill>
              <a:srgbClr val="3D6EB4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1819656" y="5454269"/>
              <a:ext cx="484632" cy="4023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mean</a:t>
              </a:r>
              <a:endParaRPr sz="12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56" name="Rounded Rectangle 355"/>
            <p:cNvSpPr/>
            <p:nvPr/>
          </p:nvSpPr>
          <p:spPr>
            <a:xfrm>
              <a:off x="2697480" y="3986668"/>
              <a:ext cx="5303520" cy="2722018"/>
            </a:xfrm>
            <a:prstGeom prst="roundRect">
              <a:avLst>
                <a:gd name="adj" fmla="val 1791"/>
              </a:avLst>
            </a:prstGeom>
            <a:solidFill>
              <a:srgbClr val="FFFFFF"/>
            </a:solidFill>
            <a:ln w="15875">
              <a:solidFill>
                <a:srgbClr val="3D6EB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2834640" y="4014563"/>
              <a:ext cx="2743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6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Encoder block × 5   (d = 80)</a:t>
              </a:r>
              <a:endParaRPr sz="126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58" name="Rounded Rectangle 357"/>
            <p:cNvSpPr/>
            <p:nvPr/>
          </p:nvSpPr>
          <p:spPr>
            <a:xfrm>
              <a:off x="2834640" y="4254807"/>
              <a:ext cx="5029200" cy="1007553"/>
            </a:xfrm>
            <a:prstGeom prst="roundRect">
              <a:avLst>
                <a:gd name="adj" fmla="val 4838"/>
              </a:avLst>
            </a:prstGeom>
            <a:solidFill>
              <a:srgbClr val="FDECEE"/>
            </a:solidFill>
            <a:ln w="1905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Round Same Side Corner Rectangle 358"/>
            <p:cNvSpPr/>
            <p:nvPr/>
          </p:nvSpPr>
          <p:spPr>
            <a:xfrm>
              <a:off x="2834640" y="4254807"/>
              <a:ext cx="5029200" cy="325017"/>
            </a:xfrm>
            <a:prstGeom prst="round2SameRect">
              <a:avLst>
                <a:gd name="adj1" fmla="val 25000"/>
                <a:gd name="adj2" fmla="val 0"/>
              </a:avLst>
            </a:prstGeom>
            <a:solidFill>
              <a:srgbClr val="CB00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2834640" y="4234436"/>
              <a:ext cx="5029200" cy="3657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sz="160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Prototype-conditioned delay-aware propagation module</a:t>
              </a:r>
              <a:endParaRPr lang="en-US" sz="160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1" name="Rounded Rectangle 360"/>
            <p:cNvSpPr/>
            <p:nvPr/>
          </p:nvSpPr>
          <p:spPr>
            <a:xfrm>
              <a:off x="2926080" y="4596075"/>
              <a:ext cx="1417320" cy="633783"/>
            </a:xfrm>
            <a:prstGeom prst="roundRect">
              <a:avLst>
                <a:gd name="adj" fmla="val 7692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2999232" y="4610266"/>
              <a:ext cx="132588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✕ </a:t>
              </a:r>
              <a:r>
                <a:rPr sz="1200" b="1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Prior work</a:t>
              </a:r>
              <a:endParaRPr sz="1200" b="1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63" name="Connector 362"/>
            <p:cNvCxnSpPr/>
            <p:nvPr/>
          </p:nvCxnSpPr>
          <p:spPr>
            <a:xfrm>
              <a:off x="3337560" y="4921092"/>
              <a:ext cx="594360" cy="0"/>
            </a:xfrm>
            <a:prstGeom prst="line">
              <a:avLst/>
            </a:prstGeom>
            <a:ln w="15875">
              <a:solidFill>
                <a:srgbClr val="8C8C8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Oval 363"/>
            <p:cNvSpPr/>
            <p:nvPr/>
          </p:nvSpPr>
          <p:spPr>
            <a:xfrm>
              <a:off x="3264408" y="4847940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3264408" y="4847940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6" name="Oval 365"/>
            <p:cNvSpPr/>
            <p:nvPr/>
          </p:nvSpPr>
          <p:spPr>
            <a:xfrm>
              <a:off x="3858768" y="4847940"/>
              <a:ext cx="146304" cy="146304"/>
            </a:xfrm>
            <a:prstGeom prst="ellipse">
              <a:avLst/>
            </a:prstGeom>
            <a:solidFill>
              <a:srgbClr val="A6A6A6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3858768" y="4847940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j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3044952" y="4847940"/>
              <a:ext cx="201168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69" name="TextBox 368"/>
            <p:cNvSpPr txBox="1"/>
            <p:nvPr/>
          </p:nvSpPr>
          <p:spPr>
            <a:xfrm>
              <a:off x="4023360" y="4847940"/>
              <a:ext cx="201168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0" name="TextBox 369"/>
            <p:cNvSpPr txBox="1"/>
            <p:nvPr/>
          </p:nvSpPr>
          <p:spPr>
            <a:xfrm>
              <a:off x="2971800" y="5032788"/>
              <a:ext cx="132588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same-time links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71" name="Connector 370"/>
            <p:cNvCxnSpPr/>
            <p:nvPr/>
          </p:nvCxnSpPr>
          <p:spPr>
            <a:xfrm>
              <a:off x="4389120" y="4912967"/>
              <a:ext cx="201168" cy="0"/>
            </a:xfrm>
            <a:prstGeom prst="line">
              <a:avLst/>
            </a:prstGeom>
            <a:ln w="19050">
              <a:solidFill>
                <a:srgbClr val="8C8C8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Rounded Rectangle 371"/>
            <p:cNvSpPr/>
            <p:nvPr/>
          </p:nvSpPr>
          <p:spPr>
            <a:xfrm>
              <a:off x="4636008" y="4596075"/>
              <a:ext cx="1463040" cy="633783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270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4709160" y="4610266"/>
              <a:ext cx="13716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CB001C"/>
                  </a:solidFill>
                  <a:latin typeface="Segoe UI Symbol" panose="020B0502040204020203"/>
                  <a:ea typeface="Segoe UI Symbol" panose="020B0502040204020203"/>
                  <a:cs typeface="Segoe UI Symbol" panose="020B0502040204020203"/>
                </a:rPr>
                <a:t>✓ </a:t>
              </a:r>
              <a:r>
                <a:rPr sz="120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PHGST-DP</a:t>
              </a:r>
              <a:endParaRPr sz="120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4" name="Freeform 373"/>
            <p:cNvSpPr/>
            <p:nvPr/>
          </p:nvSpPr>
          <p:spPr>
            <a:xfrm>
              <a:off x="5148072" y="4872480"/>
              <a:ext cx="502920" cy="40487"/>
            </a:xfrm>
            <a:custGeom>
              <a:avLst/>
              <a:gdLst/>
              <a:ahLst/>
              <a:cxnLst/>
              <a:rect l="l" t="t" r="r" b="b"/>
              <a:pathLst>
                <a:path w="502920" h="45562">
                  <a:moveTo>
                    <a:pt x="0" y="45562"/>
                  </a:moveTo>
                  <a:lnTo>
                    <a:pt x="29584" y="35437"/>
                  </a:lnTo>
                  <a:lnTo>
                    <a:pt x="59167" y="26578"/>
                  </a:lnTo>
                  <a:lnTo>
                    <a:pt x="88751" y="18984"/>
                  </a:lnTo>
                  <a:lnTo>
                    <a:pt x="118334" y="12656"/>
                  </a:lnTo>
                  <a:lnTo>
                    <a:pt x="147918" y="7594"/>
                  </a:lnTo>
                  <a:lnTo>
                    <a:pt x="177501" y="3797"/>
                  </a:lnTo>
                  <a:lnTo>
                    <a:pt x="207085" y="1266"/>
                  </a:lnTo>
                  <a:lnTo>
                    <a:pt x="236668" y="0"/>
                  </a:lnTo>
                  <a:lnTo>
                    <a:pt x="266252" y="0"/>
                  </a:lnTo>
                  <a:lnTo>
                    <a:pt x="295835" y="1266"/>
                  </a:lnTo>
                  <a:lnTo>
                    <a:pt x="325419" y="3797"/>
                  </a:lnTo>
                  <a:lnTo>
                    <a:pt x="355002" y="7594"/>
                  </a:lnTo>
                  <a:lnTo>
                    <a:pt x="384586" y="12656"/>
                  </a:lnTo>
                  <a:lnTo>
                    <a:pt x="414169" y="18984"/>
                  </a:lnTo>
                  <a:lnTo>
                    <a:pt x="443753" y="26578"/>
                  </a:lnTo>
                  <a:lnTo>
                    <a:pt x="473336" y="35437"/>
                  </a:lnTo>
                  <a:lnTo>
                    <a:pt x="502920" y="45562"/>
                  </a:lnTo>
                </a:path>
              </a:pathLst>
            </a:custGeom>
            <a:noFill/>
            <a:ln w="15875">
              <a:solidFill>
                <a:srgbClr val="CB001C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Oval 374"/>
            <p:cNvSpPr/>
            <p:nvPr/>
          </p:nvSpPr>
          <p:spPr>
            <a:xfrm>
              <a:off x="5001768" y="4864191"/>
              <a:ext cx="146304" cy="146304"/>
            </a:xfrm>
            <a:prstGeom prst="ellipse">
              <a:avLst/>
            </a:prstGeom>
            <a:solidFill>
              <a:srgbClr val="5BA7D9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Oval 375"/>
            <p:cNvSpPr/>
            <p:nvPr/>
          </p:nvSpPr>
          <p:spPr>
            <a:xfrm>
              <a:off x="5660136" y="4864191"/>
              <a:ext cx="146304" cy="146304"/>
            </a:xfrm>
            <a:prstGeom prst="ellipse">
              <a:avLst/>
            </a:prstGeom>
            <a:solidFill>
              <a:srgbClr val="CB001C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5001768" y="4864191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5660136" y="4864191"/>
              <a:ext cx="14630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960" b="1" i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j</a:t>
              </a:r>
              <a:endParaRPr sz="96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4654296" y="4864191"/>
              <a:ext cx="329184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r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t−τ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5824728" y="4864191"/>
              <a:ext cx="201168" cy="1463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2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</a:t>
              </a:r>
              <a:endParaRPr sz="102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4681728" y="5032788"/>
              <a:ext cx="13716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lagged precursors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6172200" y="4726471"/>
              <a:ext cx="16916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Pattern attention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6190615" y="4948826"/>
              <a:ext cx="16916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</a:t>
              </a:r>
              <a:r>
                <a:rPr sz="1140" b="1" i="0" baseline="3000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</a:t>
              </a:r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added to geo. keys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86" name="Connector 385"/>
            <p:cNvCxnSpPr/>
            <p:nvPr/>
          </p:nvCxnSpPr>
          <p:spPr>
            <a:xfrm>
              <a:off x="2907792" y="5571127"/>
              <a:ext cx="0" cy="715038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Connector 386"/>
            <p:cNvCxnSpPr/>
            <p:nvPr/>
          </p:nvCxnSpPr>
          <p:spPr>
            <a:xfrm>
              <a:off x="6473952" y="5571127"/>
              <a:ext cx="0" cy="715038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Rounded Rectangle 387"/>
            <p:cNvSpPr/>
            <p:nvPr/>
          </p:nvSpPr>
          <p:spPr>
            <a:xfrm>
              <a:off x="3017520" y="5424869"/>
              <a:ext cx="3383280" cy="292515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3017520" y="5424869"/>
              <a:ext cx="64008" cy="292515"/>
            </a:xfrm>
            <a:prstGeom prst="rect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TextBox 389"/>
            <p:cNvSpPr txBox="1"/>
            <p:nvPr/>
          </p:nvSpPr>
          <p:spPr>
            <a:xfrm>
              <a:off x="3154680" y="5406535"/>
              <a:ext cx="3200400" cy="32918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Geographic attn ×2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mask M</a:t>
              </a:r>
              <a:r>
                <a:rPr sz="1140" b="0" i="0" baseline="3000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, keys + C</a:t>
              </a:r>
              <a:r>
                <a:rPr sz="1140" b="0" i="0" baseline="3000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</a:t>
              </a:r>
              <a:endParaRPr sz="1140" b="0" i="0" baseline="3000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91" name="Connector 390"/>
            <p:cNvCxnSpPr/>
            <p:nvPr/>
          </p:nvCxnSpPr>
          <p:spPr>
            <a:xfrm>
              <a:off x="2907792" y="5571127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Connector 391"/>
            <p:cNvCxnSpPr/>
            <p:nvPr/>
          </p:nvCxnSpPr>
          <p:spPr>
            <a:xfrm>
              <a:off x="6400800" y="5571127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ounded Rectangle 392"/>
            <p:cNvSpPr/>
            <p:nvPr/>
          </p:nvSpPr>
          <p:spPr>
            <a:xfrm>
              <a:off x="3017520" y="5782388"/>
              <a:ext cx="3383280" cy="292515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3017520" y="5782388"/>
              <a:ext cx="64008" cy="292515"/>
            </a:xfrm>
            <a:prstGeom prst="rect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3154680" y="5764054"/>
              <a:ext cx="3200400" cy="32918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Temporal attn ×4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per resource, 30 windows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396" name="Connector 395"/>
            <p:cNvCxnSpPr/>
            <p:nvPr/>
          </p:nvCxnSpPr>
          <p:spPr>
            <a:xfrm>
              <a:off x="2907792" y="5928646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396"/>
            <p:cNvCxnSpPr/>
            <p:nvPr/>
          </p:nvCxnSpPr>
          <p:spPr>
            <a:xfrm>
              <a:off x="6400800" y="5928646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Rounded Rectangle 397"/>
            <p:cNvSpPr/>
            <p:nvPr/>
          </p:nvSpPr>
          <p:spPr>
            <a:xfrm>
              <a:off x="3017520" y="6139907"/>
              <a:ext cx="3383280" cy="292515"/>
            </a:xfrm>
            <a:prstGeom prst="roundRect">
              <a:avLst>
                <a:gd name="adj" fmla="val 13888"/>
              </a:avLst>
            </a:prstGeom>
            <a:solidFill>
              <a:srgbClr val="FFFFFF"/>
            </a:solidFill>
            <a:ln w="1587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3017520" y="6139907"/>
              <a:ext cx="64008" cy="292515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TextBox 399"/>
            <p:cNvSpPr txBox="1"/>
            <p:nvPr/>
          </p:nvSpPr>
          <p:spPr>
            <a:xfrm>
              <a:off x="3154680" y="6121572"/>
              <a:ext cx="3200400" cy="32918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Semantic attn ×2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mask M</a:t>
              </a:r>
              <a:r>
                <a:rPr sz="1140" b="0" i="0" baseline="3000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</a:t>
              </a:r>
              <a:r>
                <a:rPr sz="114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, similar resources</a:t>
              </a:r>
              <a:endParaRPr sz="114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01" name="Connector 400"/>
            <p:cNvCxnSpPr/>
            <p:nvPr/>
          </p:nvCxnSpPr>
          <p:spPr>
            <a:xfrm>
              <a:off x="2907792" y="6286164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or 401"/>
            <p:cNvCxnSpPr/>
            <p:nvPr/>
          </p:nvCxnSpPr>
          <p:spPr>
            <a:xfrm>
              <a:off x="6400800" y="6286164"/>
              <a:ext cx="73152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Connector 402"/>
            <p:cNvCxnSpPr/>
            <p:nvPr/>
          </p:nvCxnSpPr>
          <p:spPr>
            <a:xfrm>
              <a:off x="5394960" y="5262360"/>
              <a:ext cx="0" cy="162509"/>
            </a:xfrm>
            <a:prstGeom prst="line">
              <a:avLst/>
            </a:prstGeom>
            <a:ln w="19050">
              <a:solidFill>
                <a:srgbClr val="CB001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Rounded Rectangle 403"/>
            <p:cNvSpPr/>
            <p:nvPr/>
          </p:nvSpPr>
          <p:spPr>
            <a:xfrm>
              <a:off x="6583680" y="5424869"/>
              <a:ext cx="1280160" cy="40627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6583680" y="5399405"/>
              <a:ext cx="1280160" cy="4572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Concat +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project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06" name="Rounded Rectangle 405"/>
            <p:cNvSpPr/>
            <p:nvPr/>
          </p:nvSpPr>
          <p:spPr>
            <a:xfrm>
              <a:off x="6583680" y="6026151"/>
              <a:ext cx="1280160" cy="40627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3D6E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6583680" y="6000686"/>
              <a:ext cx="1280160" cy="4572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Add &amp; Norm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+ FFN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08" name="Connector 407"/>
            <p:cNvCxnSpPr/>
            <p:nvPr/>
          </p:nvCxnSpPr>
          <p:spPr>
            <a:xfrm>
              <a:off x="6473952" y="5628005"/>
              <a:ext cx="109728" cy="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Connector 408"/>
            <p:cNvCxnSpPr/>
            <p:nvPr/>
          </p:nvCxnSpPr>
          <p:spPr>
            <a:xfrm>
              <a:off x="7223760" y="5831140"/>
              <a:ext cx="0" cy="19501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Connector 409"/>
            <p:cNvCxnSpPr/>
            <p:nvPr/>
          </p:nvCxnSpPr>
          <p:spPr>
            <a:xfrm>
              <a:off x="2423160" y="5928646"/>
              <a:ext cx="484632" cy="0"/>
            </a:xfrm>
            <a:prstGeom prst="line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Rounded Rectangle 410"/>
            <p:cNvSpPr/>
            <p:nvPr/>
          </p:nvSpPr>
          <p:spPr>
            <a:xfrm>
              <a:off x="8183880" y="4206240"/>
              <a:ext cx="2148840" cy="2286000"/>
            </a:xfrm>
            <a:prstGeom prst="roundRect">
              <a:avLst>
                <a:gd name="adj" fmla="val 2553"/>
              </a:avLst>
            </a:prstGeom>
            <a:solidFill>
              <a:srgbClr val="FFFFFF"/>
            </a:solidFill>
            <a:ln w="12700">
              <a:solidFill>
                <a:srgbClr val="5BA7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8183880" y="4297680"/>
              <a:ext cx="214884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32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Multi-task heads</a:t>
              </a:r>
              <a:endParaRPr sz="132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13" name="Rounded Rectangle 412"/>
            <p:cNvSpPr/>
            <p:nvPr/>
          </p:nvSpPr>
          <p:spPr>
            <a:xfrm>
              <a:off x="8302752" y="4681728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8375904" y="4681728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Occurrence p</a:t>
              </a:r>
              <a:r>
                <a:rPr sz="1140" b="1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cont</a:t>
              </a:r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/ p</a:t>
              </a:r>
              <a:r>
                <a:rPr sz="1140" b="1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onset</a:t>
              </a:r>
              <a:endParaRPr sz="1140" b="1" i="0" baseline="30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16" name="Rounded Rectangle 415"/>
            <p:cNvSpPr/>
            <p:nvPr/>
          </p:nvSpPr>
          <p:spPr>
            <a:xfrm>
              <a:off x="8302752" y="5029200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8375904" y="5029200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Start π</a:t>
              </a:r>
              <a:r>
                <a:rPr sz="1140" b="1" i="0" baseline="3000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</a:t>
              </a:r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·  duration d̂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19" name="Rounded Rectangle 418"/>
            <p:cNvSpPr/>
            <p:nvPr/>
          </p:nvSpPr>
          <p:spPr>
            <a:xfrm>
              <a:off x="8302752" y="5376672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8375904" y="5376672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Prefix p̂  ·  occupancy Ô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2752" y="5724144"/>
              <a:ext cx="1911096" cy="274320"/>
            </a:xfrm>
            <a:prstGeom prst="roundRect">
              <a:avLst>
                <a:gd name="adj" fmla="val 9259"/>
              </a:avLst>
            </a:prstGeom>
            <a:solidFill>
              <a:srgbClr val="E9F4FA"/>
            </a:solidFill>
            <a:ln w="9525">
              <a:solidFill>
                <a:srgbClr val="A6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8375904" y="5724144"/>
              <a:ext cx="182880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Cause ĉ  ·  remaining ℓ̂</a:t>
              </a:r>
              <a:endParaRPr sz="114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25" name="Rounded Rectangle 424"/>
            <p:cNvSpPr/>
            <p:nvPr/>
          </p:nvSpPr>
          <p:spPr>
            <a:xfrm>
              <a:off x="8302752" y="6163056"/>
              <a:ext cx="1911096" cy="228600"/>
            </a:xfrm>
            <a:prstGeom prst="roundRect">
              <a:avLst>
                <a:gd name="adj" fmla="val 13888"/>
              </a:avLst>
            </a:prstGeom>
            <a:solidFill>
              <a:srgbClr val="F6F6F6"/>
            </a:solidFill>
            <a:ln w="9525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8302752" y="6144768"/>
              <a:ext cx="1911096" cy="26517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validation-controlled decoding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27" name="Connector 426"/>
            <p:cNvCxnSpPr/>
            <p:nvPr/>
          </p:nvCxnSpPr>
          <p:spPr>
            <a:xfrm>
              <a:off x="7863840" y="6229286"/>
              <a:ext cx="320040" cy="0"/>
            </a:xfrm>
            <a:prstGeom prst="line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8" name="Group 427"/>
          <p:cNvGrpSpPr/>
          <p:nvPr/>
        </p:nvGrpSpPr>
        <p:grpSpPr>
          <a:xfrm>
            <a:off x="10652760" y="3621024"/>
            <a:ext cx="2377440" cy="3209544"/>
            <a:chOff x="10652760" y="3621024"/>
            <a:chExt cx="2377440" cy="3209544"/>
          </a:xfrm>
        </p:grpSpPr>
        <p:sp>
          <p:nvSpPr>
            <p:cNvPr id="429" name="Rounded Rectangle 428"/>
            <p:cNvSpPr/>
            <p:nvPr/>
          </p:nvSpPr>
          <p:spPr>
            <a:xfrm>
              <a:off x="10652760" y="3621024"/>
              <a:ext cx="2377440" cy="3209544"/>
            </a:xfrm>
            <a:prstGeom prst="roundRect">
              <a:avLst>
                <a:gd name="adj" fmla="val 3076"/>
              </a:avLst>
            </a:prstGeom>
            <a:solidFill>
              <a:srgbClr val="F6F6F6"/>
            </a:solidFill>
            <a:ln w="12700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10789920" y="3654498"/>
              <a:ext cx="2103120" cy="2743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6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Bottleneck report</a:t>
              </a:r>
              <a:endParaRPr sz="16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31" name="Rectangle 430"/>
            <p:cNvSpPr/>
            <p:nvPr/>
          </p:nvSpPr>
          <p:spPr>
            <a:xfrm>
              <a:off x="11475720" y="4027295"/>
              <a:ext cx="236220" cy="828794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10789920" y="4033361"/>
              <a:ext cx="685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Weld-2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33" name="Connector 432"/>
            <p:cNvCxnSpPr/>
            <p:nvPr/>
          </p:nvCxnSpPr>
          <p:spPr>
            <a:xfrm>
              <a:off x="11475720" y="4124801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4" name="Rectangle 433"/>
            <p:cNvSpPr/>
            <p:nvPr/>
          </p:nvSpPr>
          <p:spPr>
            <a:xfrm>
              <a:off x="11711940" y="4059797"/>
              <a:ext cx="354330" cy="130007"/>
            </a:xfrm>
            <a:prstGeom prst="rect">
              <a:avLst/>
            </a:prstGeom>
            <a:solidFill>
              <a:srgbClr val="CB001C"/>
            </a:solidFill>
            <a:ln w="9525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10789920" y="4277123"/>
              <a:ext cx="685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Gantry-1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36" name="Connector 435"/>
            <p:cNvCxnSpPr/>
            <p:nvPr/>
          </p:nvCxnSpPr>
          <p:spPr>
            <a:xfrm>
              <a:off x="11475720" y="4368563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Rectangle 436"/>
            <p:cNvSpPr/>
            <p:nvPr/>
          </p:nvSpPr>
          <p:spPr>
            <a:xfrm>
              <a:off x="12125325" y="4303560"/>
              <a:ext cx="472440" cy="130007"/>
            </a:xfrm>
            <a:prstGeom prst="rect">
              <a:avLst/>
            </a:prstGeom>
            <a:solidFill>
              <a:srgbClr val="FCB84D"/>
            </a:solidFill>
            <a:ln w="9525">
              <a:solidFill>
                <a:srgbClr val="F261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10789920" y="4667144"/>
              <a:ext cx="68580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4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AGV-3</a:t>
              </a:r>
              <a:endParaRPr sz="114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439" name="Connector 438"/>
            <p:cNvCxnSpPr/>
            <p:nvPr/>
          </p:nvCxnSpPr>
          <p:spPr>
            <a:xfrm>
              <a:off x="11475720" y="4758584"/>
              <a:ext cx="1417320" cy="0"/>
            </a:xfrm>
            <a:prstGeom prst="line">
              <a:avLst/>
            </a:prstGeom>
            <a:ln w="6350">
              <a:solidFill>
                <a:srgbClr val="B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Connector 439"/>
            <p:cNvCxnSpPr/>
            <p:nvPr/>
          </p:nvCxnSpPr>
          <p:spPr>
            <a:xfrm>
              <a:off x="11711940" y="4027295"/>
              <a:ext cx="0" cy="828794"/>
            </a:xfrm>
            <a:prstGeom prst="line">
              <a:avLst/>
            </a:prstGeom>
            <a:ln w="15875">
              <a:solidFill>
                <a:srgbClr val="26262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TextBox 440"/>
            <p:cNvSpPr txBox="1"/>
            <p:nvPr/>
          </p:nvSpPr>
          <p:spPr>
            <a:xfrm>
              <a:off x="11483340" y="3897775"/>
              <a:ext cx="457200" cy="13716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02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now</a:t>
              </a:r>
              <a:endParaRPr sz="102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2" name="Freeform 441"/>
            <p:cNvSpPr/>
            <p:nvPr/>
          </p:nvSpPr>
          <p:spPr>
            <a:xfrm>
              <a:off x="11711940" y="4498570"/>
              <a:ext cx="413385" cy="32502"/>
            </a:xfrm>
            <a:custGeom>
              <a:avLst/>
              <a:gdLst/>
              <a:ahLst/>
              <a:cxnLst/>
              <a:rect l="l" t="t" r="r" b="b"/>
              <a:pathLst>
                <a:path w="413385" h="36576">
                  <a:moveTo>
                    <a:pt x="0" y="0"/>
                  </a:moveTo>
                  <a:lnTo>
                    <a:pt x="0" y="36576"/>
                  </a:lnTo>
                  <a:lnTo>
                    <a:pt x="413385" y="36576"/>
                  </a:lnTo>
                  <a:lnTo>
                    <a:pt x="413385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1711940" y="4529012"/>
              <a:ext cx="413385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ŝ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4" name="Freeform 443"/>
            <p:cNvSpPr/>
            <p:nvPr/>
          </p:nvSpPr>
          <p:spPr>
            <a:xfrm>
              <a:off x="12125325" y="4498570"/>
              <a:ext cx="472440" cy="32502"/>
            </a:xfrm>
            <a:custGeom>
              <a:avLst/>
              <a:gdLst/>
              <a:ahLst/>
              <a:cxnLst/>
              <a:rect l="l" t="t" r="r" b="b"/>
              <a:pathLst>
                <a:path w="472440" h="36576">
                  <a:moveTo>
                    <a:pt x="0" y="0"/>
                  </a:moveTo>
                  <a:lnTo>
                    <a:pt x="0" y="36576"/>
                  </a:lnTo>
                  <a:lnTo>
                    <a:pt x="472440" y="36576"/>
                  </a:lnTo>
                  <a:lnTo>
                    <a:pt x="472440" y="0"/>
                  </a:lnTo>
                </a:path>
              </a:pathLst>
            </a:custGeom>
            <a:noFill/>
            <a:ln w="11430">
              <a:solidFill>
                <a:srgbClr val="CB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TextBox 444"/>
            <p:cNvSpPr txBox="1"/>
            <p:nvPr/>
          </p:nvSpPr>
          <p:spPr>
            <a:xfrm>
              <a:off x="12125325" y="4529012"/>
              <a:ext cx="4724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1140" b="1" i="0">
                  <a:solidFill>
                    <a:srgbClr val="CB001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d̂</a:t>
              </a:r>
              <a:endParaRPr sz="1140" b="1" i="0">
                <a:solidFill>
                  <a:srgbClr val="CB00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10789920" y="5072397"/>
              <a:ext cx="21031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Process cause ĉ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8" name="TextBox 447"/>
            <p:cNvSpPr txBox="1"/>
            <p:nvPr/>
          </p:nvSpPr>
          <p:spPr>
            <a:xfrm>
              <a:off x="10789920" y="5260300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Transport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11567160" y="5286737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angle 449"/>
            <p:cNvSpPr/>
            <p:nvPr/>
          </p:nvSpPr>
          <p:spPr>
            <a:xfrm>
              <a:off x="11567160" y="5286737"/>
              <a:ext cx="159106" cy="130007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TextBox 450"/>
            <p:cNvSpPr txBox="1"/>
            <p:nvPr/>
          </p:nvSpPr>
          <p:spPr>
            <a:xfrm>
              <a:off x="10789920" y="5463436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Shortage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52" name="Rectangle 451"/>
            <p:cNvSpPr/>
            <p:nvPr/>
          </p:nvSpPr>
          <p:spPr>
            <a:xfrm>
              <a:off x="11567160" y="5489872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11567160" y="5489872"/>
              <a:ext cx="92812" cy="130007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TextBox 453"/>
            <p:cNvSpPr txBox="1"/>
            <p:nvPr/>
          </p:nvSpPr>
          <p:spPr>
            <a:xfrm>
              <a:off x="10789920" y="5666572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Starvation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55" name="Rectangle 454"/>
            <p:cNvSpPr/>
            <p:nvPr/>
          </p:nvSpPr>
          <p:spPr>
            <a:xfrm>
              <a:off x="11567160" y="5693008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angle 455"/>
            <p:cNvSpPr/>
            <p:nvPr/>
          </p:nvSpPr>
          <p:spPr>
            <a:xfrm>
              <a:off x="11567160" y="5693008"/>
              <a:ext cx="119329" cy="130007"/>
            </a:xfrm>
            <a:prstGeom prst="rect">
              <a:avLst/>
            </a:prstGeom>
            <a:solidFill>
              <a:srgbClr val="A6DC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TextBox 456"/>
            <p:cNvSpPr txBox="1"/>
            <p:nvPr/>
          </p:nvSpPr>
          <p:spPr>
            <a:xfrm>
              <a:off x="10789920" y="5869707"/>
              <a:ext cx="77724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5959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Queue</a:t>
              </a:r>
              <a:endParaRPr sz="1080" b="0" i="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11567160" y="5896144"/>
              <a:ext cx="1325880" cy="1300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11567160" y="5896144"/>
              <a:ext cx="954634" cy="130007"/>
            </a:xfrm>
            <a:prstGeom prst="rect">
              <a:avLst/>
            </a:prstGeom>
            <a:solidFill>
              <a:srgbClr val="3D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TextBox 459"/>
            <p:cNvSpPr txBox="1"/>
            <p:nvPr/>
          </p:nvSpPr>
          <p:spPr>
            <a:xfrm>
              <a:off x="10789920" y="6177455"/>
              <a:ext cx="2103120" cy="201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00" b="1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Remaining order time ℓ̂</a:t>
              </a:r>
              <a:endPara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61" name="Rectangle 460"/>
            <p:cNvSpPr/>
            <p:nvPr/>
          </p:nvSpPr>
          <p:spPr>
            <a:xfrm>
              <a:off x="10789920" y="6424297"/>
              <a:ext cx="2103120" cy="14625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angle 461"/>
            <p:cNvSpPr/>
            <p:nvPr/>
          </p:nvSpPr>
          <p:spPr>
            <a:xfrm>
              <a:off x="10789920" y="6424297"/>
              <a:ext cx="1261872" cy="146258"/>
            </a:xfrm>
            <a:prstGeom prst="rect">
              <a:avLst/>
            </a:prstGeom>
            <a:solidFill>
              <a:srgbClr val="5BA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TextBox 462"/>
            <p:cNvSpPr txBox="1"/>
            <p:nvPr/>
          </p:nvSpPr>
          <p:spPr>
            <a:xfrm>
              <a:off x="12097512" y="6405985"/>
              <a:ext cx="822960" cy="1828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080" b="0" i="0">
                  <a:solidFill>
                    <a:srgbClr val="262626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12 min left</a:t>
              </a:r>
              <a:endParaRPr sz="1080" b="0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cxnSp>
        <p:nvCxnSpPr>
          <p:cNvPr id="464" name="Connector 463"/>
          <p:cNvCxnSpPr/>
          <p:nvPr/>
        </p:nvCxnSpPr>
        <p:spPr>
          <a:xfrm>
            <a:off x="3611880" y="1816188"/>
            <a:ext cx="182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2011680" y="3383280"/>
            <a:ext cx="0" cy="10236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TextBox 465"/>
          <p:cNvSpPr txBox="1"/>
          <p:nvPr/>
        </p:nvSpPr>
        <p:spPr>
          <a:xfrm>
            <a:off x="2084832" y="3666698"/>
            <a:ext cx="5486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r>
              <a:rPr sz="1200" b="1" i="0" baseline="-25000">
                <a:solidFill>
                  <a:srgbClr val="2626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endParaRPr sz="1200" b="1" i="0" baseline="-25000">
              <a:solidFill>
                <a:srgbClr val="2626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67" name="Connector 466"/>
          <p:cNvCxnSpPr/>
          <p:nvPr/>
        </p:nvCxnSpPr>
        <p:spPr>
          <a:xfrm>
            <a:off x="4937760" y="3383280"/>
            <a:ext cx="0" cy="603388"/>
          </a:xfrm>
          <a:prstGeom prst="line">
            <a:avLst/>
          </a:prstGeom>
          <a:ln w="19050">
            <a:solidFill>
              <a:srgbClr val="3D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TextBox 467"/>
          <p:cNvSpPr txBox="1"/>
          <p:nvPr/>
        </p:nvSpPr>
        <p:spPr>
          <a:xfrm>
            <a:off x="5010912" y="3666698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G,  M</a:t>
            </a:r>
            <a:r>
              <a:rPr sz="1200" b="1" i="0" baseline="3000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</a:t>
            </a:r>
            <a:r>
              <a:rPr sz="1200" b="1" i="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 M</a:t>
            </a:r>
            <a:r>
              <a:rPr sz="1200" b="1" i="0" baseline="30000">
                <a:solidFill>
                  <a:srgbClr val="3D6EB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endParaRPr sz="1200" b="1" i="0" baseline="30000">
              <a:solidFill>
                <a:srgbClr val="3D6EB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0" name="TextBox 469"/>
          <p:cNvSpPr txBox="1"/>
          <p:nvPr/>
        </p:nvSpPr>
        <p:spPr>
          <a:xfrm>
            <a:off x="6282055" y="3666236"/>
            <a:ext cx="219456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pattern keys K</a:t>
            </a:r>
            <a:r>
              <a:rPr sz="1400" b="1" i="0" baseline="30000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endParaRPr sz="1400" b="1" i="0" baseline="30000">
              <a:solidFill>
                <a:srgbClr val="F2612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2" name="TextBox 471"/>
          <p:cNvSpPr txBox="1"/>
          <p:nvPr/>
        </p:nvSpPr>
        <p:spPr>
          <a:xfrm>
            <a:off x="8447405" y="3685032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>
                <a:solidFill>
                  <a:srgbClr val="F261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training targets</a:t>
            </a:r>
            <a:endParaRPr sz="1400" b="1">
              <a:solidFill>
                <a:srgbClr val="F2612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73" name="Connector 472"/>
          <p:cNvCxnSpPr/>
          <p:nvPr/>
        </p:nvCxnSpPr>
        <p:spPr>
          <a:xfrm>
            <a:off x="10332720" y="5327364"/>
            <a:ext cx="3200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7040880" y="3366770"/>
            <a:ext cx="1527810" cy="839470"/>
          </a:xfrm>
          <a:prstGeom prst="straightConnector1">
            <a:avLst/>
          </a:prstGeom>
          <a:ln w="12700">
            <a:solidFill>
              <a:srgbClr val="F26121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9696450" y="3384550"/>
            <a:ext cx="0" cy="821690"/>
          </a:xfrm>
          <a:prstGeom prst="straightConnector1">
            <a:avLst/>
          </a:prstGeom>
          <a:ln w="12700">
            <a:solidFill>
              <a:srgbClr val="F2612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WPS 演示</Application>
  <PresentationFormat>On-screen Show (4:3)</PresentationFormat>
  <Paragraphs>213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Times New Roman</vt:lpstr>
      <vt:lpstr>Segoe UI Symbol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田宇潇</cp:lastModifiedBy>
  <cp:revision>17</cp:revision>
  <dcterms:created xsi:type="dcterms:W3CDTF">2013-01-27T09:14:00Z</dcterms:created>
  <dcterms:modified xsi:type="dcterms:W3CDTF">2026-10-25T23:33:30Z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04768AD5CCA84EFDADE6C3231C00660E_13</vt:lpwstr>
  </property>
</Properties>
</file>