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476" r:id="rId3"/>
    <p:sldId id="477" r:id="rId4"/>
    <p:sldId id="431" r:id="rId5"/>
    <p:sldId id="463" r:id="rId6"/>
    <p:sldId id="469" r:id="rId7"/>
    <p:sldId id="470" r:id="rId8"/>
    <p:sldId id="465" r:id="rId9"/>
    <p:sldId id="433" r:id="rId10"/>
    <p:sldId id="424" r:id="rId11"/>
    <p:sldId id="435" r:id="rId12"/>
    <p:sldId id="439" r:id="rId13"/>
    <p:sldId id="434" r:id="rId14"/>
    <p:sldId id="426" r:id="rId15"/>
    <p:sldId id="437" r:id="rId16"/>
    <p:sldId id="438" r:id="rId18"/>
  </p:sldIdLst>
  <p:sldSz cx="12192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227A9F7-67A7-4936-831B-3F443564F0C6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34000"/>
                  <a:lumOff val="66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34000"/>
                  <a:lumOff val="66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>
        <a:fontRef idx="none">
          <a:schemeClr val="tx1"/>
        </a:fontRef>
      </a:tcTxStyle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band2V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>
                  <a:lumMod val="34000"/>
                  <a:lumOff val="66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>
                  <a:lumMod val="34000"/>
                  <a:lumOff val="66000"/>
                </a:schemeClr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34000"/>
                  <a:lumOff val="66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34000"/>
                  <a:lumOff val="66000"/>
                </a:schemeClr>
              </a:solidFill>
              <a:prstDash val="solid"/>
            </a:ln>
          </a:right>
          <a:top>
            <a:ln w="9525" cmpd="sng">
              <a:solidFill>
                <a:schemeClr val="accent1">
                  <a:lumMod val="34000"/>
                  <a:lumOff val="66000"/>
                </a:schemeClr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34000"/>
                  <a:lumOff val="66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firstCol>
    <a:lastRow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Style>
        <a:tcBdr>
          <a:left>
            <a:ln>
              <a:noFill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34000"/>
                  <a:lumOff val="66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alpha val="20000"/>
                  <a:lumMod val="35000"/>
                  <a:lumOff val="65000"/>
                </a:schemeClr>
              </a:solidFill>
              <a:prstDash val="solid"/>
            </a:ln>
          </a:insideV>
        </a:tcBdr>
        <a:fill>
          <a:solidFill>
            <a:schemeClr val="accent1">
              <a:alpha val="50000"/>
              <a:lumMod val="40000"/>
              <a:lumOff val="60000"/>
            </a:schemeClr>
          </a:solidFill>
        </a:fill>
      </a:tcStyle>
    </a:firstRow>
  </a:tblStyle>
  <a:tblStyle styleId="{759FEBA5-3E03-44AB-B62B-991D9CFF69BF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34000"/>
                  <a:lumOff val="66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34000"/>
                  <a:lumOff val="66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>
        <a:fontRef idx="none">
          <a:schemeClr val="tx1"/>
        </a:fontRef>
      </a:tcTxStyle>
      <a:tcStyle>
        <a:tcBdr/>
        <a:fill>
          <a:solidFill>
            <a:schemeClr val="accent1">
              <a:lumMod val="40000"/>
              <a:lumOff val="60000"/>
              <a:alpha val="25000"/>
            </a:schemeClr>
          </a:solidFill>
        </a:fill>
      </a:tcStyle>
    </a:band2H>
    <a:band1V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>
              <a:lumMod val="40000"/>
              <a:lumOff val="60000"/>
              <a:alpha val="25000"/>
            </a:schemeClr>
          </a:solidFill>
        </a:fill>
      </a:tcStyle>
    </a:band1V>
    <a:band2V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>
                  <a:lumMod val="34000"/>
                  <a:lumOff val="66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>
                  <a:lumMod val="34000"/>
                  <a:lumOff val="66000"/>
                </a:schemeClr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34000"/>
                  <a:lumOff val="66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34000"/>
                  <a:lumOff val="66000"/>
                </a:schemeClr>
              </a:solidFill>
              <a:prstDash val="solid"/>
            </a:ln>
          </a:right>
          <a:top>
            <a:ln w="9525" cmpd="sng">
              <a:solidFill>
                <a:schemeClr val="accent1">
                  <a:lumMod val="34000"/>
                  <a:lumOff val="66000"/>
                </a:schemeClr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34000"/>
                  <a:lumOff val="66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firstCol>
    <a:lastRow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Style>
        <a:tcBdr>
          <a:left>
            <a:ln>
              <a:noFill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34000"/>
                  <a:lumOff val="66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35000"/>
                  <a:lumOff val="65000"/>
                  <a:alpha val="20000"/>
                </a:schemeClr>
              </a:solidFill>
              <a:prstDash val="solid"/>
            </a:ln>
          </a:insideV>
        </a:tcBdr>
        <a:fill>
          <a:solidFill>
            <a:schemeClr val="accent1">
              <a:lumMod val="40000"/>
              <a:lumOff val="60000"/>
              <a:alpha val="50000"/>
            </a:schemeClr>
          </a:solidFill>
        </a:fill>
      </a:tcStyle>
    </a:firstRow>
  </a:tblStyle>
  <a:tblStyle styleId="{B40429B2-CAA9-4A98-86B0-2C2749250F02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34000"/>
                  <a:lumOff val="66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34000"/>
                  <a:lumOff val="66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>
        <a:fontRef idx="none">
          <a:schemeClr val="tx1"/>
        </a:fontRef>
      </a:tcTxStyle>
      <a:tcStyle>
        <a:tcBdr/>
        <a:fill>
          <a:solidFill>
            <a:schemeClr val="accent1">
              <a:lumMod val="40000"/>
              <a:lumOff val="60000"/>
              <a:alpha val="25000"/>
            </a:schemeClr>
          </a:solidFill>
        </a:fill>
      </a:tcStyle>
    </a:band2H>
    <a:band1V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>
              <a:lumMod val="40000"/>
              <a:lumOff val="60000"/>
              <a:alpha val="25000"/>
            </a:schemeClr>
          </a:solidFill>
        </a:fill>
      </a:tcStyle>
    </a:band1V>
    <a:band2V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>
                  <a:lumMod val="34000"/>
                  <a:lumOff val="66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>
                  <a:lumMod val="34000"/>
                  <a:lumOff val="66000"/>
                </a:schemeClr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34000"/>
                  <a:lumOff val="66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34000"/>
                  <a:lumOff val="66000"/>
                </a:schemeClr>
              </a:solidFill>
              <a:prstDash val="solid"/>
            </a:ln>
          </a:right>
          <a:top>
            <a:ln w="9525" cmpd="sng">
              <a:solidFill>
                <a:schemeClr val="accent1">
                  <a:lumMod val="34000"/>
                  <a:lumOff val="66000"/>
                </a:schemeClr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34000"/>
                  <a:lumOff val="66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firstCol>
    <a:lastRow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Style>
        <a:tcBdr>
          <a:left>
            <a:ln>
              <a:noFill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34000"/>
                  <a:lumOff val="66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35000"/>
                  <a:lumOff val="65000"/>
                  <a:alpha val="20000"/>
                </a:schemeClr>
              </a:solidFill>
              <a:prstDash val="solid"/>
            </a:ln>
          </a:insideV>
        </a:tcBdr>
        <a:fill>
          <a:solidFill>
            <a:schemeClr val="accent1">
              <a:lumMod val="40000"/>
              <a:lumOff val="60000"/>
              <a:alpha val="5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4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/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/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/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/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/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实际工厂缺乏高质量传感器数据或标签；</a:t>
            </a:r>
            <a:endParaRPr lang="en-US" altLang="zh-CN"/>
          </a:p>
          <a:p>
            <a:r>
              <a:rPr lang="zh-CN" altLang="en-US"/>
              <a:t>设备、人员、能源等多源信息难以统一建模；</a:t>
            </a:r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/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/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/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/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/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/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/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  <a:lvl6pPr marL="2286000" indent="0">
              <a:buNone/>
              <a:defRPr/>
            </a:lvl6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/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/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/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/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 b="1" i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/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lnSpc>
                <a:spcPct val="130000"/>
              </a:lnSpc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/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/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/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/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/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/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pitchFamily="2" charset="2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lnSpc>
                <a:spcPct val="120000"/>
              </a:lnSpc>
              <a:defRPr sz="1400"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/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/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/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/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/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/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/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/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/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/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/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/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/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/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/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/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/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/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/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/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 defTabSz="914400" eaLnBrk="1" fontAlgn="auto" latinLnBrk="0" hangingPunct="1"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eaLnBrk="1" fontAlgn="auto" latinLnBrk="0" hangingPunct="1">
              <a:buFont typeface="Arial" panose="020B0604020202020204" pitchFamily="34" charset="0"/>
              <a:buChar char="●"/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/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/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/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/>
          <p:nvPr>
            <p:ph type="title"/>
            <p:custDataLst>
              <p:tags r:id="rId7"/>
            </p:custDataLst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/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8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/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Wingdings" panose="05000000000000000000" pitchFamily="2" charset="2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/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/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/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/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/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/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/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>
            <a:lvl1pPr marL="228600" indent="-228600" eaLnBrk="1" fontAlgn="auto" latinLnBrk="0" hangingPunct="1">
              <a:lnSpc>
                <a:spcPct val="13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pitchFamily="2" charset="2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/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/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/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/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/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7" Type="http://schemas.openxmlformats.org/officeDocument/2006/relationships/theme" Target="../theme/theme1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/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/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/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/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/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pitchFamily="2" charset="2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3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2.png"/><Relationship Id="rId8" Type="http://schemas.openxmlformats.org/officeDocument/2006/relationships/image" Target="../media/image1.png"/><Relationship Id="rId7" Type="http://schemas.openxmlformats.org/officeDocument/2006/relationships/tags" Target="../tags/tag70.xml"/><Relationship Id="rId6" Type="http://schemas.openxmlformats.org/officeDocument/2006/relationships/tags" Target="../tags/tag69.xml"/><Relationship Id="rId5" Type="http://schemas.openxmlformats.org/officeDocument/2006/relationships/tags" Target="../tags/tag68.xml"/><Relationship Id="rId4" Type="http://schemas.openxmlformats.org/officeDocument/2006/relationships/tags" Target="../tags/tag67.xml"/><Relationship Id="rId3" Type="http://schemas.openxmlformats.org/officeDocument/2006/relationships/tags" Target="../tags/tag66.xml"/><Relationship Id="rId2" Type="http://schemas.openxmlformats.org/officeDocument/2006/relationships/tags" Target="../tags/tag65.xml"/><Relationship Id="rId11" Type="http://schemas.openxmlformats.org/officeDocument/2006/relationships/slideLayout" Target="../slideLayouts/slideLayout2.xml"/><Relationship Id="rId10" Type="http://schemas.openxmlformats.org/officeDocument/2006/relationships/tags" Target="../tags/tag71.xml"/><Relationship Id="rId1" Type="http://schemas.openxmlformats.org/officeDocument/2006/relationships/tags" Target="../tags/tag6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9.xml"/><Relationship Id="rId1" Type="http://schemas.openxmlformats.org/officeDocument/2006/relationships/tags" Target="../tags/tag7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83.xml"/><Relationship Id="rId1" Type="http://schemas.openxmlformats.org/officeDocument/2006/relationships/tags" Target="../tags/tag82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84.xml"/><Relationship Id="rId1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86.xml"/><Relationship Id="rId1" Type="http://schemas.openxmlformats.org/officeDocument/2006/relationships/tags" Target="../tags/tag8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0" y="0"/>
            <a:ext cx="299085" cy="97536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1892915" y="5882640"/>
            <a:ext cx="299085" cy="97536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1122045" y="975360"/>
            <a:ext cx="9872345" cy="5290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lnSpc>
                <a:spcPct val="130000"/>
              </a:lnSpc>
            </a:pPr>
            <a:r>
              <a:rPr lang="en-US" altLang="zh-CN" b="1">
                <a:solidFill>
                  <a:schemeClr val="accent1">
                    <a:lumMod val="50000"/>
                  </a:schemeClr>
                </a:solidFill>
                <a:sym typeface="+mn-ea"/>
              </a:rPr>
              <a:t>A bottleneck is any resource or process that restricts the overall system throughput at a given time.</a:t>
            </a:r>
            <a:endParaRPr lang="en-US" altLang="zh-CN" b="1">
              <a:solidFill>
                <a:schemeClr val="accent1">
                  <a:lumMod val="50000"/>
                </a:schemeClr>
              </a:solidFill>
              <a:sym typeface="+mn-ea"/>
            </a:endParaRPr>
          </a:p>
          <a:p>
            <a:pPr indent="0">
              <a:lnSpc>
                <a:spcPct val="130000"/>
              </a:lnSpc>
            </a:pPr>
            <a:r>
              <a:rPr lang="en-US" altLang="zh-CN" sz="1600">
                <a:sym typeface="+mn-ea"/>
              </a:rPr>
              <a:t>It typically manifests in the following ways:</a:t>
            </a:r>
            <a:endParaRPr lang="en-US" altLang="zh-CN" sz="1600">
              <a:sym typeface="+mn-ea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1600" b="1">
                <a:sym typeface="+mn-ea"/>
              </a:rPr>
              <a:t>Processing Rate:</a:t>
            </a:r>
            <a:r>
              <a:rPr lang="en-US" altLang="zh-CN" sz="1600">
                <a:sym typeface="+mn-ea"/>
              </a:rPr>
              <a:t> The processing rate is significantly lower than that of adjacent stations.</a:t>
            </a:r>
            <a:endParaRPr lang="en-US" altLang="zh-CN" sz="1600">
              <a:sym typeface="+mn-ea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1600" b="1">
                <a:sym typeface="+mn-ea"/>
              </a:rPr>
              <a:t>WIP Accumulation: </a:t>
            </a:r>
            <a:r>
              <a:rPr lang="en-US" altLang="zh-CN" sz="1600">
                <a:sym typeface="+mn-ea"/>
              </a:rPr>
              <a:t>Significant accumulation of work-in-progress (WIP) occurs upstream of the station.</a:t>
            </a:r>
            <a:endParaRPr lang="en-US" altLang="zh-CN" sz="1600">
              <a:sym typeface="+mn-ea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1600" b="1">
                <a:sym typeface="+mn-ea"/>
              </a:rPr>
              <a:t>Utilization: </a:t>
            </a:r>
            <a:r>
              <a:rPr lang="en-US" altLang="zh-CN" sz="1600">
                <a:sym typeface="+mn-ea"/>
              </a:rPr>
              <a:t>The station's utilization rate approaches or exceeds 90%.</a:t>
            </a:r>
            <a:endParaRPr lang="en-US" altLang="zh-CN" sz="1600">
              <a:sym typeface="+mn-ea"/>
            </a:endParaRPr>
          </a:p>
          <a:p>
            <a:pPr indent="0">
              <a:lnSpc>
                <a:spcPct val="130000"/>
              </a:lnSpc>
              <a:buFont typeface="Arial" panose="020B0604020202020204" pitchFamily="34" charset="0"/>
              <a:buNone/>
            </a:pPr>
            <a:endParaRPr lang="en-US" altLang="zh-CN" sz="1600">
              <a:sym typeface="+mn-ea"/>
            </a:endParaRPr>
          </a:p>
          <a:p>
            <a:pPr indent="0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en-US" altLang="zh-CN" sz="1600">
                <a:sym typeface="+mn-ea"/>
              </a:rPr>
              <a:t>The </a:t>
            </a:r>
            <a:r>
              <a:rPr lang="en-US" altLang="zh-CN" sz="1600" b="1">
                <a:sym typeface="+mn-ea"/>
              </a:rPr>
              <a:t>causes</a:t>
            </a:r>
            <a:r>
              <a:rPr lang="en-US" altLang="zh-CN" sz="1600">
                <a:sym typeface="+mn-ea"/>
              </a:rPr>
              <a:t> of bottlenecks can be categorized into three aspects:</a:t>
            </a:r>
            <a:endParaRPr lang="en-US" altLang="zh-CN" sz="1600">
              <a:sym typeface="+mn-ea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1600" b="1">
                <a:sym typeface="+mn-ea"/>
              </a:rPr>
              <a:t>Structural Factors:</a:t>
            </a:r>
            <a:r>
              <a:rPr lang="en-US" altLang="zh-CN" sz="1600">
                <a:sym typeface="+mn-ea"/>
              </a:rPr>
              <a:t> Imbalances in operator or equipment capacities, and mismatches between layout and buffer sizes.</a:t>
            </a:r>
            <a:endParaRPr lang="en-US" altLang="zh-CN" sz="1600">
              <a:sym typeface="+mn-ea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1600" b="1">
                <a:sym typeface="+mn-ea"/>
              </a:rPr>
              <a:t>Operational Dynamics:</a:t>
            </a:r>
            <a:r>
              <a:rPr lang="en-US" altLang="zh-CN" sz="1600">
                <a:sym typeface="+mn-ea"/>
              </a:rPr>
              <a:t> Variations in product mix, stochastic machine breakdowns, operator delays, or constraints in energy and material supply.</a:t>
            </a:r>
            <a:endParaRPr lang="en-US" altLang="zh-CN" sz="1600">
              <a:sym typeface="+mn-ea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1600" b="1">
                <a:sym typeface="+mn-ea"/>
              </a:rPr>
              <a:t>Management and Information Factors:</a:t>
            </a:r>
            <a:r>
              <a:rPr lang="en-US" altLang="zh-CN" sz="1600">
                <a:sym typeface="+mn-ea"/>
              </a:rPr>
              <a:t> Scheduling lags, delays in monitoring information, and a lack of timely human intervention.</a:t>
            </a:r>
            <a:endParaRPr lang="en-US" altLang="zh-CN" sz="1600">
              <a:sym typeface="+mn-ea"/>
            </a:endParaRPr>
          </a:p>
          <a:p>
            <a:pPr indent="0">
              <a:lnSpc>
                <a:spcPct val="130000"/>
              </a:lnSpc>
              <a:buFont typeface="Arial" panose="020B0604020202020204" pitchFamily="34" charset="0"/>
              <a:buNone/>
            </a:pPr>
            <a:endParaRPr lang="en-US" altLang="zh-CN" sz="1600">
              <a:sym typeface="+mn-ea"/>
            </a:endParaRPr>
          </a:p>
          <a:p>
            <a:pPr indent="0">
              <a:lnSpc>
                <a:spcPct val="130000"/>
              </a:lnSpc>
              <a:buFont typeface="Arial" panose="020B0604020202020204" pitchFamily="34" charset="0"/>
              <a:buNone/>
            </a:pPr>
            <a:endParaRPr lang="en-US" altLang="zh-CN" sz="1600"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408940" y="257810"/>
            <a:ext cx="1017460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zh-CN" sz="2400">
                <a:solidFill>
                  <a:schemeClr val="accent1">
                    <a:lumMod val="50000"/>
                  </a:schemeClr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Multimodal Dynamic Bottleneck Prediction in Digital Manufacturing</a:t>
            </a:r>
            <a:endParaRPr lang="en-US" altLang="zh-CN" sz="2400">
              <a:solidFill>
                <a:schemeClr val="accent1">
                  <a:lumMod val="50000"/>
                </a:schemeClr>
              </a:solidFill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0" y="0"/>
            <a:ext cx="299085" cy="97536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1892915" y="5882640"/>
            <a:ext cx="299085" cy="97536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1122045" y="975360"/>
            <a:ext cx="9872345" cy="23310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lnSpc>
                <a:spcPct val="130000"/>
              </a:lnSpc>
              <a:buAutoNum type="arabicPeriod"/>
            </a:pPr>
            <a:r>
              <a:rPr lang="en-US" altLang="zh-CN" sz="1600">
                <a:sym typeface="+mn-ea"/>
              </a:rPr>
              <a:t>In digital manufacturing, bottlenecks aren't static—they shift in real-time depending on the production state. That’s why I’m looking at Graph Neural Networks (GNNs) to model their spatio-temporal diffusion effects.</a:t>
            </a:r>
            <a:endParaRPr lang="en-US" altLang="zh-CN" sz="1600">
              <a:sym typeface="+mn-ea"/>
            </a:endParaRPr>
          </a:p>
          <a:p>
            <a:pPr marL="342900" indent="-342900">
              <a:lnSpc>
                <a:spcPct val="130000"/>
              </a:lnSpc>
              <a:buAutoNum type="arabicPeriod"/>
            </a:pPr>
            <a:endParaRPr lang="en-US" altLang="zh-CN" sz="1600">
              <a:sym typeface="+mn-ea"/>
            </a:endParaRPr>
          </a:p>
          <a:p>
            <a:pPr marL="342900" indent="-342900">
              <a:lnSpc>
                <a:spcPct val="130000"/>
              </a:lnSpc>
              <a:buAutoNum type="arabicPeriod"/>
            </a:pPr>
            <a:r>
              <a:rPr lang="en-US" altLang="zh-CN" sz="1600">
                <a:sym typeface="+mn-ea"/>
              </a:rPr>
              <a:t>Several papers I’ve reviewed highlight the lack of high-quality data and the scarcity of error-related datasets. Our multimodal simulation data from Isaac Sim can fill this gap, especially since we can manually configure the environment to generate specific anomaly data</a:t>
            </a:r>
            <a:endParaRPr lang="en-US" altLang="zh-CN" sz="1600"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408940" y="257810"/>
            <a:ext cx="1017460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zh-CN" sz="2400">
                <a:solidFill>
                  <a:schemeClr val="accent1">
                    <a:lumMod val="50000"/>
                  </a:schemeClr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Motivation</a:t>
            </a:r>
            <a:endParaRPr lang="en-US" altLang="zh-CN" sz="2400">
              <a:solidFill>
                <a:schemeClr val="accent1">
                  <a:lumMod val="50000"/>
                </a:schemeClr>
              </a:solidFill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0" y="0"/>
            <a:ext cx="299085" cy="97536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1892915" y="5882640"/>
            <a:ext cx="299085" cy="97536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圆角矩形 2"/>
          <p:cNvSpPr/>
          <p:nvPr>
            <p:custDataLst>
              <p:tags r:id="rId1"/>
            </p:custDataLst>
          </p:nvPr>
        </p:nvSpPr>
        <p:spPr>
          <a:xfrm>
            <a:off x="409575" y="1927225"/>
            <a:ext cx="3617595" cy="661670"/>
          </a:xfrm>
          <a:prstGeom prst="roundRect">
            <a:avLst/>
          </a:prstGeom>
          <a:noFill/>
          <a:ln w="28575" cmpd="sng">
            <a:solidFill>
              <a:schemeClr val="tx2">
                <a:lumMod val="75000"/>
                <a:lumOff val="25000"/>
              </a:schemeClr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accent4">
                    <a:lumMod val="20000"/>
                    <a:lumOff val="80000"/>
                  </a:schemeClr>
                </a:solidFill>
              </a14:hiddenFill>
            </a:ext>
          </a:extLst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lIns="107950" rIns="90170"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multimodal data fusion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7" name="圆角矩形 6"/>
          <p:cNvSpPr/>
          <p:nvPr>
            <p:custDataLst>
              <p:tags r:id="rId2"/>
            </p:custDataLst>
          </p:nvPr>
        </p:nvSpPr>
        <p:spPr>
          <a:xfrm>
            <a:off x="409575" y="3014345"/>
            <a:ext cx="3617595" cy="1254760"/>
          </a:xfrm>
          <a:prstGeom prst="roundRect">
            <a:avLst/>
          </a:prstGeom>
          <a:ln w="28575" cmpd="sng">
            <a:solidFill>
              <a:schemeClr val="tx2">
                <a:lumMod val="75000"/>
                <a:lumOff val="25000"/>
              </a:schemeClr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accent4">
                    <a:lumMod val="20000"/>
                    <a:lumOff val="80000"/>
                  </a:schemeClr>
                </a:solidFill>
              </a14:hiddenFill>
            </a:ext>
          </a:extLst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lIns="90170" rtlCol="0" anchor="ctr"/>
          <a:p>
            <a:pPr algn="l"/>
            <a:r>
              <a:rPr lang="en-US" altLang="zh-CN">
                <a:solidFill>
                  <a:schemeClr val="tx1"/>
                </a:solidFill>
              </a:rPr>
              <a:t>prediction model(e.g. GCN+</a:t>
            </a:r>
            <a:br>
              <a:rPr lang="en-US" altLang="zh-CN">
                <a:solidFill>
                  <a:schemeClr val="tx1"/>
                </a:solidFill>
              </a:rPr>
            </a:br>
            <a:r>
              <a:rPr lang="en-US" altLang="zh-CN">
                <a:solidFill>
                  <a:schemeClr val="tx1"/>
                </a:solidFill>
              </a:rPr>
              <a:t>GRU)</a:t>
            </a:r>
            <a:r>
              <a:rPr lang="en-US" altLang="zh-CN">
                <a:solidFill>
                  <a:schemeClr val="tx1"/>
                </a:solidFill>
              </a:rPr>
              <a:t> to predict when and where the bottleneck is and how long it will last 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9" name="圆角矩形 8"/>
          <p:cNvSpPr/>
          <p:nvPr>
            <p:custDataLst>
              <p:tags r:id="rId3"/>
            </p:custDataLst>
          </p:nvPr>
        </p:nvSpPr>
        <p:spPr>
          <a:xfrm>
            <a:off x="408940" y="835660"/>
            <a:ext cx="3618230" cy="661670"/>
          </a:xfrm>
          <a:prstGeom prst="roundRect">
            <a:avLst/>
          </a:prstGeom>
          <a:noFill/>
          <a:ln w="28575" cmpd="sng">
            <a:solidFill>
              <a:schemeClr val="tx2">
                <a:lumMod val="75000"/>
                <a:lumOff val="25000"/>
              </a:schemeClr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accent4">
                    <a:lumMod val="20000"/>
                    <a:lumOff val="80000"/>
                  </a:schemeClr>
                </a:solidFill>
              </a14:hiddenFill>
            </a:ext>
          </a:extLst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lIns="71755" rIns="90170" rtlCol="0" anchor="ctr"/>
          <a:p>
            <a:pPr algn="ctr"/>
            <a:r>
              <a:rPr lang="en-US" altLang="zh-CN" sz="1600">
                <a:solidFill>
                  <a:schemeClr val="tx1"/>
                </a:solidFill>
              </a:rPr>
              <a:t>Isaac Sim simulates high-quality text and image data </a:t>
            </a:r>
            <a:endParaRPr lang="en-US" altLang="zh-CN" sz="1600">
              <a:solidFill>
                <a:schemeClr val="tx1"/>
              </a:solidFill>
            </a:endParaRPr>
          </a:p>
        </p:txBody>
      </p:sp>
      <p:sp>
        <p:nvSpPr>
          <p:cNvPr id="10" name="下箭头 9"/>
          <p:cNvSpPr/>
          <p:nvPr>
            <p:custDataLst>
              <p:tags r:id="rId4"/>
            </p:custDataLst>
          </p:nvPr>
        </p:nvSpPr>
        <p:spPr>
          <a:xfrm>
            <a:off x="2106295" y="1492885"/>
            <a:ext cx="216535" cy="429895"/>
          </a:xfrm>
          <a:prstGeom prst="downArrow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下箭头 25"/>
          <p:cNvSpPr/>
          <p:nvPr>
            <p:custDataLst>
              <p:tags r:id="rId5"/>
            </p:custDataLst>
          </p:nvPr>
        </p:nvSpPr>
        <p:spPr>
          <a:xfrm>
            <a:off x="2106295" y="2584450"/>
            <a:ext cx="216535" cy="429895"/>
          </a:xfrm>
          <a:prstGeom prst="downArrow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b="1"/>
          </a:p>
        </p:txBody>
      </p:sp>
      <p:sp>
        <p:nvSpPr>
          <p:cNvPr id="6" name="文本框 5"/>
          <p:cNvSpPr txBox="1"/>
          <p:nvPr/>
        </p:nvSpPr>
        <p:spPr>
          <a:xfrm>
            <a:off x="408940" y="257810"/>
            <a:ext cx="1017460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zh-CN" sz="2400">
                <a:solidFill>
                  <a:schemeClr val="accent1">
                    <a:lumMod val="50000"/>
                  </a:schemeClr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Methodology</a:t>
            </a:r>
            <a:endParaRPr lang="en-US" altLang="zh-CN" sz="2400">
              <a:solidFill>
                <a:schemeClr val="accent1">
                  <a:lumMod val="50000"/>
                </a:schemeClr>
              </a:solidFill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sp>
        <p:nvSpPr>
          <p:cNvPr id="2" name="圆角矩形 1"/>
          <p:cNvSpPr/>
          <p:nvPr>
            <p:custDataLst>
              <p:tags r:id="rId6"/>
            </p:custDataLst>
          </p:nvPr>
        </p:nvSpPr>
        <p:spPr>
          <a:xfrm>
            <a:off x="409575" y="4699000"/>
            <a:ext cx="3617595" cy="1833880"/>
          </a:xfrm>
          <a:prstGeom prst="roundRect">
            <a:avLst/>
          </a:prstGeom>
          <a:ln w="28575" cmpd="sng">
            <a:solidFill>
              <a:schemeClr val="tx2">
                <a:lumMod val="75000"/>
                <a:lumOff val="25000"/>
              </a:schemeClr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accent4">
                    <a:lumMod val="20000"/>
                    <a:lumOff val="80000"/>
                  </a:schemeClr>
                </a:solidFill>
              </a14:hiddenFill>
            </a:ext>
          </a:extLst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lIns="90170" rtlCol="0" anchor="ctr"/>
          <a:p>
            <a:pPr algn="l"/>
            <a:r>
              <a:rPr lang="en-US" altLang="zh-CN">
                <a:solidFill>
                  <a:schemeClr val="tx1"/>
                </a:solidFill>
              </a:rPr>
              <a:t>result analysis: offers interpretability by visualizing the metrices(heat map: quantifying the interactive effects between stations)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8" name="下箭头 7"/>
          <p:cNvSpPr/>
          <p:nvPr>
            <p:custDataLst>
              <p:tags r:id="rId7"/>
            </p:custDataLst>
          </p:nvPr>
        </p:nvSpPr>
        <p:spPr>
          <a:xfrm>
            <a:off x="2106295" y="4269105"/>
            <a:ext cx="216535" cy="429895"/>
          </a:xfrm>
          <a:prstGeom prst="downArrow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b="1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91940" y="3684270"/>
            <a:ext cx="6271895" cy="317373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10145" y="0"/>
            <a:ext cx="4681855" cy="6858000"/>
          </a:xfrm>
          <a:prstGeom prst="rect">
            <a:avLst/>
          </a:prstGeom>
        </p:spPr>
      </p:pic>
    </p:spTree>
    <p:custDataLst>
      <p:tags r:id="rId10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0" y="0"/>
            <a:ext cx="299085" cy="97536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1892915" y="5882640"/>
            <a:ext cx="299085" cy="97536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401320" y="289560"/>
            <a:ext cx="989330" cy="395605"/>
          </a:xfrm>
          <a:prstGeom prst="rect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l"/>
            <a:r>
              <a:rPr lang="en-US" altLang="zh-CN"/>
              <a:t>   </a:t>
            </a:r>
            <a:r>
              <a:rPr lang="zh-CN" altLang="en-US" sz="1400">
                <a:solidFill>
                  <a:srgbClr val="0070C0"/>
                </a:solidFill>
              </a:rPr>
              <a:t>钢管</a:t>
            </a:r>
            <a:endParaRPr lang="zh-CN" altLang="en-US" sz="1400">
              <a:solidFill>
                <a:srgbClr val="0070C0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746885" y="289560"/>
            <a:ext cx="989330" cy="395605"/>
          </a:xfrm>
          <a:prstGeom prst="rect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l"/>
            <a:r>
              <a:rPr lang="en-US" altLang="zh-CN" sz="1400"/>
              <a:t> </a:t>
            </a:r>
            <a:r>
              <a:rPr lang="zh-CN" altLang="en-US" sz="1400"/>
              <a:t>切管下料</a:t>
            </a:r>
            <a:endParaRPr lang="zh-CN" altLang="en-US" sz="1400"/>
          </a:p>
        </p:txBody>
      </p:sp>
      <p:cxnSp>
        <p:nvCxnSpPr>
          <p:cNvPr id="11" name="直接箭头连接符 10"/>
          <p:cNvCxnSpPr>
            <a:stCxn id="6" idx="3"/>
            <a:endCxn id="10" idx="1"/>
          </p:cNvCxnSpPr>
          <p:nvPr/>
        </p:nvCxnSpPr>
        <p:spPr>
          <a:xfrm>
            <a:off x="1390650" y="487680"/>
            <a:ext cx="356235" cy="0"/>
          </a:xfrm>
          <a:prstGeom prst="straightConnector1">
            <a:avLst/>
          </a:prstGeom>
          <a:ln>
            <a:solidFill>
              <a:schemeClr val="tx2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2" name="矩形 11"/>
          <p:cNvSpPr/>
          <p:nvPr/>
        </p:nvSpPr>
        <p:spPr>
          <a:xfrm>
            <a:off x="3092450" y="289560"/>
            <a:ext cx="989330" cy="395605"/>
          </a:xfrm>
          <a:prstGeom prst="rect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l"/>
            <a:r>
              <a:rPr lang="zh-CN" sz="1400"/>
              <a:t>管口压槽</a:t>
            </a:r>
            <a:endParaRPr lang="zh-CN" sz="1400"/>
          </a:p>
        </p:txBody>
      </p:sp>
      <p:cxnSp>
        <p:nvCxnSpPr>
          <p:cNvPr id="13" name="直接箭头连接符 12"/>
          <p:cNvCxnSpPr>
            <a:endCxn id="12" idx="1"/>
          </p:cNvCxnSpPr>
          <p:nvPr/>
        </p:nvCxnSpPr>
        <p:spPr>
          <a:xfrm>
            <a:off x="2736215" y="487680"/>
            <a:ext cx="356235" cy="0"/>
          </a:xfrm>
          <a:prstGeom prst="straightConnector1">
            <a:avLst/>
          </a:prstGeom>
          <a:ln>
            <a:solidFill>
              <a:schemeClr val="tx2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4" name="矩形 13"/>
          <p:cNvSpPr/>
          <p:nvPr/>
        </p:nvSpPr>
        <p:spPr>
          <a:xfrm>
            <a:off x="4438015" y="289560"/>
            <a:ext cx="989330" cy="395605"/>
          </a:xfrm>
          <a:prstGeom prst="rect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l"/>
            <a:r>
              <a:rPr lang="zh-CN" sz="1400"/>
              <a:t>配料点焊</a:t>
            </a:r>
            <a:endParaRPr lang="zh-CN" sz="1400"/>
          </a:p>
        </p:txBody>
      </p:sp>
      <p:cxnSp>
        <p:nvCxnSpPr>
          <p:cNvPr id="15" name="直接箭头连接符 14"/>
          <p:cNvCxnSpPr>
            <a:endCxn id="14" idx="1"/>
          </p:cNvCxnSpPr>
          <p:nvPr/>
        </p:nvCxnSpPr>
        <p:spPr>
          <a:xfrm>
            <a:off x="4081780" y="487680"/>
            <a:ext cx="356235" cy="0"/>
          </a:xfrm>
          <a:prstGeom prst="straightConnector1">
            <a:avLst/>
          </a:prstGeom>
          <a:ln>
            <a:solidFill>
              <a:schemeClr val="tx2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>
          <a:xfrm>
            <a:off x="5783580" y="289560"/>
            <a:ext cx="989330" cy="395605"/>
          </a:xfrm>
          <a:prstGeom prst="rect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l"/>
            <a:r>
              <a:rPr lang="zh-CN" sz="1200"/>
              <a:t>氩弧焊底焊</a:t>
            </a:r>
            <a:endParaRPr lang="zh-CN" sz="1200"/>
          </a:p>
        </p:txBody>
      </p:sp>
      <p:cxnSp>
        <p:nvCxnSpPr>
          <p:cNvPr id="17" name="直接箭头连接符 16"/>
          <p:cNvCxnSpPr>
            <a:endCxn id="16" idx="1"/>
          </p:cNvCxnSpPr>
          <p:nvPr/>
        </p:nvCxnSpPr>
        <p:spPr>
          <a:xfrm>
            <a:off x="5427345" y="487680"/>
            <a:ext cx="356235" cy="0"/>
          </a:xfrm>
          <a:prstGeom prst="straightConnector1">
            <a:avLst/>
          </a:prstGeom>
          <a:ln>
            <a:solidFill>
              <a:schemeClr val="tx2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8" name="矩形 17"/>
          <p:cNvSpPr/>
          <p:nvPr/>
        </p:nvSpPr>
        <p:spPr>
          <a:xfrm>
            <a:off x="7129145" y="289560"/>
            <a:ext cx="989330" cy="395605"/>
          </a:xfrm>
          <a:prstGeom prst="rect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l"/>
            <a:r>
              <a:rPr lang="en-US" sz="1200"/>
              <a:t>MIG</a:t>
            </a:r>
            <a:r>
              <a:rPr lang="zh-CN" altLang="en-US" sz="1200"/>
              <a:t>焊面焊</a:t>
            </a:r>
            <a:endParaRPr lang="zh-CN" altLang="en-US" sz="1200"/>
          </a:p>
        </p:txBody>
      </p:sp>
      <p:cxnSp>
        <p:nvCxnSpPr>
          <p:cNvPr id="19" name="直接箭头连接符 18"/>
          <p:cNvCxnSpPr>
            <a:endCxn id="18" idx="1"/>
          </p:cNvCxnSpPr>
          <p:nvPr/>
        </p:nvCxnSpPr>
        <p:spPr>
          <a:xfrm>
            <a:off x="6772910" y="487680"/>
            <a:ext cx="356235" cy="0"/>
          </a:xfrm>
          <a:prstGeom prst="straightConnector1">
            <a:avLst/>
          </a:prstGeom>
          <a:ln>
            <a:solidFill>
              <a:schemeClr val="tx2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0" name="圆角矩形 19"/>
          <p:cNvSpPr/>
          <p:nvPr/>
        </p:nvSpPr>
        <p:spPr>
          <a:xfrm>
            <a:off x="1612265" y="742950"/>
            <a:ext cx="1233170" cy="525780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solidFill>
                  <a:schemeClr val="tx2"/>
                </a:solidFill>
              </a:rPr>
              <a:t>相贯线切割机</a:t>
            </a:r>
            <a:endParaRPr lang="zh-CN" altLang="en-US" sz="1200">
              <a:solidFill>
                <a:schemeClr val="tx2"/>
              </a:solidFill>
            </a:endParaRPr>
          </a:p>
        </p:txBody>
      </p:sp>
      <p:sp>
        <p:nvSpPr>
          <p:cNvPr id="21" name="圆角矩形 20"/>
          <p:cNvSpPr/>
          <p:nvPr/>
        </p:nvSpPr>
        <p:spPr>
          <a:xfrm>
            <a:off x="3093085" y="742950"/>
            <a:ext cx="988695" cy="525780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solidFill>
                  <a:schemeClr val="tx2"/>
                </a:solidFill>
              </a:rPr>
              <a:t>压槽机</a:t>
            </a:r>
            <a:endParaRPr lang="zh-CN" altLang="en-US" sz="1200">
              <a:solidFill>
                <a:schemeClr val="tx2"/>
              </a:solidFill>
            </a:endParaRPr>
          </a:p>
        </p:txBody>
      </p:sp>
      <p:sp>
        <p:nvSpPr>
          <p:cNvPr id="22" name="圆角矩形 21"/>
          <p:cNvSpPr/>
          <p:nvPr/>
        </p:nvSpPr>
        <p:spPr>
          <a:xfrm>
            <a:off x="4438650" y="742950"/>
            <a:ext cx="988695" cy="525780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solidFill>
                  <a:schemeClr val="tx2"/>
                </a:solidFill>
              </a:rPr>
              <a:t>手工工作台</a:t>
            </a:r>
            <a:endParaRPr lang="zh-CN" altLang="en-US" sz="1200">
              <a:solidFill>
                <a:schemeClr val="tx2"/>
              </a:solidFill>
            </a:endParaRPr>
          </a:p>
        </p:txBody>
      </p:sp>
      <p:sp>
        <p:nvSpPr>
          <p:cNvPr id="23" name="圆角矩形 22"/>
          <p:cNvSpPr/>
          <p:nvPr/>
        </p:nvSpPr>
        <p:spPr>
          <a:xfrm>
            <a:off x="5784215" y="742950"/>
            <a:ext cx="988695" cy="525780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solidFill>
                  <a:schemeClr val="tx2"/>
                </a:solidFill>
              </a:rPr>
              <a:t>焊接机器人</a:t>
            </a:r>
            <a:endParaRPr lang="zh-CN" altLang="en-US" sz="1200">
              <a:solidFill>
                <a:schemeClr val="tx2"/>
              </a:solidFill>
            </a:endParaRPr>
          </a:p>
        </p:txBody>
      </p:sp>
      <p:sp>
        <p:nvSpPr>
          <p:cNvPr id="24" name="圆角矩形 23"/>
          <p:cNvSpPr/>
          <p:nvPr/>
        </p:nvSpPr>
        <p:spPr>
          <a:xfrm>
            <a:off x="7129780" y="742950"/>
            <a:ext cx="988695" cy="525780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solidFill>
                  <a:schemeClr val="tx2"/>
                </a:solidFill>
              </a:rPr>
              <a:t>旋转管道自动焊机</a:t>
            </a:r>
            <a:endParaRPr lang="zh-CN" altLang="en-US" sz="1200">
              <a:solidFill>
                <a:schemeClr val="tx2"/>
              </a:solidFill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8474710" y="289560"/>
            <a:ext cx="989330" cy="395605"/>
          </a:xfrm>
          <a:prstGeom prst="rect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l"/>
            <a:r>
              <a:rPr lang="zh-CN" sz="1200"/>
              <a:t>涂漆防锈</a:t>
            </a:r>
            <a:endParaRPr lang="zh-CN" sz="1200"/>
          </a:p>
        </p:txBody>
      </p:sp>
      <p:cxnSp>
        <p:nvCxnSpPr>
          <p:cNvPr id="28" name="直接箭头连接符 27"/>
          <p:cNvCxnSpPr>
            <a:endCxn id="27" idx="1"/>
          </p:cNvCxnSpPr>
          <p:nvPr/>
        </p:nvCxnSpPr>
        <p:spPr>
          <a:xfrm>
            <a:off x="8118475" y="487680"/>
            <a:ext cx="356235" cy="0"/>
          </a:xfrm>
          <a:prstGeom prst="straightConnector1">
            <a:avLst/>
          </a:prstGeom>
          <a:ln>
            <a:solidFill>
              <a:schemeClr val="tx2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9" name="圆角矩形 28"/>
          <p:cNvSpPr/>
          <p:nvPr/>
        </p:nvSpPr>
        <p:spPr>
          <a:xfrm>
            <a:off x="8475345" y="742950"/>
            <a:ext cx="988695" cy="525780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solidFill>
                  <a:schemeClr val="tx2"/>
                </a:solidFill>
              </a:rPr>
              <a:t>手工工作台</a:t>
            </a:r>
            <a:endParaRPr lang="zh-CN" altLang="en-US" sz="1200">
              <a:solidFill>
                <a:schemeClr val="tx2"/>
              </a:solidFill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9820275" y="289560"/>
            <a:ext cx="989330" cy="39560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l"/>
            <a:r>
              <a:rPr lang="zh-CN" sz="1200"/>
              <a:t>成品堆放区</a:t>
            </a:r>
            <a:endParaRPr lang="zh-CN" sz="1200"/>
          </a:p>
        </p:txBody>
      </p:sp>
      <p:cxnSp>
        <p:nvCxnSpPr>
          <p:cNvPr id="31" name="直接箭头连接符 30"/>
          <p:cNvCxnSpPr>
            <a:endCxn id="30" idx="1"/>
          </p:cNvCxnSpPr>
          <p:nvPr/>
        </p:nvCxnSpPr>
        <p:spPr>
          <a:xfrm>
            <a:off x="9464040" y="487680"/>
            <a:ext cx="356235" cy="0"/>
          </a:xfrm>
          <a:prstGeom prst="straightConnector1">
            <a:avLst/>
          </a:prstGeom>
          <a:ln>
            <a:solidFill>
              <a:schemeClr val="tx2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5" name="文本框 34"/>
          <p:cNvSpPr txBox="1"/>
          <p:nvPr/>
        </p:nvSpPr>
        <p:spPr>
          <a:xfrm>
            <a:off x="638175" y="2256155"/>
            <a:ext cx="10281920" cy="39693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水喉工艺路线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注：</a:t>
            </a:r>
            <a:endParaRPr lang="zh-CN" altLang="en-US"/>
          </a:p>
          <a:p>
            <a:r>
              <a:rPr lang="zh-CN" altLang="en-US"/>
              <a:t>蓝色透明框为原材料</a:t>
            </a:r>
            <a:endParaRPr lang="zh-CN" altLang="en-US"/>
          </a:p>
          <a:p>
            <a:r>
              <a:rPr lang="zh-CN" altLang="en-US"/>
              <a:t>蓝框为新加入的半成品堆放区、成品堆放区</a:t>
            </a:r>
            <a:endParaRPr lang="zh-CN" altLang="en-US"/>
          </a:p>
          <a:p>
            <a:r>
              <a:rPr lang="zh-CN" altLang="en-US"/>
              <a:t>绿框为机器缺失（其他流水线完成）</a:t>
            </a:r>
            <a:endParaRPr lang="zh-CN" altLang="en-US"/>
          </a:p>
          <a:p>
            <a:r>
              <a:rPr lang="zh-CN" altLang="en-US"/>
              <a:t>黄框为现在</a:t>
            </a:r>
            <a:r>
              <a:rPr lang="en-US" altLang="zh-CN"/>
              <a:t>Isaac Sim</a:t>
            </a:r>
            <a:r>
              <a:rPr lang="zh-CN" altLang="en-US"/>
              <a:t>有的机器模型</a:t>
            </a:r>
            <a:endParaRPr lang="zh-CN" altLang="en-US"/>
          </a:p>
          <a:p>
            <a:r>
              <a:rPr lang="zh-CN" altLang="en-US"/>
              <a:t>后续两张图不再标注手工工作台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0308</a:t>
            </a:r>
            <a:r>
              <a:rPr lang="zh-CN" altLang="en-US"/>
              <a:t>问题记录</a:t>
            </a:r>
            <a:endParaRPr lang="en-US" altLang="zh-CN"/>
          </a:p>
          <a:p>
            <a:r>
              <a:rPr lang="en-US" altLang="zh-CN"/>
              <a:t>1. </a:t>
            </a:r>
            <a:r>
              <a:rPr lang="zh-CN" altLang="en-US"/>
              <a:t>部分机器模型缺失（比较重要的是注胶机），高压发泡机模型不全</a:t>
            </a:r>
            <a:endParaRPr lang="zh-CN" altLang="en-US"/>
          </a:p>
          <a:p>
            <a:r>
              <a:rPr lang="en-US" altLang="zh-CN"/>
              <a:t>2. </a:t>
            </a:r>
            <a:r>
              <a:rPr lang="zh-CN" altLang="en-US"/>
              <a:t>原材料模型后续导入（镀锌钢卷、槽钢、法兰等等）</a:t>
            </a:r>
            <a:endParaRPr lang="zh-CN" altLang="en-US"/>
          </a:p>
          <a:p>
            <a:r>
              <a:rPr lang="en-US" altLang="zh-CN"/>
              <a:t>3. </a:t>
            </a:r>
            <a:r>
              <a:rPr lang="zh-CN" altLang="en-US"/>
              <a:t>目前我画的工艺路线图根据海创调研资料结合现有</a:t>
            </a:r>
            <a:r>
              <a:rPr lang="en-US" altLang="zh-CN"/>
              <a:t>Isaac Sim</a:t>
            </a:r>
            <a:r>
              <a:rPr lang="zh-CN" altLang="en-US"/>
              <a:t>模型画出，有些较为复杂的工艺步骤还存在疑问（</a:t>
            </a:r>
            <a:r>
              <a:rPr lang="en-US" altLang="zh-CN"/>
              <a:t>PIP</a:t>
            </a:r>
            <a:r>
              <a:rPr lang="zh-CN" altLang="en-US"/>
              <a:t>模组和</a:t>
            </a:r>
            <a:r>
              <a:rPr lang="en-US" altLang="zh-CN"/>
              <a:t>PIP riser</a:t>
            </a:r>
            <a:r>
              <a:rPr lang="zh-CN" altLang="en-US"/>
              <a:t>模组），后续需和海创进一步确认</a:t>
            </a:r>
            <a:endParaRPr lang="zh-CN" altLang="en-US"/>
          </a:p>
        </p:txBody>
      </p:sp>
      <p:sp>
        <p:nvSpPr>
          <p:cNvPr id="36" name="矩形 35"/>
          <p:cNvSpPr/>
          <p:nvPr/>
        </p:nvSpPr>
        <p:spPr>
          <a:xfrm>
            <a:off x="3894455" y="1609725"/>
            <a:ext cx="2077720" cy="692785"/>
          </a:xfrm>
          <a:prstGeom prst="rect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l"/>
            <a:r>
              <a:rPr lang="zh-CN" altLang="en-US" sz="1400">
                <a:solidFill>
                  <a:srgbClr val="0070C0"/>
                </a:solidFill>
              </a:rPr>
              <a:t>法兰、弯头</a:t>
            </a:r>
            <a:endParaRPr lang="zh-CN" altLang="en-US" sz="1400">
              <a:solidFill>
                <a:srgbClr val="0070C0"/>
              </a:solidFill>
            </a:endParaRPr>
          </a:p>
        </p:txBody>
      </p:sp>
      <p:cxnSp>
        <p:nvCxnSpPr>
          <p:cNvPr id="37" name="直接箭头连接符 36"/>
          <p:cNvCxnSpPr>
            <a:stCxn id="36" idx="0"/>
            <a:endCxn id="22" idx="2"/>
          </p:cNvCxnSpPr>
          <p:nvPr/>
        </p:nvCxnSpPr>
        <p:spPr>
          <a:xfrm flipV="1">
            <a:off x="4933315" y="1268730"/>
            <a:ext cx="0" cy="340995"/>
          </a:xfrm>
          <a:prstGeom prst="straightConnector1">
            <a:avLst/>
          </a:prstGeom>
          <a:ln>
            <a:solidFill>
              <a:schemeClr val="tx2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0" y="0"/>
            <a:ext cx="299085" cy="97536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1892915" y="5882640"/>
            <a:ext cx="299085" cy="97536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401320" y="289560"/>
            <a:ext cx="989330" cy="395605"/>
          </a:xfrm>
          <a:prstGeom prst="rect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l"/>
            <a:r>
              <a:rPr lang="en-US" altLang="zh-CN"/>
              <a:t>   </a:t>
            </a:r>
            <a:r>
              <a:rPr lang="zh-CN" altLang="en-US" sz="1400">
                <a:solidFill>
                  <a:srgbClr val="0070C0"/>
                </a:solidFill>
              </a:rPr>
              <a:t>钢管</a:t>
            </a:r>
            <a:endParaRPr lang="zh-CN" altLang="en-US" sz="1400">
              <a:solidFill>
                <a:srgbClr val="0070C0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746885" y="289560"/>
            <a:ext cx="989330" cy="395605"/>
          </a:xfrm>
          <a:prstGeom prst="rect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l"/>
            <a:r>
              <a:rPr lang="en-US" altLang="zh-CN" sz="1400"/>
              <a:t> </a:t>
            </a:r>
            <a:r>
              <a:rPr lang="zh-CN" altLang="en-US" sz="1400"/>
              <a:t>切管下料</a:t>
            </a:r>
            <a:endParaRPr lang="zh-CN" altLang="en-US" sz="1400"/>
          </a:p>
        </p:txBody>
      </p:sp>
      <p:cxnSp>
        <p:nvCxnSpPr>
          <p:cNvPr id="11" name="直接箭头连接符 10"/>
          <p:cNvCxnSpPr>
            <a:stCxn id="6" idx="3"/>
            <a:endCxn id="10" idx="1"/>
          </p:cNvCxnSpPr>
          <p:nvPr/>
        </p:nvCxnSpPr>
        <p:spPr>
          <a:xfrm>
            <a:off x="1390650" y="487680"/>
            <a:ext cx="356235" cy="0"/>
          </a:xfrm>
          <a:prstGeom prst="straightConnector1">
            <a:avLst/>
          </a:prstGeom>
          <a:ln>
            <a:solidFill>
              <a:schemeClr val="tx2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2" name="矩形 11"/>
          <p:cNvSpPr/>
          <p:nvPr/>
        </p:nvSpPr>
        <p:spPr>
          <a:xfrm>
            <a:off x="3092450" y="289560"/>
            <a:ext cx="989330" cy="395605"/>
          </a:xfrm>
          <a:prstGeom prst="rect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l"/>
            <a:r>
              <a:rPr lang="zh-CN" sz="1400"/>
              <a:t>管口压槽</a:t>
            </a:r>
            <a:endParaRPr lang="zh-CN" sz="1400"/>
          </a:p>
        </p:txBody>
      </p:sp>
      <p:cxnSp>
        <p:nvCxnSpPr>
          <p:cNvPr id="13" name="直接箭头连接符 12"/>
          <p:cNvCxnSpPr>
            <a:endCxn id="12" idx="1"/>
          </p:cNvCxnSpPr>
          <p:nvPr/>
        </p:nvCxnSpPr>
        <p:spPr>
          <a:xfrm>
            <a:off x="2736215" y="487680"/>
            <a:ext cx="356235" cy="0"/>
          </a:xfrm>
          <a:prstGeom prst="straightConnector1">
            <a:avLst/>
          </a:prstGeom>
          <a:ln>
            <a:solidFill>
              <a:schemeClr val="tx2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4" name="矩形 13"/>
          <p:cNvSpPr/>
          <p:nvPr/>
        </p:nvSpPr>
        <p:spPr>
          <a:xfrm>
            <a:off x="4438015" y="289560"/>
            <a:ext cx="989330" cy="395605"/>
          </a:xfrm>
          <a:prstGeom prst="rect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l"/>
            <a:r>
              <a:rPr lang="zh-CN" sz="1400"/>
              <a:t>配料点焊</a:t>
            </a:r>
            <a:endParaRPr lang="zh-CN" sz="1400"/>
          </a:p>
        </p:txBody>
      </p:sp>
      <p:cxnSp>
        <p:nvCxnSpPr>
          <p:cNvPr id="15" name="直接箭头连接符 14"/>
          <p:cNvCxnSpPr>
            <a:endCxn id="14" idx="1"/>
          </p:cNvCxnSpPr>
          <p:nvPr/>
        </p:nvCxnSpPr>
        <p:spPr>
          <a:xfrm>
            <a:off x="4081780" y="487680"/>
            <a:ext cx="356235" cy="0"/>
          </a:xfrm>
          <a:prstGeom prst="straightConnector1">
            <a:avLst/>
          </a:prstGeom>
          <a:ln>
            <a:solidFill>
              <a:schemeClr val="tx2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>
          <a:xfrm>
            <a:off x="5783580" y="289560"/>
            <a:ext cx="989330" cy="395605"/>
          </a:xfrm>
          <a:prstGeom prst="rect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l"/>
            <a:r>
              <a:rPr lang="zh-CN" sz="1200"/>
              <a:t>氩弧焊底焊</a:t>
            </a:r>
            <a:endParaRPr lang="zh-CN" sz="1200"/>
          </a:p>
        </p:txBody>
      </p:sp>
      <p:cxnSp>
        <p:nvCxnSpPr>
          <p:cNvPr id="17" name="直接箭头连接符 16"/>
          <p:cNvCxnSpPr>
            <a:endCxn id="16" idx="1"/>
          </p:cNvCxnSpPr>
          <p:nvPr/>
        </p:nvCxnSpPr>
        <p:spPr>
          <a:xfrm>
            <a:off x="5427345" y="487680"/>
            <a:ext cx="356235" cy="0"/>
          </a:xfrm>
          <a:prstGeom prst="straightConnector1">
            <a:avLst/>
          </a:prstGeom>
          <a:ln>
            <a:solidFill>
              <a:schemeClr val="tx2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8" name="矩形 17"/>
          <p:cNvSpPr/>
          <p:nvPr/>
        </p:nvSpPr>
        <p:spPr>
          <a:xfrm>
            <a:off x="7129145" y="289560"/>
            <a:ext cx="989330" cy="395605"/>
          </a:xfrm>
          <a:prstGeom prst="rect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l"/>
            <a:r>
              <a:rPr lang="en-US" sz="1200"/>
              <a:t>MIG</a:t>
            </a:r>
            <a:r>
              <a:rPr lang="zh-CN" altLang="en-US" sz="1200"/>
              <a:t>焊面焊</a:t>
            </a:r>
            <a:endParaRPr lang="zh-CN" altLang="en-US" sz="1200"/>
          </a:p>
        </p:txBody>
      </p:sp>
      <p:cxnSp>
        <p:nvCxnSpPr>
          <p:cNvPr id="19" name="直接箭头连接符 18"/>
          <p:cNvCxnSpPr>
            <a:endCxn id="18" idx="1"/>
          </p:cNvCxnSpPr>
          <p:nvPr/>
        </p:nvCxnSpPr>
        <p:spPr>
          <a:xfrm>
            <a:off x="6772910" y="487680"/>
            <a:ext cx="356235" cy="0"/>
          </a:xfrm>
          <a:prstGeom prst="straightConnector1">
            <a:avLst/>
          </a:prstGeom>
          <a:ln>
            <a:solidFill>
              <a:schemeClr val="tx2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0" name="圆角矩形 19"/>
          <p:cNvSpPr/>
          <p:nvPr/>
        </p:nvSpPr>
        <p:spPr>
          <a:xfrm>
            <a:off x="1612265" y="742950"/>
            <a:ext cx="1233170" cy="525780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solidFill>
                  <a:schemeClr val="tx2"/>
                </a:solidFill>
              </a:rPr>
              <a:t>相贯线切割机</a:t>
            </a:r>
            <a:endParaRPr lang="zh-CN" altLang="en-US" sz="1200">
              <a:solidFill>
                <a:schemeClr val="tx2"/>
              </a:solidFill>
            </a:endParaRPr>
          </a:p>
        </p:txBody>
      </p:sp>
      <p:sp>
        <p:nvSpPr>
          <p:cNvPr id="21" name="圆角矩形 20"/>
          <p:cNvSpPr/>
          <p:nvPr/>
        </p:nvSpPr>
        <p:spPr>
          <a:xfrm>
            <a:off x="3093085" y="742950"/>
            <a:ext cx="988695" cy="525780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solidFill>
                  <a:schemeClr val="tx2"/>
                </a:solidFill>
              </a:rPr>
              <a:t>压槽机</a:t>
            </a:r>
            <a:endParaRPr lang="zh-CN" altLang="en-US" sz="1200">
              <a:solidFill>
                <a:schemeClr val="tx2"/>
              </a:solidFill>
            </a:endParaRPr>
          </a:p>
        </p:txBody>
      </p:sp>
      <p:sp>
        <p:nvSpPr>
          <p:cNvPr id="23" name="圆角矩形 22"/>
          <p:cNvSpPr/>
          <p:nvPr/>
        </p:nvSpPr>
        <p:spPr>
          <a:xfrm>
            <a:off x="5784215" y="742950"/>
            <a:ext cx="988695" cy="525780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solidFill>
                  <a:schemeClr val="tx2"/>
                </a:solidFill>
              </a:rPr>
              <a:t>焊接机器人</a:t>
            </a:r>
            <a:endParaRPr lang="zh-CN" altLang="en-US" sz="1200">
              <a:solidFill>
                <a:schemeClr val="tx2"/>
              </a:solidFill>
            </a:endParaRPr>
          </a:p>
        </p:txBody>
      </p:sp>
      <p:sp>
        <p:nvSpPr>
          <p:cNvPr id="24" name="圆角矩形 23"/>
          <p:cNvSpPr/>
          <p:nvPr/>
        </p:nvSpPr>
        <p:spPr>
          <a:xfrm>
            <a:off x="7129780" y="742950"/>
            <a:ext cx="988695" cy="525780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solidFill>
                  <a:schemeClr val="tx2"/>
                </a:solidFill>
              </a:rPr>
              <a:t>旋转管道自动焊机</a:t>
            </a:r>
            <a:endParaRPr lang="zh-CN" altLang="en-US" sz="1200">
              <a:solidFill>
                <a:schemeClr val="tx2"/>
              </a:solidFill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8474710" y="289560"/>
            <a:ext cx="989330" cy="395605"/>
          </a:xfrm>
          <a:prstGeom prst="rect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l"/>
            <a:r>
              <a:rPr lang="zh-CN" sz="1200"/>
              <a:t>涂漆防锈</a:t>
            </a:r>
            <a:endParaRPr lang="zh-CN" sz="1200"/>
          </a:p>
        </p:txBody>
      </p:sp>
      <p:cxnSp>
        <p:nvCxnSpPr>
          <p:cNvPr id="28" name="直接箭头连接符 27"/>
          <p:cNvCxnSpPr>
            <a:endCxn id="27" idx="1"/>
          </p:cNvCxnSpPr>
          <p:nvPr/>
        </p:nvCxnSpPr>
        <p:spPr>
          <a:xfrm>
            <a:off x="8118475" y="487680"/>
            <a:ext cx="356235" cy="0"/>
          </a:xfrm>
          <a:prstGeom prst="straightConnector1">
            <a:avLst/>
          </a:prstGeom>
          <a:ln>
            <a:solidFill>
              <a:schemeClr val="tx2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5" name="文本框 34"/>
          <p:cNvSpPr txBox="1"/>
          <p:nvPr/>
        </p:nvSpPr>
        <p:spPr>
          <a:xfrm>
            <a:off x="196850" y="565150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直通</a:t>
            </a:r>
            <a:r>
              <a:rPr lang="en-US" altLang="zh-CN"/>
              <a:t>PIP</a:t>
            </a:r>
            <a:r>
              <a:rPr lang="zh-CN" altLang="en-US"/>
              <a:t>工艺路线</a:t>
            </a:r>
            <a:endParaRPr lang="zh-CN" altLang="en-US"/>
          </a:p>
        </p:txBody>
      </p:sp>
      <p:sp>
        <p:nvSpPr>
          <p:cNvPr id="36" name="矩形 35"/>
          <p:cNvSpPr/>
          <p:nvPr/>
        </p:nvSpPr>
        <p:spPr>
          <a:xfrm>
            <a:off x="3760470" y="1326515"/>
            <a:ext cx="2345690" cy="389890"/>
          </a:xfrm>
          <a:prstGeom prst="rect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l"/>
            <a:r>
              <a:rPr lang="zh-CN" altLang="en-US" sz="1400">
                <a:solidFill>
                  <a:srgbClr val="0070C0"/>
                </a:solidFill>
              </a:rPr>
              <a:t>法兰、弯头、三叉、防火环</a:t>
            </a:r>
            <a:endParaRPr lang="zh-CN" altLang="en-US" sz="1400">
              <a:solidFill>
                <a:srgbClr val="0070C0"/>
              </a:solidFill>
            </a:endParaRPr>
          </a:p>
        </p:txBody>
      </p:sp>
      <p:cxnSp>
        <p:nvCxnSpPr>
          <p:cNvPr id="37" name="直接箭头连接符 36"/>
          <p:cNvCxnSpPr>
            <a:stCxn id="36" idx="0"/>
            <a:endCxn id="14" idx="2"/>
          </p:cNvCxnSpPr>
          <p:nvPr/>
        </p:nvCxnSpPr>
        <p:spPr>
          <a:xfrm flipH="1" flipV="1">
            <a:off x="4932680" y="685165"/>
            <a:ext cx="635" cy="641350"/>
          </a:xfrm>
          <a:prstGeom prst="straightConnector1">
            <a:avLst/>
          </a:prstGeom>
          <a:ln>
            <a:solidFill>
              <a:schemeClr val="tx2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" name="矩形 1"/>
          <p:cNvSpPr/>
          <p:nvPr/>
        </p:nvSpPr>
        <p:spPr>
          <a:xfrm>
            <a:off x="9820275" y="1742440"/>
            <a:ext cx="845185" cy="395605"/>
          </a:xfrm>
          <a:prstGeom prst="rect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l"/>
            <a:r>
              <a:rPr lang="zh-CN" sz="1200"/>
              <a:t>注胶发泡</a:t>
            </a:r>
            <a:endParaRPr lang="zh-CN" sz="1200"/>
          </a:p>
        </p:txBody>
      </p:sp>
      <p:cxnSp>
        <p:nvCxnSpPr>
          <p:cNvPr id="3" name="直接箭头连接符 2"/>
          <p:cNvCxnSpPr>
            <a:endCxn id="7" idx="1"/>
          </p:cNvCxnSpPr>
          <p:nvPr/>
        </p:nvCxnSpPr>
        <p:spPr>
          <a:xfrm>
            <a:off x="10665460" y="1940560"/>
            <a:ext cx="356870" cy="0"/>
          </a:xfrm>
          <a:prstGeom prst="straightConnector1">
            <a:avLst/>
          </a:prstGeom>
          <a:ln>
            <a:solidFill>
              <a:schemeClr val="tx2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8" name="矩形 37"/>
          <p:cNvSpPr/>
          <p:nvPr/>
        </p:nvSpPr>
        <p:spPr>
          <a:xfrm>
            <a:off x="9748520" y="1031875"/>
            <a:ext cx="989330" cy="395605"/>
          </a:xfrm>
          <a:prstGeom prst="rect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l"/>
            <a:r>
              <a:rPr lang="en-US" altLang="zh-CN"/>
              <a:t> </a:t>
            </a:r>
            <a:r>
              <a:rPr lang="zh-CN" altLang="en-US" sz="1400">
                <a:solidFill>
                  <a:srgbClr val="0070C0"/>
                </a:solidFill>
              </a:rPr>
              <a:t>黑白料</a:t>
            </a:r>
            <a:endParaRPr lang="zh-CN" altLang="en-US" sz="1400">
              <a:solidFill>
                <a:srgbClr val="0070C0"/>
              </a:solidFill>
            </a:endParaRPr>
          </a:p>
        </p:txBody>
      </p:sp>
      <p:sp>
        <p:nvSpPr>
          <p:cNvPr id="42" name="圆角矩形 41"/>
          <p:cNvSpPr/>
          <p:nvPr/>
        </p:nvSpPr>
        <p:spPr>
          <a:xfrm>
            <a:off x="9748520" y="2195830"/>
            <a:ext cx="988695" cy="525780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solidFill>
                  <a:schemeClr val="tx2"/>
                </a:solidFill>
              </a:rPr>
              <a:t>高压发泡机</a:t>
            </a:r>
            <a:endParaRPr lang="zh-CN" altLang="en-US" sz="1200">
              <a:solidFill>
                <a:schemeClr val="tx2"/>
              </a:solidFill>
            </a:endParaRPr>
          </a:p>
        </p:txBody>
      </p:sp>
      <p:cxnSp>
        <p:nvCxnSpPr>
          <p:cNvPr id="53" name="直接箭头连接符 52"/>
          <p:cNvCxnSpPr>
            <a:stCxn id="27" idx="2"/>
            <a:endCxn id="54" idx="0"/>
          </p:cNvCxnSpPr>
          <p:nvPr/>
        </p:nvCxnSpPr>
        <p:spPr>
          <a:xfrm>
            <a:off x="8969375" y="685165"/>
            <a:ext cx="0" cy="1089025"/>
          </a:xfrm>
          <a:prstGeom prst="straightConnector1">
            <a:avLst/>
          </a:prstGeom>
          <a:ln>
            <a:solidFill>
              <a:schemeClr val="tx2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4" name="矩形 53"/>
          <p:cNvSpPr/>
          <p:nvPr/>
        </p:nvSpPr>
        <p:spPr>
          <a:xfrm>
            <a:off x="8474710" y="1774190"/>
            <a:ext cx="989330" cy="39560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l"/>
            <a:r>
              <a:rPr lang="zh-CN" sz="1200"/>
              <a:t>半成品堆放区</a:t>
            </a:r>
            <a:endParaRPr lang="zh-CN" sz="1200"/>
          </a:p>
        </p:txBody>
      </p:sp>
      <p:cxnSp>
        <p:nvCxnSpPr>
          <p:cNvPr id="59" name="直接箭头连接符 58"/>
          <p:cNvCxnSpPr>
            <a:stCxn id="54" idx="3"/>
          </p:cNvCxnSpPr>
          <p:nvPr/>
        </p:nvCxnSpPr>
        <p:spPr>
          <a:xfrm flipV="1">
            <a:off x="9464040" y="1914525"/>
            <a:ext cx="356235" cy="57785"/>
          </a:xfrm>
          <a:prstGeom prst="straightConnector1">
            <a:avLst/>
          </a:prstGeom>
          <a:ln>
            <a:solidFill>
              <a:schemeClr val="tx2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4" name="直接箭头连接符 63"/>
          <p:cNvCxnSpPr>
            <a:stCxn id="38" idx="2"/>
            <a:endCxn id="2" idx="0"/>
          </p:cNvCxnSpPr>
          <p:nvPr/>
        </p:nvCxnSpPr>
        <p:spPr>
          <a:xfrm>
            <a:off x="10243185" y="1427480"/>
            <a:ext cx="0" cy="314960"/>
          </a:xfrm>
          <a:prstGeom prst="straightConnector1">
            <a:avLst/>
          </a:prstGeom>
          <a:ln>
            <a:solidFill>
              <a:schemeClr val="tx2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11022330" y="1742440"/>
            <a:ext cx="989330" cy="39560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l"/>
            <a:r>
              <a:rPr lang="zh-CN" sz="1200"/>
              <a:t>成品堆放区</a:t>
            </a:r>
            <a:endParaRPr lang="zh-CN" sz="1200"/>
          </a:p>
        </p:txBody>
      </p:sp>
      <p:sp>
        <p:nvSpPr>
          <p:cNvPr id="43" name="矩形 42"/>
          <p:cNvSpPr/>
          <p:nvPr/>
        </p:nvSpPr>
        <p:spPr>
          <a:xfrm>
            <a:off x="401320" y="1774190"/>
            <a:ext cx="989330" cy="395605"/>
          </a:xfrm>
          <a:prstGeom prst="rect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l"/>
            <a:r>
              <a:rPr lang="zh-CN" sz="1400">
                <a:solidFill>
                  <a:srgbClr val="0070C0"/>
                </a:solidFill>
              </a:rPr>
              <a:t>镀锌钢卷</a:t>
            </a:r>
            <a:endParaRPr lang="zh-CN" sz="1400">
              <a:solidFill>
                <a:srgbClr val="0070C0"/>
              </a:solidFill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2466975" y="1774190"/>
            <a:ext cx="1306830" cy="39560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l"/>
            <a:r>
              <a:rPr lang="zh-CN" sz="1400"/>
              <a:t>直通虾壳成型</a:t>
            </a:r>
            <a:endParaRPr lang="zh-CN" sz="1400"/>
          </a:p>
        </p:txBody>
      </p:sp>
      <p:cxnSp>
        <p:nvCxnSpPr>
          <p:cNvPr id="48" name="曲线连接符 47"/>
          <p:cNvCxnSpPr>
            <a:stCxn id="43" idx="3"/>
            <a:endCxn id="44" idx="1"/>
          </p:cNvCxnSpPr>
          <p:nvPr/>
        </p:nvCxnSpPr>
        <p:spPr>
          <a:xfrm>
            <a:off x="1390650" y="1972310"/>
            <a:ext cx="1076325" cy="3175"/>
          </a:xfrm>
          <a:prstGeom prst="curvedConnector2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9" name="矩形 48"/>
          <p:cNvSpPr/>
          <p:nvPr/>
        </p:nvSpPr>
        <p:spPr>
          <a:xfrm>
            <a:off x="4451350" y="1774190"/>
            <a:ext cx="989330" cy="395605"/>
          </a:xfrm>
          <a:prstGeom prst="rect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l"/>
            <a:r>
              <a:rPr lang="zh-CN" sz="1200"/>
              <a:t>涂漆防锈</a:t>
            </a:r>
            <a:endParaRPr lang="zh-CN" sz="1200"/>
          </a:p>
        </p:txBody>
      </p:sp>
      <p:cxnSp>
        <p:nvCxnSpPr>
          <p:cNvPr id="51" name="直接箭头连接符 50"/>
          <p:cNvCxnSpPr>
            <a:stCxn id="44" idx="3"/>
            <a:endCxn id="49" idx="1"/>
          </p:cNvCxnSpPr>
          <p:nvPr/>
        </p:nvCxnSpPr>
        <p:spPr>
          <a:xfrm>
            <a:off x="3773805" y="1972310"/>
            <a:ext cx="677545" cy="0"/>
          </a:xfrm>
          <a:prstGeom prst="straightConnector1">
            <a:avLst/>
          </a:prstGeom>
          <a:ln>
            <a:solidFill>
              <a:schemeClr val="tx2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2" name="直接箭头连接符 51"/>
          <p:cNvCxnSpPr>
            <a:stCxn id="49" idx="3"/>
            <a:endCxn id="54" idx="1"/>
          </p:cNvCxnSpPr>
          <p:nvPr/>
        </p:nvCxnSpPr>
        <p:spPr>
          <a:xfrm>
            <a:off x="5440680" y="1972310"/>
            <a:ext cx="3034030" cy="0"/>
          </a:xfrm>
          <a:prstGeom prst="straightConnector1">
            <a:avLst/>
          </a:prstGeom>
          <a:ln>
            <a:solidFill>
              <a:schemeClr val="tx2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0" y="0"/>
            <a:ext cx="299085" cy="97536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1892915" y="5882640"/>
            <a:ext cx="299085" cy="97536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401320" y="289560"/>
            <a:ext cx="989330" cy="395605"/>
          </a:xfrm>
          <a:prstGeom prst="rect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l"/>
            <a:r>
              <a:rPr lang="en-US" altLang="zh-CN"/>
              <a:t>   </a:t>
            </a:r>
            <a:r>
              <a:rPr lang="zh-CN" altLang="en-US" sz="1400">
                <a:solidFill>
                  <a:srgbClr val="0070C0"/>
                </a:solidFill>
              </a:rPr>
              <a:t>钢管</a:t>
            </a:r>
            <a:endParaRPr lang="zh-CN" altLang="en-US" sz="1400">
              <a:solidFill>
                <a:srgbClr val="0070C0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746885" y="289560"/>
            <a:ext cx="989330" cy="395605"/>
          </a:xfrm>
          <a:prstGeom prst="rect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l"/>
            <a:r>
              <a:rPr lang="en-US" altLang="zh-CN" sz="1400"/>
              <a:t> </a:t>
            </a:r>
            <a:r>
              <a:rPr lang="zh-CN" altLang="en-US" sz="1400"/>
              <a:t>切管下料</a:t>
            </a:r>
            <a:endParaRPr lang="zh-CN" altLang="en-US" sz="1400"/>
          </a:p>
        </p:txBody>
      </p:sp>
      <p:cxnSp>
        <p:nvCxnSpPr>
          <p:cNvPr id="11" name="直接箭头连接符 10"/>
          <p:cNvCxnSpPr>
            <a:stCxn id="6" idx="3"/>
            <a:endCxn id="10" idx="1"/>
          </p:cNvCxnSpPr>
          <p:nvPr/>
        </p:nvCxnSpPr>
        <p:spPr>
          <a:xfrm>
            <a:off x="1390650" y="487680"/>
            <a:ext cx="356235" cy="0"/>
          </a:xfrm>
          <a:prstGeom prst="straightConnector1">
            <a:avLst/>
          </a:prstGeom>
          <a:ln>
            <a:solidFill>
              <a:schemeClr val="tx2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2" name="矩形 11"/>
          <p:cNvSpPr/>
          <p:nvPr/>
        </p:nvSpPr>
        <p:spPr>
          <a:xfrm>
            <a:off x="3092450" y="289560"/>
            <a:ext cx="989330" cy="395605"/>
          </a:xfrm>
          <a:prstGeom prst="rect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l"/>
            <a:r>
              <a:rPr lang="zh-CN" sz="1400"/>
              <a:t>管口压槽</a:t>
            </a:r>
            <a:endParaRPr lang="zh-CN" sz="1400"/>
          </a:p>
        </p:txBody>
      </p:sp>
      <p:cxnSp>
        <p:nvCxnSpPr>
          <p:cNvPr id="13" name="直接箭头连接符 12"/>
          <p:cNvCxnSpPr>
            <a:endCxn id="12" idx="1"/>
          </p:cNvCxnSpPr>
          <p:nvPr/>
        </p:nvCxnSpPr>
        <p:spPr>
          <a:xfrm>
            <a:off x="2736215" y="487680"/>
            <a:ext cx="356235" cy="0"/>
          </a:xfrm>
          <a:prstGeom prst="straightConnector1">
            <a:avLst/>
          </a:prstGeom>
          <a:ln>
            <a:solidFill>
              <a:schemeClr val="tx2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4" name="矩形 13"/>
          <p:cNvSpPr/>
          <p:nvPr/>
        </p:nvSpPr>
        <p:spPr>
          <a:xfrm>
            <a:off x="4438015" y="289560"/>
            <a:ext cx="989330" cy="395605"/>
          </a:xfrm>
          <a:prstGeom prst="rect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l"/>
            <a:r>
              <a:rPr lang="zh-CN" sz="1400"/>
              <a:t>配料点焊</a:t>
            </a:r>
            <a:endParaRPr lang="zh-CN" sz="1400"/>
          </a:p>
        </p:txBody>
      </p:sp>
      <p:cxnSp>
        <p:nvCxnSpPr>
          <p:cNvPr id="15" name="直接箭头连接符 14"/>
          <p:cNvCxnSpPr>
            <a:endCxn id="14" idx="1"/>
          </p:cNvCxnSpPr>
          <p:nvPr/>
        </p:nvCxnSpPr>
        <p:spPr>
          <a:xfrm>
            <a:off x="4081780" y="487680"/>
            <a:ext cx="356235" cy="0"/>
          </a:xfrm>
          <a:prstGeom prst="straightConnector1">
            <a:avLst/>
          </a:prstGeom>
          <a:ln>
            <a:solidFill>
              <a:schemeClr val="tx2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>
          <a:xfrm>
            <a:off x="5783580" y="289560"/>
            <a:ext cx="989330" cy="395605"/>
          </a:xfrm>
          <a:prstGeom prst="rect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l"/>
            <a:r>
              <a:rPr lang="zh-CN" sz="1200"/>
              <a:t>氩弧焊底焊</a:t>
            </a:r>
            <a:endParaRPr lang="zh-CN" sz="1200"/>
          </a:p>
        </p:txBody>
      </p:sp>
      <p:cxnSp>
        <p:nvCxnSpPr>
          <p:cNvPr id="17" name="直接箭头连接符 16"/>
          <p:cNvCxnSpPr>
            <a:endCxn id="16" idx="1"/>
          </p:cNvCxnSpPr>
          <p:nvPr/>
        </p:nvCxnSpPr>
        <p:spPr>
          <a:xfrm>
            <a:off x="5427345" y="487680"/>
            <a:ext cx="356235" cy="0"/>
          </a:xfrm>
          <a:prstGeom prst="straightConnector1">
            <a:avLst/>
          </a:prstGeom>
          <a:ln>
            <a:solidFill>
              <a:schemeClr val="tx2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8" name="矩形 17"/>
          <p:cNvSpPr/>
          <p:nvPr/>
        </p:nvSpPr>
        <p:spPr>
          <a:xfrm>
            <a:off x="7129145" y="289560"/>
            <a:ext cx="989330" cy="395605"/>
          </a:xfrm>
          <a:prstGeom prst="rect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l"/>
            <a:r>
              <a:rPr lang="en-US" sz="1200"/>
              <a:t>MIG</a:t>
            </a:r>
            <a:r>
              <a:rPr lang="zh-CN" altLang="en-US" sz="1200"/>
              <a:t>焊面焊</a:t>
            </a:r>
            <a:endParaRPr lang="zh-CN" altLang="en-US" sz="1200"/>
          </a:p>
        </p:txBody>
      </p:sp>
      <p:cxnSp>
        <p:nvCxnSpPr>
          <p:cNvPr id="19" name="直接箭头连接符 18"/>
          <p:cNvCxnSpPr>
            <a:endCxn id="18" idx="1"/>
          </p:cNvCxnSpPr>
          <p:nvPr/>
        </p:nvCxnSpPr>
        <p:spPr>
          <a:xfrm>
            <a:off x="6772910" y="487680"/>
            <a:ext cx="356235" cy="0"/>
          </a:xfrm>
          <a:prstGeom prst="straightConnector1">
            <a:avLst/>
          </a:prstGeom>
          <a:ln>
            <a:solidFill>
              <a:schemeClr val="tx2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0" name="圆角矩形 19"/>
          <p:cNvSpPr/>
          <p:nvPr/>
        </p:nvSpPr>
        <p:spPr>
          <a:xfrm>
            <a:off x="1612265" y="742950"/>
            <a:ext cx="1233170" cy="525780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solidFill>
                  <a:schemeClr val="tx2"/>
                </a:solidFill>
              </a:rPr>
              <a:t>相贯线切割机</a:t>
            </a:r>
            <a:endParaRPr lang="zh-CN" altLang="en-US" sz="1200">
              <a:solidFill>
                <a:schemeClr val="tx2"/>
              </a:solidFill>
            </a:endParaRPr>
          </a:p>
        </p:txBody>
      </p:sp>
      <p:sp>
        <p:nvSpPr>
          <p:cNvPr id="21" name="圆角矩形 20"/>
          <p:cNvSpPr/>
          <p:nvPr/>
        </p:nvSpPr>
        <p:spPr>
          <a:xfrm>
            <a:off x="3093085" y="742950"/>
            <a:ext cx="988695" cy="525780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solidFill>
                  <a:schemeClr val="tx2"/>
                </a:solidFill>
              </a:rPr>
              <a:t>压槽机</a:t>
            </a:r>
            <a:endParaRPr lang="zh-CN" altLang="en-US" sz="1200">
              <a:solidFill>
                <a:schemeClr val="tx2"/>
              </a:solidFill>
            </a:endParaRPr>
          </a:p>
        </p:txBody>
      </p:sp>
      <p:sp>
        <p:nvSpPr>
          <p:cNvPr id="23" name="圆角矩形 22"/>
          <p:cNvSpPr/>
          <p:nvPr/>
        </p:nvSpPr>
        <p:spPr>
          <a:xfrm>
            <a:off x="5784215" y="742950"/>
            <a:ext cx="988695" cy="525780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solidFill>
                  <a:schemeClr val="tx2"/>
                </a:solidFill>
              </a:rPr>
              <a:t>焊接机器人</a:t>
            </a:r>
            <a:endParaRPr lang="zh-CN" altLang="en-US" sz="1200">
              <a:solidFill>
                <a:schemeClr val="tx2"/>
              </a:solidFill>
            </a:endParaRPr>
          </a:p>
        </p:txBody>
      </p:sp>
      <p:sp>
        <p:nvSpPr>
          <p:cNvPr id="24" name="圆角矩形 23"/>
          <p:cNvSpPr/>
          <p:nvPr/>
        </p:nvSpPr>
        <p:spPr>
          <a:xfrm>
            <a:off x="7129780" y="742950"/>
            <a:ext cx="988695" cy="525780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solidFill>
                  <a:schemeClr val="tx2"/>
                </a:solidFill>
              </a:rPr>
              <a:t>旋转管道自动焊机</a:t>
            </a:r>
            <a:endParaRPr lang="zh-CN" altLang="en-US" sz="1200">
              <a:solidFill>
                <a:schemeClr val="tx2"/>
              </a:solidFill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8474710" y="289560"/>
            <a:ext cx="989330" cy="395605"/>
          </a:xfrm>
          <a:prstGeom prst="rect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l"/>
            <a:r>
              <a:rPr lang="zh-CN" sz="1200"/>
              <a:t>涂漆防锈</a:t>
            </a:r>
            <a:endParaRPr lang="zh-CN" sz="1200"/>
          </a:p>
        </p:txBody>
      </p:sp>
      <p:cxnSp>
        <p:nvCxnSpPr>
          <p:cNvPr id="28" name="直接箭头连接符 27"/>
          <p:cNvCxnSpPr>
            <a:endCxn id="27" idx="1"/>
          </p:cNvCxnSpPr>
          <p:nvPr/>
        </p:nvCxnSpPr>
        <p:spPr>
          <a:xfrm>
            <a:off x="8118475" y="487680"/>
            <a:ext cx="356235" cy="0"/>
          </a:xfrm>
          <a:prstGeom prst="straightConnector1">
            <a:avLst/>
          </a:prstGeom>
          <a:ln>
            <a:solidFill>
              <a:schemeClr val="tx2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5" name="文本框 34"/>
          <p:cNvSpPr txBox="1"/>
          <p:nvPr/>
        </p:nvSpPr>
        <p:spPr>
          <a:xfrm>
            <a:off x="196850" y="565150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三通</a:t>
            </a:r>
            <a:r>
              <a:rPr lang="en-US" altLang="zh-CN"/>
              <a:t>PIP</a:t>
            </a:r>
            <a:r>
              <a:rPr lang="zh-CN" altLang="en-US"/>
              <a:t>工艺路线</a:t>
            </a:r>
            <a:endParaRPr lang="zh-CN" altLang="en-US"/>
          </a:p>
        </p:txBody>
      </p:sp>
      <p:sp>
        <p:nvSpPr>
          <p:cNvPr id="36" name="矩形 35"/>
          <p:cNvSpPr/>
          <p:nvPr/>
        </p:nvSpPr>
        <p:spPr>
          <a:xfrm>
            <a:off x="3760470" y="1326515"/>
            <a:ext cx="2345690" cy="389890"/>
          </a:xfrm>
          <a:prstGeom prst="rect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l"/>
            <a:r>
              <a:rPr lang="zh-CN" altLang="en-US" sz="1400">
                <a:solidFill>
                  <a:srgbClr val="0070C0"/>
                </a:solidFill>
              </a:rPr>
              <a:t>法兰、弯头、三叉、防火环</a:t>
            </a:r>
            <a:endParaRPr lang="zh-CN" altLang="en-US" sz="1400">
              <a:solidFill>
                <a:srgbClr val="0070C0"/>
              </a:solidFill>
            </a:endParaRPr>
          </a:p>
        </p:txBody>
      </p:sp>
      <p:cxnSp>
        <p:nvCxnSpPr>
          <p:cNvPr id="37" name="直接箭头连接符 36"/>
          <p:cNvCxnSpPr>
            <a:stCxn id="36" idx="0"/>
            <a:endCxn id="14" idx="2"/>
          </p:cNvCxnSpPr>
          <p:nvPr/>
        </p:nvCxnSpPr>
        <p:spPr>
          <a:xfrm flipH="1" flipV="1">
            <a:off x="4932680" y="685165"/>
            <a:ext cx="635" cy="641350"/>
          </a:xfrm>
          <a:prstGeom prst="straightConnector1">
            <a:avLst/>
          </a:prstGeom>
          <a:ln>
            <a:solidFill>
              <a:schemeClr val="tx2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" name="矩形 1"/>
          <p:cNvSpPr/>
          <p:nvPr/>
        </p:nvSpPr>
        <p:spPr>
          <a:xfrm>
            <a:off x="9820275" y="1602740"/>
            <a:ext cx="845185" cy="395605"/>
          </a:xfrm>
          <a:prstGeom prst="rect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l"/>
            <a:r>
              <a:rPr lang="zh-CN" sz="1200"/>
              <a:t>注胶发泡</a:t>
            </a:r>
            <a:endParaRPr lang="zh-CN" sz="1200"/>
          </a:p>
        </p:txBody>
      </p:sp>
      <p:cxnSp>
        <p:nvCxnSpPr>
          <p:cNvPr id="3" name="直接箭头连接符 2"/>
          <p:cNvCxnSpPr>
            <a:endCxn id="7" idx="1"/>
          </p:cNvCxnSpPr>
          <p:nvPr/>
        </p:nvCxnSpPr>
        <p:spPr>
          <a:xfrm>
            <a:off x="10665460" y="1800860"/>
            <a:ext cx="356870" cy="0"/>
          </a:xfrm>
          <a:prstGeom prst="straightConnector1">
            <a:avLst/>
          </a:prstGeom>
          <a:ln>
            <a:solidFill>
              <a:schemeClr val="tx2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8" name="矩形 37"/>
          <p:cNvSpPr/>
          <p:nvPr/>
        </p:nvSpPr>
        <p:spPr>
          <a:xfrm>
            <a:off x="9748520" y="892175"/>
            <a:ext cx="989330" cy="395605"/>
          </a:xfrm>
          <a:prstGeom prst="rect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l"/>
            <a:r>
              <a:rPr lang="en-US" altLang="zh-CN"/>
              <a:t> </a:t>
            </a:r>
            <a:r>
              <a:rPr lang="zh-CN" altLang="en-US" sz="1400">
                <a:solidFill>
                  <a:srgbClr val="0070C0"/>
                </a:solidFill>
              </a:rPr>
              <a:t>黑白料</a:t>
            </a:r>
            <a:endParaRPr lang="zh-CN" altLang="en-US" sz="1400">
              <a:solidFill>
                <a:srgbClr val="0070C0"/>
              </a:solidFill>
            </a:endParaRPr>
          </a:p>
        </p:txBody>
      </p:sp>
      <p:sp>
        <p:nvSpPr>
          <p:cNvPr id="42" name="圆角矩形 41"/>
          <p:cNvSpPr/>
          <p:nvPr/>
        </p:nvSpPr>
        <p:spPr>
          <a:xfrm>
            <a:off x="9748520" y="2056130"/>
            <a:ext cx="988695" cy="525780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solidFill>
                  <a:schemeClr val="tx2"/>
                </a:solidFill>
              </a:rPr>
              <a:t>高压发泡机</a:t>
            </a:r>
            <a:endParaRPr lang="zh-CN" altLang="en-US" sz="1200">
              <a:solidFill>
                <a:schemeClr val="tx2"/>
              </a:solidFill>
            </a:endParaRPr>
          </a:p>
        </p:txBody>
      </p:sp>
      <p:cxnSp>
        <p:nvCxnSpPr>
          <p:cNvPr id="53" name="直接箭头连接符 52"/>
          <p:cNvCxnSpPr>
            <a:stCxn id="27" idx="2"/>
            <a:endCxn id="54" idx="0"/>
          </p:cNvCxnSpPr>
          <p:nvPr/>
        </p:nvCxnSpPr>
        <p:spPr>
          <a:xfrm>
            <a:off x="8969375" y="685165"/>
            <a:ext cx="0" cy="917575"/>
          </a:xfrm>
          <a:prstGeom prst="straightConnector1">
            <a:avLst/>
          </a:prstGeom>
          <a:ln>
            <a:solidFill>
              <a:schemeClr val="tx2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4" name="矩形 53"/>
          <p:cNvSpPr/>
          <p:nvPr/>
        </p:nvSpPr>
        <p:spPr>
          <a:xfrm>
            <a:off x="8474710" y="1602740"/>
            <a:ext cx="989330" cy="39560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l"/>
            <a:r>
              <a:rPr lang="zh-CN" sz="1200"/>
              <a:t>半成品堆放区</a:t>
            </a:r>
            <a:endParaRPr lang="zh-CN" sz="1200"/>
          </a:p>
        </p:txBody>
      </p:sp>
      <p:cxnSp>
        <p:nvCxnSpPr>
          <p:cNvPr id="59" name="直接箭头连接符 58"/>
          <p:cNvCxnSpPr>
            <a:stCxn id="54" idx="3"/>
            <a:endCxn id="2" idx="1"/>
          </p:cNvCxnSpPr>
          <p:nvPr/>
        </p:nvCxnSpPr>
        <p:spPr>
          <a:xfrm>
            <a:off x="9464040" y="1800860"/>
            <a:ext cx="356235" cy="0"/>
          </a:xfrm>
          <a:prstGeom prst="straightConnector1">
            <a:avLst/>
          </a:prstGeom>
          <a:ln>
            <a:solidFill>
              <a:schemeClr val="tx2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4" name="直接箭头连接符 63"/>
          <p:cNvCxnSpPr>
            <a:stCxn id="38" idx="2"/>
            <a:endCxn id="2" idx="0"/>
          </p:cNvCxnSpPr>
          <p:nvPr/>
        </p:nvCxnSpPr>
        <p:spPr>
          <a:xfrm>
            <a:off x="10243185" y="1287780"/>
            <a:ext cx="0" cy="314960"/>
          </a:xfrm>
          <a:prstGeom prst="straightConnector1">
            <a:avLst/>
          </a:prstGeom>
          <a:ln>
            <a:solidFill>
              <a:schemeClr val="tx2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11022330" y="1602740"/>
            <a:ext cx="989330" cy="39560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l"/>
            <a:r>
              <a:rPr lang="zh-CN" sz="1200"/>
              <a:t>成品堆放区</a:t>
            </a:r>
            <a:endParaRPr lang="zh-CN" sz="1200"/>
          </a:p>
        </p:txBody>
      </p:sp>
      <p:sp>
        <p:nvSpPr>
          <p:cNvPr id="43" name="矩形 42"/>
          <p:cNvSpPr/>
          <p:nvPr/>
        </p:nvSpPr>
        <p:spPr>
          <a:xfrm>
            <a:off x="401320" y="2112010"/>
            <a:ext cx="989330" cy="395605"/>
          </a:xfrm>
          <a:prstGeom prst="rect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l"/>
            <a:r>
              <a:rPr lang="zh-CN" sz="1400">
                <a:solidFill>
                  <a:srgbClr val="0070C0"/>
                </a:solidFill>
              </a:rPr>
              <a:t>镀锌钢卷</a:t>
            </a:r>
            <a:endParaRPr lang="zh-CN" sz="1400">
              <a:solidFill>
                <a:srgbClr val="0070C0"/>
              </a:solidFill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2454275" y="2112010"/>
            <a:ext cx="1300480" cy="395605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3">
                    <a:lumMod val="60000"/>
                    <a:lumOff val="40000"/>
                  </a:schemeClr>
                </a:solidFill>
              </a14:hiddenFill>
            </a:ext>
          </a:extLst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l"/>
            <a:r>
              <a:rPr lang="zh-CN" sz="1400"/>
              <a:t>异形虾壳下料</a:t>
            </a:r>
            <a:endParaRPr lang="zh-CN" sz="1400"/>
          </a:p>
        </p:txBody>
      </p:sp>
      <p:cxnSp>
        <p:nvCxnSpPr>
          <p:cNvPr id="50" name="曲线连接符 49"/>
          <p:cNvCxnSpPr>
            <a:stCxn id="43" idx="3"/>
            <a:endCxn id="47" idx="1"/>
          </p:cNvCxnSpPr>
          <p:nvPr/>
        </p:nvCxnSpPr>
        <p:spPr>
          <a:xfrm>
            <a:off x="1390650" y="2310130"/>
            <a:ext cx="1063625" cy="3175"/>
          </a:xfrm>
          <a:prstGeom prst="curvedConnector2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" name="曲线连接符 8"/>
          <p:cNvCxnSpPr>
            <a:stCxn id="43" idx="3"/>
            <a:endCxn id="40" idx="1"/>
          </p:cNvCxnSpPr>
          <p:nvPr/>
        </p:nvCxnSpPr>
        <p:spPr>
          <a:xfrm>
            <a:off x="1390650" y="2310130"/>
            <a:ext cx="1076325" cy="949325"/>
          </a:xfrm>
          <a:prstGeom prst="curvedConnector3">
            <a:avLst>
              <a:gd name="adj1" fmla="val 50029"/>
            </a:avLst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6" name="矩形 25"/>
          <p:cNvSpPr/>
          <p:nvPr/>
        </p:nvSpPr>
        <p:spPr>
          <a:xfrm>
            <a:off x="6250940" y="2112010"/>
            <a:ext cx="989330" cy="395605"/>
          </a:xfrm>
          <a:prstGeom prst="rect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l"/>
            <a:r>
              <a:rPr lang="zh-CN" sz="1200"/>
              <a:t>涂漆防锈</a:t>
            </a:r>
            <a:endParaRPr lang="zh-CN" sz="1200"/>
          </a:p>
        </p:txBody>
      </p:sp>
      <p:cxnSp>
        <p:nvCxnSpPr>
          <p:cNvPr id="32" name="直接箭头连接符 31"/>
          <p:cNvCxnSpPr>
            <a:endCxn id="26" idx="1"/>
          </p:cNvCxnSpPr>
          <p:nvPr/>
        </p:nvCxnSpPr>
        <p:spPr>
          <a:xfrm>
            <a:off x="5744845" y="2310130"/>
            <a:ext cx="506095" cy="0"/>
          </a:xfrm>
          <a:prstGeom prst="straightConnector1">
            <a:avLst/>
          </a:prstGeom>
          <a:ln>
            <a:solidFill>
              <a:schemeClr val="tx2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4" name="矩形 33"/>
          <p:cNvSpPr/>
          <p:nvPr/>
        </p:nvSpPr>
        <p:spPr>
          <a:xfrm>
            <a:off x="7773670" y="2112010"/>
            <a:ext cx="800735" cy="395605"/>
          </a:xfrm>
          <a:prstGeom prst="rect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l"/>
            <a:r>
              <a:rPr lang="zh-CN" sz="1200"/>
              <a:t>虾壳剖分</a:t>
            </a:r>
            <a:endParaRPr lang="zh-CN" sz="1200"/>
          </a:p>
        </p:txBody>
      </p:sp>
      <p:cxnSp>
        <p:nvCxnSpPr>
          <p:cNvPr id="39" name="直接箭头连接符 38"/>
          <p:cNvCxnSpPr>
            <a:stCxn id="26" idx="3"/>
            <a:endCxn id="34" idx="1"/>
          </p:cNvCxnSpPr>
          <p:nvPr/>
        </p:nvCxnSpPr>
        <p:spPr>
          <a:xfrm>
            <a:off x="7240270" y="2310130"/>
            <a:ext cx="533400" cy="0"/>
          </a:xfrm>
          <a:prstGeom prst="straightConnector1">
            <a:avLst/>
          </a:prstGeom>
          <a:ln>
            <a:solidFill>
              <a:schemeClr val="tx2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4" name="圆角矩形 103"/>
          <p:cNvSpPr/>
          <p:nvPr/>
        </p:nvSpPr>
        <p:spPr>
          <a:xfrm>
            <a:off x="2349500" y="2644775"/>
            <a:ext cx="1522730" cy="286385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solidFill>
                  <a:schemeClr val="tx2"/>
                </a:solidFill>
              </a:rPr>
              <a:t>光纤激光切割机</a:t>
            </a:r>
            <a:endParaRPr lang="zh-CN" altLang="en-US" sz="1200">
              <a:solidFill>
                <a:schemeClr val="tx2"/>
              </a:solidFill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2466975" y="3061335"/>
            <a:ext cx="989330" cy="395605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3">
                    <a:lumMod val="60000"/>
                    <a:lumOff val="40000"/>
                  </a:schemeClr>
                </a:solidFill>
              </a14:hiddenFill>
            </a:ext>
          </a:extLst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l"/>
            <a:r>
              <a:rPr lang="zh-CN" sz="1400"/>
              <a:t>套筒下料</a:t>
            </a:r>
            <a:endParaRPr lang="zh-CN" sz="1400"/>
          </a:p>
        </p:txBody>
      </p:sp>
      <p:sp>
        <p:nvSpPr>
          <p:cNvPr id="41" name="圆角矩形 40"/>
          <p:cNvSpPr/>
          <p:nvPr/>
        </p:nvSpPr>
        <p:spPr>
          <a:xfrm>
            <a:off x="2349500" y="3508375"/>
            <a:ext cx="1522730" cy="286385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solidFill>
                  <a:schemeClr val="tx2"/>
                </a:solidFill>
              </a:rPr>
              <a:t>光纤激光切割机</a:t>
            </a:r>
            <a:endParaRPr lang="zh-CN" altLang="en-US" sz="1200">
              <a:solidFill>
                <a:schemeClr val="tx2"/>
              </a:solidFill>
            </a:endParaRPr>
          </a:p>
        </p:txBody>
      </p:sp>
      <p:cxnSp>
        <p:nvCxnSpPr>
          <p:cNvPr id="106" name="直接箭头连接符 105"/>
          <p:cNvCxnSpPr>
            <a:stCxn id="40" idx="3"/>
            <a:endCxn id="60" idx="1"/>
          </p:cNvCxnSpPr>
          <p:nvPr/>
        </p:nvCxnSpPr>
        <p:spPr>
          <a:xfrm>
            <a:off x="3456305" y="3259455"/>
            <a:ext cx="981710" cy="0"/>
          </a:xfrm>
          <a:prstGeom prst="straightConnector1">
            <a:avLst/>
          </a:prstGeom>
          <a:ln>
            <a:solidFill>
              <a:schemeClr val="tx2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5" name="矩形 44"/>
          <p:cNvSpPr/>
          <p:nvPr/>
        </p:nvSpPr>
        <p:spPr>
          <a:xfrm>
            <a:off x="4438015" y="2112010"/>
            <a:ext cx="1306830" cy="39560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l"/>
            <a:r>
              <a:rPr lang="zh-CN" sz="1400"/>
              <a:t>异形虾壳成型</a:t>
            </a:r>
            <a:endParaRPr lang="zh-CN" sz="1400"/>
          </a:p>
        </p:txBody>
      </p:sp>
      <p:cxnSp>
        <p:nvCxnSpPr>
          <p:cNvPr id="46" name="直接箭头连接符 45"/>
          <p:cNvCxnSpPr>
            <a:stCxn id="47" idx="3"/>
            <a:endCxn id="45" idx="1"/>
          </p:cNvCxnSpPr>
          <p:nvPr/>
        </p:nvCxnSpPr>
        <p:spPr>
          <a:xfrm>
            <a:off x="3754755" y="2310130"/>
            <a:ext cx="683260" cy="0"/>
          </a:xfrm>
          <a:prstGeom prst="straightConnector1">
            <a:avLst/>
          </a:prstGeom>
          <a:ln>
            <a:solidFill>
              <a:schemeClr val="tx2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7" name="肘形连接符 56"/>
          <p:cNvCxnSpPr>
            <a:stCxn id="56" idx="3"/>
            <a:endCxn id="54" idx="2"/>
          </p:cNvCxnSpPr>
          <p:nvPr/>
        </p:nvCxnSpPr>
        <p:spPr>
          <a:xfrm flipV="1">
            <a:off x="7240270" y="1998345"/>
            <a:ext cx="1729105" cy="1261110"/>
          </a:xfrm>
          <a:prstGeom prst="bentConnector2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5" name="肘形连接符 54"/>
          <p:cNvCxnSpPr>
            <a:stCxn id="34" idx="3"/>
            <a:endCxn id="54" idx="2"/>
          </p:cNvCxnSpPr>
          <p:nvPr/>
        </p:nvCxnSpPr>
        <p:spPr>
          <a:xfrm flipV="1">
            <a:off x="8574405" y="1998345"/>
            <a:ext cx="394970" cy="311785"/>
          </a:xfrm>
          <a:prstGeom prst="bentConnector2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6" name="矩形 55"/>
          <p:cNvSpPr/>
          <p:nvPr/>
        </p:nvSpPr>
        <p:spPr>
          <a:xfrm>
            <a:off x="6250940" y="3061335"/>
            <a:ext cx="989330" cy="395605"/>
          </a:xfrm>
          <a:prstGeom prst="rect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l"/>
            <a:r>
              <a:rPr lang="zh-CN" sz="1200"/>
              <a:t>涂漆防锈</a:t>
            </a:r>
            <a:endParaRPr lang="zh-CN" sz="1200"/>
          </a:p>
        </p:txBody>
      </p:sp>
      <p:cxnSp>
        <p:nvCxnSpPr>
          <p:cNvPr id="58" name="直接箭头连接符 57"/>
          <p:cNvCxnSpPr>
            <a:endCxn id="56" idx="1"/>
          </p:cNvCxnSpPr>
          <p:nvPr/>
        </p:nvCxnSpPr>
        <p:spPr>
          <a:xfrm>
            <a:off x="5744845" y="3259455"/>
            <a:ext cx="506095" cy="0"/>
          </a:xfrm>
          <a:prstGeom prst="straightConnector1">
            <a:avLst/>
          </a:prstGeom>
          <a:ln>
            <a:solidFill>
              <a:schemeClr val="tx2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0" name="矩形 59"/>
          <p:cNvSpPr/>
          <p:nvPr/>
        </p:nvSpPr>
        <p:spPr>
          <a:xfrm>
            <a:off x="4438015" y="3061335"/>
            <a:ext cx="1306830" cy="39560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l"/>
            <a:r>
              <a:rPr lang="zh-CN" sz="1400"/>
              <a:t>套筒成型</a:t>
            </a:r>
            <a:endParaRPr lang="zh-CN" sz="140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0" y="0"/>
            <a:ext cx="299085" cy="97536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1892915" y="5882640"/>
            <a:ext cx="299085" cy="97536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401320" y="289560"/>
            <a:ext cx="989330" cy="395605"/>
          </a:xfrm>
          <a:prstGeom prst="rect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l"/>
            <a:r>
              <a:rPr lang="en-US" altLang="zh-CN"/>
              <a:t>   </a:t>
            </a:r>
            <a:r>
              <a:rPr lang="zh-CN" altLang="en-US" sz="1400">
                <a:solidFill>
                  <a:srgbClr val="0070C0"/>
                </a:solidFill>
              </a:rPr>
              <a:t>钢管</a:t>
            </a:r>
            <a:endParaRPr lang="zh-CN" altLang="en-US" sz="1400">
              <a:solidFill>
                <a:srgbClr val="0070C0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746885" y="289560"/>
            <a:ext cx="989330" cy="395605"/>
          </a:xfrm>
          <a:prstGeom prst="rect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l"/>
            <a:r>
              <a:rPr lang="en-US" altLang="zh-CN" sz="1400"/>
              <a:t> </a:t>
            </a:r>
            <a:r>
              <a:rPr lang="zh-CN" altLang="en-US" sz="1400"/>
              <a:t>切管下料</a:t>
            </a:r>
            <a:endParaRPr lang="zh-CN" altLang="en-US" sz="1400"/>
          </a:p>
        </p:txBody>
      </p:sp>
      <p:cxnSp>
        <p:nvCxnSpPr>
          <p:cNvPr id="11" name="直接箭头连接符 10"/>
          <p:cNvCxnSpPr>
            <a:stCxn id="6" idx="3"/>
            <a:endCxn id="10" idx="1"/>
          </p:cNvCxnSpPr>
          <p:nvPr/>
        </p:nvCxnSpPr>
        <p:spPr>
          <a:xfrm>
            <a:off x="1390650" y="487680"/>
            <a:ext cx="356235" cy="0"/>
          </a:xfrm>
          <a:prstGeom prst="straightConnector1">
            <a:avLst/>
          </a:prstGeom>
          <a:ln>
            <a:solidFill>
              <a:schemeClr val="tx2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2" name="矩形 11"/>
          <p:cNvSpPr/>
          <p:nvPr/>
        </p:nvSpPr>
        <p:spPr>
          <a:xfrm>
            <a:off x="3092450" y="289560"/>
            <a:ext cx="989330" cy="395605"/>
          </a:xfrm>
          <a:prstGeom prst="rect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l"/>
            <a:r>
              <a:rPr lang="zh-CN" sz="1400"/>
              <a:t>管口压槽</a:t>
            </a:r>
            <a:endParaRPr lang="zh-CN" sz="1400"/>
          </a:p>
        </p:txBody>
      </p:sp>
      <p:cxnSp>
        <p:nvCxnSpPr>
          <p:cNvPr id="13" name="直接箭头连接符 12"/>
          <p:cNvCxnSpPr>
            <a:endCxn id="12" idx="1"/>
          </p:cNvCxnSpPr>
          <p:nvPr/>
        </p:nvCxnSpPr>
        <p:spPr>
          <a:xfrm>
            <a:off x="2736215" y="487680"/>
            <a:ext cx="356235" cy="0"/>
          </a:xfrm>
          <a:prstGeom prst="straightConnector1">
            <a:avLst/>
          </a:prstGeom>
          <a:ln>
            <a:solidFill>
              <a:schemeClr val="tx2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4" name="矩形 13"/>
          <p:cNvSpPr/>
          <p:nvPr/>
        </p:nvSpPr>
        <p:spPr>
          <a:xfrm>
            <a:off x="4438015" y="289560"/>
            <a:ext cx="989330" cy="395605"/>
          </a:xfrm>
          <a:prstGeom prst="rect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l"/>
            <a:r>
              <a:rPr lang="en-US" altLang="zh-CN" sz="1200"/>
              <a:t>T</a:t>
            </a:r>
            <a:r>
              <a:rPr lang="zh-CN" altLang="en-US" sz="1200"/>
              <a:t>嘴点焊定位</a:t>
            </a:r>
            <a:endParaRPr lang="zh-CN" altLang="en-US" sz="1200"/>
          </a:p>
        </p:txBody>
      </p:sp>
      <p:cxnSp>
        <p:nvCxnSpPr>
          <p:cNvPr id="15" name="直接箭头连接符 14"/>
          <p:cNvCxnSpPr>
            <a:endCxn id="14" idx="1"/>
          </p:cNvCxnSpPr>
          <p:nvPr/>
        </p:nvCxnSpPr>
        <p:spPr>
          <a:xfrm>
            <a:off x="4081780" y="487680"/>
            <a:ext cx="356235" cy="0"/>
          </a:xfrm>
          <a:prstGeom prst="straightConnector1">
            <a:avLst/>
          </a:prstGeom>
          <a:ln>
            <a:solidFill>
              <a:schemeClr val="tx2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>
          <a:xfrm>
            <a:off x="5783580" y="289560"/>
            <a:ext cx="989330" cy="395605"/>
          </a:xfrm>
          <a:prstGeom prst="rect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l"/>
            <a:r>
              <a:rPr lang="en-US" altLang="zh-CN" sz="1200"/>
              <a:t>T</a:t>
            </a:r>
            <a:r>
              <a:rPr lang="zh-CN" altLang="en-US" sz="1200"/>
              <a:t>嘴焊接</a:t>
            </a:r>
            <a:endParaRPr lang="zh-CN" altLang="en-US" sz="1200"/>
          </a:p>
        </p:txBody>
      </p:sp>
      <p:cxnSp>
        <p:nvCxnSpPr>
          <p:cNvPr id="17" name="直接箭头连接符 16"/>
          <p:cNvCxnSpPr>
            <a:endCxn id="16" idx="1"/>
          </p:cNvCxnSpPr>
          <p:nvPr/>
        </p:nvCxnSpPr>
        <p:spPr>
          <a:xfrm>
            <a:off x="5427345" y="487680"/>
            <a:ext cx="356235" cy="0"/>
          </a:xfrm>
          <a:prstGeom prst="straightConnector1">
            <a:avLst/>
          </a:prstGeom>
          <a:ln>
            <a:solidFill>
              <a:schemeClr val="tx2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0" name="圆角矩形 19"/>
          <p:cNvSpPr/>
          <p:nvPr/>
        </p:nvSpPr>
        <p:spPr>
          <a:xfrm>
            <a:off x="1612265" y="742950"/>
            <a:ext cx="1233170" cy="525780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solidFill>
                  <a:schemeClr val="tx2"/>
                </a:solidFill>
              </a:rPr>
              <a:t>相贯线切割机</a:t>
            </a:r>
            <a:endParaRPr lang="zh-CN" altLang="en-US" sz="1200">
              <a:solidFill>
                <a:schemeClr val="tx2"/>
              </a:solidFill>
            </a:endParaRPr>
          </a:p>
        </p:txBody>
      </p:sp>
      <p:sp>
        <p:nvSpPr>
          <p:cNvPr id="21" name="圆角矩形 20"/>
          <p:cNvSpPr/>
          <p:nvPr/>
        </p:nvSpPr>
        <p:spPr>
          <a:xfrm>
            <a:off x="3093085" y="742950"/>
            <a:ext cx="988695" cy="525780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solidFill>
                  <a:schemeClr val="tx2"/>
                </a:solidFill>
              </a:rPr>
              <a:t>压槽机</a:t>
            </a:r>
            <a:endParaRPr lang="zh-CN" altLang="en-US" sz="1200">
              <a:solidFill>
                <a:schemeClr val="tx2"/>
              </a:solidFill>
            </a:endParaRPr>
          </a:p>
        </p:txBody>
      </p:sp>
      <p:sp>
        <p:nvSpPr>
          <p:cNvPr id="23" name="圆角矩形 22"/>
          <p:cNvSpPr/>
          <p:nvPr/>
        </p:nvSpPr>
        <p:spPr>
          <a:xfrm>
            <a:off x="5784215" y="742950"/>
            <a:ext cx="988695" cy="525780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solidFill>
                  <a:schemeClr val="tx2"/>
                </a:solidFill>
              </a:rPr>
              <a:t>焊接机器人</a:t>
            </a:r>
            <a:endParaRPr lang="zh-CN" altLang="en-US" sz="1200">
              <a:solidFill>
                <a:schemeClr val="tx2"/>
              </a:solidFill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7129145" y="289560"/>
            <a:ext cx="989330" cy="395605"/>
          </a:xfrm>
          <a:prstGeom prst="rect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l"/>
            <a:r>
              <a:rPr lang="zh-CN" sz="1200"/>
              <a:t>涂漆防锈</a:t>
            </a:r>
            <a:endParaRPr lang="zh-CN" sz="1200"/>
          </a:p>
        </p:txBody>
      </p:sp>
      <p:cxnSp>
        <p:nvCxnSpPr>
          <p:cNvPr id="28" name="直接箭头连接符 27"/>
          <p:cNvCxnSpPr>
            <a:endCxn id="27" idx="1"/>
          </p:cNvCxnSpPr>
          <p:nvPr/>
        </p:nvCxnSpPr>
        <p:spPr>
          <a:xfrm>
            <a:off x="6772910" y="487680"/>
            <a:ext cx="356235" cy="0"/>
          </a:xfrm>
          <a:prstGeom prst="straightConnector1">
            <a:avLst/>
          </a:prstGeom>
          <a:ln>
            <a:solidFill>
              <a:schemeClr val="tx2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0" name="矩形 29"/>
          <p:cNvSpPr/>
          <p:nvPr/>
        </p:nvSpPr>
        <p:spPr>
          <a:xfrm>
            <a:off x="8474075" y="1395730"/>
            <a:ext cx="845185" cy="395605"/>
          </a:xfrm>
          <a:prstGeom prst="rect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l"/>
            <a:r>
              <a:rPr lang="zh-CN" sz="1200"/>
              <a:t>注胶发泡</a:t>
            </a:r>
            <a:endParaRPr lang="zh-CN" sz="1200"/>
          </a:p>
        </p:txBody>
      </p:sp>
      <p:sp>
        <p:nvSpPr>
          <p:cNvPr id="2" name="矩形 1"/>
          <p:cNvSpPr/>
          <p:nvPr/>
        </p:nvSpPr>
        <p:spPr>
          <a:xfrm>
            <a:off x="9675495" y="1395730"/>
            <a:ext cx="845185" cy="395605"/>
          </a:xfrm>
          <a:prstGeom prst="rect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l"/>
            <a:r>
              <a:rPr lang="zh-CN" sz="1200"/>
              <a:t>模组焊接</a:t>
            </a:r>
            <a:endParaRPr lang="zh-CN" sz="1200"/>
          </a:p>
        </p:txBody>
      </p:sp>
      <p:cxnSp>
        <p:nvCxnSpPr>
          <p:cNvPr id="3" name="直接箭头连接符 2"/>
          <p:cNvCxnSpPr>
            <a:endCxn id="2" idx="1"/>
          </p:cNvCxnSpPr>
          <p:nvPr/>
        </p:nvCxnSpPr>
        <p:spPr>
          <a:xfrm>
            <a:off x="9319260" y="1593850"/>
            <a:ext cx="356235" cy="0"/>
          </a:xfrm>
          <a:prstGeom prst="straightConnector1">
            <a:avLst/>
          </a:prstGeom>
          <a:ln>
            <a:solidFill>
              <a:schemeClr val="tx2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10876915" y="1395730"/>
            <a:ext cx="845185" cy="395605"/>
          </a:xfrm>
          <a:prstGeom prst="rect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l"/>
            <a:r>
              <a:rPr lang="zh-CN" sz="1200"/>
              <a:t>除漆防锈</a:t>
            </a:r>
            <a:endParaRPr lang="zh-CN" sz="1200"/>
          </a:p>
        </p:txBody>
      </p:sp>
      <p:cxnSp>
        <p:nvCxnSpPr>
          <p:cNvPr id="8" name="直接箭头连接符 7"/>
          <p:cNvCxnSpPr>
            <a:endCxn id="7" idx="1"/>
          </p:cNvCxnSpPr>
          <p:nvPr/>
        </p:nvCxnSpPr>
        <p:spPr>
          <a:xfrm>
            <a:off x="10520680" y="1593850"/>
            <a:ext cx="356235" cy="0"/>
          </a:xfrm>
          <a:prstGeom prst="straightConnector1">
            <a:avLst/>
          </a:prstGeom>
          <a:ln>
            <a:solidFill>
              <a:schemeClr val="tx2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10876915" y="5882640"/>
            <a:ext cx="845185" cy="395605"/>
          </a:xfrm>
          <a:prstGeom prst="rect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l"/>
            <a:r>
              <a:rPr lang="zh-CN" sz="1200"/>
              <a:t>模组装配</a:t>
            </a:r>
            <a:endParaRPr lang="zh-CN" sz="1200"/>
          </a:p>
        </p:txBody>
      </p:sp>
      <p:cxnSp>
        <p:nvCxnSpPr>
          <p:cNvPr id="33" name="直接箭头连接符 32"/>
          <p:cNvCxnSpPr>
            <a:stCxn id="7" idx="2"/>
            <a:endCxn id="82" idx="0"/>
          </p:cNvCxnSpPr>
          <p:nvPr/>
        </p:nvCxnSpPr>
        <p:spPr>
          <a:xfrm>
            <a:off x="11299825" y="1791335"/>
            <a:ext cx="635" cy="3457575"/>
          </a:xfrm>
          <a:prstGeom prst="straightConnector1">
            <a:avLst/>
          </a:prstGeom>
          <a:ln>
            <a:solidFill>
              <a:schemeClr val="tx2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4" name="矩形 33"/>
          <p:cNvSpPr/>
          <p:nvPr/>
        </p:nvSpPr>
        <p:spPr>
          <a:xfrm>
            <a:off x="8830945" y="5882640"/>
            <a:ext cx="1155065" cy="39560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l"/>
            <a:r>
              <a:rPr lang="zh-CN" sz="1200"/>
              <a:t>成品堆放区</a:t>
            </a:r>
            <a:endParaRPr lang="zh-CN" sz="1200"/>
          </a:p>
        </p:txBody>
      </p:sp>
      <p:cxnSp>
        <p:nvCxnSpPr>
          <p:cNvPr id="35" name="直接箭头连接符 34"/>
          <p:cNvCxnSpPr>
            <a:stCxn id="9" idx="1"/>
            <a:endCxn id="34" idx="3"/>
          </p:cNvCxnSpPr>
          <p:nvPr/>
        </p:nvCxnSpPr>
        <p:spPr>
          <a:xfrm flipH="1">
            <a:off x="9986010" y="6080760"/>
            <a:ext cx="890905" cy="0"/>
          </a:xfrm>
          <a:prstGeom prst="straightConnector1">
            <a:avLst/>
          </a:prstGeom>
          <a:ln>
            <a:solidFill>
              <a:schemeClr val="tx2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7" name="文本框 36"/>
          <p:cNvSpPr txBox="1"/>
          <p:nvPr/>
        </p:nvSpPr>
        <p:spPr>
          <a:xfrm>
            <a:off x="400685" y="636905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PIP Riser/Chiller</a:t>
            </a:r>
            <a:r>
              <a:rPr lang="zh-CN" altLang="en-US"/>
              <a:t>模组工艺路线</a:t>
            </a:r>
            <a:endParaRPr lang="zh-CN" altLang="en-US"/>
          </a:p>
        </p:txBody>
      </p:sp>
      <p:sp>
        <p:nvSpPr>
          <p:cNvPr id="38" name="矩形 37"/>
          <p:cNvSpPr/>
          <p:nvPr/>
        </p:nvSpPr>
        <p:spPr>
          <a:xfrm>
            <a:off x="8402320" y="685165"/>
            <a:ext cx="989330" cy="395605"/>
          </a:xfrm>
          <a:prstGeom prst="rect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l"/>
            <a:r>
              <a:rPr lang="en-US" altLang="zh-CN"/>
              <a:t> </a:t>
            </a:r>
            <a:r>
              <a:rPr lang="zh-CN" altLang="en-US" sz="1400">
                <a:solidFill>
                  <a:srgbClr val="0070C0"/>
                </a:solidFill>
              </a:rPr>
              <a:t>黑白料</a:t>
            </a:r>
            <a:endParaRPr lang="zh-CN" altLang="en-US" sz="1400">
              <a:solidFill>
                <a:srgbClr val="0070C0"/>
              </a:solidFill>
            </a:endParaRPr>
          </a:p>
        </p:txBody>
      </p:sp>
      <p:sp>
        <p:nvSpPr>
          <p:cNvPr id="42" name="圆角矩形 41"/>
          <p:cNvSpPr/>
          <p:nvPr/>
        </p:nvSpPr>
        <p:spPr>
          <a:xfrm>
            <a:off x="8402320" y="1849120"/>
            <a:ext cx="988695" cy="525780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solidFill>
                  <a:schemeClr val="tx2"/>
                </a:solidFill>
              </a:rPr>
              <a:t>高压发泡机</a:t>
            </a:r>
            <a:endParaRPr lang="zh-CN" altLang="en-US" sz="1200">
              <a:solidFill>
                <a:schemeClr val="tx2"/>
              </a:solidFill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400685" y="1791335"/>
            <a:ext cx="989330" cy="395605"/>
          </a:xfrm>
          <a:prstGeom prst="rect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l"/>
            <a:r>
              <a:rPr lang="zh-CN" sz="1400">
                <a:solidFill>
                  <a:srgbClr val="0070C0"/>
                </a:solidFill>
              </a:rPr>
              <a:t>镀锌钢卷</a:t>
            </a:r>
            <a:endParaRPr lang="zh-CN" sz="1400">
              <a:solidFill>
                <a:srgbClr val="0070C0"/>
              </a:solidFill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2453640" y="1395730"/>
            <a:ext cx="989330" cy="39560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l"/>
            <a:r>
              <a:rPr lang="zh-CN" sz="1400"/>
              <a:t>虾壳成型</a:t>
            </a:r>
            <a:endParaRPr lang="zh-CN" sz="1400"/>
          </a:p>
        </p:txBody>
      </p:sp>
      <p:sp>
        <p:nvSpPr>
          <p:cNvPr id="47" name="矩形 46"/>
          <p:cNvSpPr/>
          <p:nvPr/>
        </p:nvSpPr>
        <p:spPr>
          <a:xfrm>
            <a:off x="2453640" y="1989455"/>
            <a:ext cx="989330" cy="395605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3">
                    <a:lumMod val="60000"/>
                    <a:lumOff val="40000"/>
                  </a:schemeClr>
                </a:solidFill>
              </a14:hiddenFill>
            </a:ext>
          </a:extLst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l"/>
            <a:r>
              <a:rPr lang="zh-CN" sz="1400"/>
              <a:t>套筒下料</a:t>
            </a:r>
            <a:endParaRPr lang="zh-CN" sz="1400"/>
          </a:p>
        </p:txBody>
      </p:sp>
      <p:cxnSp>
        <p:nvCxnSpPr>
          <p:cNvPr id="48" name="曲线连接符 47"/>
          <p:cNvCxnSpPr>
            <a:stCxn id="43" idx="3"/>
            <a:endCxn id="44" idx="1"/>
          </p:cNvCxnSpPr>
          <p:nvPr/>
        </p:nvCxnSpPr>
        <p:spPr>
          <a:xfrm flipV="1">
            <a:off x="1390015" y="1593850"/>
            <a:ext cx="1063625" cy="395605"/>
          </a:xfrm>
          <a:prstGeom prst="curvedConnector3">
            <a:avLst>
              <a:gd name="adj1" fmla="val 50030"/>
            </a:avLst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0" name="曲线连接符 49"/>
          <p:cNvCxnSpPr>
            <a:stCxn id="43" idx="3"/>
            <a:endCxn id="47" idx="1"/>
          </p:cNvCxnSpPr>
          <p:nvPr/>
        </p:nvCxnSpPr>
        <p:spPr>
          <a:xfrm>
            <a:off x="1390015" y="1989455"/>
            <a:ext cx="1063625" cy="198120"/>
          </a:xfrm>
          <a:prstGeom prst="curvedConnector3">
            <a:avLst>
              <a:gd name="adj1" fmla="val 50030"/>
            </a:avLst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3" name="直接箭头连接符 52"/>
          <p:cNvCxnSpPr>
            <a:stCxn id="27" idx="2"/>
            <a:endCxn id="54" idx="0"/>
          </p:cNvCxnSpPr>
          <p:nvPr/>
        </p:nvCxnSpPr>
        <p:spPr>
          <a:xfrm flipH="1">
            <a:off x="7623175" y="685165"/>
            <a:ext cx="635" cy="710565"/>
          </a:xfrm>
          <a:prstGeom prst="straightConnector1">
            <a:avLst/>
          </a:prstGeom>
          <a:ln>
            <a:solidFill>
              <a:schemeClr val="tx2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4" name="矩形 53"/>
          <p:cNvSpPr/>
          <p:nvPr/>
        </p:nvSpPr>
        <p:spPr>
          <a:xfrm>
            <a:off x="7128510" y="1395730"/>
            <a:ext cx="989330" cy="39560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l"/>
            <a:r>
              <a:rPr lang="zh-CN" sz="1200"/>
              <a:t>半成品堆放区</a:t>
            </a:r>
            <a:endParaRPr lang="zh-CN" sz="1200"/>
          </a:p>
        </p:txBody>
      </p:sp>
      <p:cxnSp>
        <p:nvCxnSpPr>
          <p:cNvPr id="55" name="直接箭头连接符 54"/>
          <p:cNvCxnSpPr>
            <a:stCxn id="44" idx="3"/>
            <a:endCxn id="54" idx="1"/>
          </p:cNvCxnSpPr>
          <p:nvPr/>
        </p:nvCxnSpPr>
        <p:spPr>
          <a:xfrm>
            <a:off x="3442970" y="1593850"/>
            <a:ext cx="3685540" cy="0"/>
          </a:xfrm>
          <a:prstGeom prst="straightConnector1">
            <a:avLst/>
          </a:prstGeom>
          <a:ln>
            <a:solidFill>
              <a:schemeClr val="tx2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7" name="肘形连接符 56"/>
          <p:cNvCxnSpPr>
            <a:stCxn id="105" idx="3"/>
            <a:endCxn id="54" idx="2"/>
          </p:cNvCxnSpPr>
          <p:nvPr/>
        </p:nvCxnSpPr>
        <p:spPr>
          <a:xfrm flipV="1">
            <a:off x="5427345" y="1791335"/>
            <a:ext cx="2195830" cy="396240"/>
          </a:xfrm>
          <a:prstGeom prst="bentConnector2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9" name="直接箭头连接符 58"/>
          <p:cNvCxnSpPr/>
          <p:nvPr/>
        </p:nvCxnSpPr>
        <p:spPr>
          <a:xfrm>
            <a:off x="8117840" y="1593850"/>
            <a:ext cx="356235" cy="0"/>
          </a:xfrm>
          <a:prstGeom prst="straightConnector1">
            <a:avLst/>
          </a:prstGeom>
          <a:ln>
            <a:solidFill>
              <a:schemeClr val="tx2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0" name="矩形 59"/>
          <p:cNvSpPr/>
          <p:nvPr/>
        </p:nvSpPr>
        <p:spPr>
          <a:xfrm>
            <a:off x="400685" y="2821940"/>
            <a:ext cx="989330" cy="395605"/>
          </a:xfrm>
          <a:prstGeom prst="rect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l"/>
            <a:r>
              <a:rPr lang="zh-CN" sz="1400">
                <a:solidFill>
                  <a:srgbClr val="0070C0"/>
                </a:solidFill>
              </a:rPr>
              <a:t>钢板</a:t>
            </a:r>
            <a:endParaRPr lang="zh-CN" sz="1400">
              <a:solidFill>
                <a:srgbClr val="0070C0"/>
              </a:solidFill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1746250" y="2821940"/>
            <a:ext cx="2334895" cy="395605"/>
          </a:xfrm>
          <a:prstGeom prst="rect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l"/>
            <a:r>
              <a:rPr lang="zh-CN" sz="1400"/>
              <a:t>吊耳、固定板、火箭码下料</a:t>
            </a:r>
            <a:endParaRPr lang="zh-CN" sz="1400"/>
          </a:p>
        </p:txBody>
      </p:sp>
      <p:cxnSp>
        <p:nvCxnSpPr>
          <p:cNvPr id="62" name="直接箭头连接符 61"/>
          <p:cNvCxnSpPr>
            <a:endCxn id="61" idx="1"/>
          </p:cNvCxnSpPr>
          <p:nvPr/>
        </p:nvCxnSpPr>
        <p:spPr>
          <a:xfrm>
            <a:off x="1390015" y="3020060"/>
            <a:ext cx="356235" cy="0"/>
          </a:xfrm>
          <a:prstGeom prst="straightConnector1">
            <a:avLst/>
          </a:prstGeom>
          <a:ln>
            <a:solidFill>
              <a:schemeClr val="tx2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3" name="圆角矩形 62"/>
          <p:cNvSpPr/>
          <p:nvPr/>
        </p:nvSpPr>
        <p:spPr>
          <a:xfrm>
            <a:off x="1738630" y="3270885"/>
            <a:ext cx="1938020" cy="286385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solidFill>
                  <a:schemeClr val="tx2"/>
                </a:solidFill>
              </a:rPr>
              <a:t>光纤激光切割机</a:t>
            </a:r>
            <a:endParaRPr lang="zh-CN" altLang="en-US" sz="1200">
              <a:solidFill>
                <a:schemeClr val="tx2"/>
              </a:solidFill>
            </a:endParaRPr>
          </a:p>
        </p:txBody>
      </p:sp>
      <p:cxnSp>
        <p:nvCxnSpPr>
          <p:cNvPr id="64" name="直接箭头连接符 63"/>
          <p:cNvCxnSpPr>
            <a:stCxn id="38" idx="2"/>
            <a:endCxn id="30" idx="0"/>
          </p:cNvCxnSpPr>
          <p:nvPr/>
        </p:nvCxnSpPr>
        <p:spPr>
          <a:xfrm>
            <a:off x="8896985" y="1080770"/>
            <a:ext cx="0" cy="314960"/>
          </a:xfrm>
          <a:prstGeom prst="straightConnector1">
            <a:avLst/>
          </a:prstGeom>
          <a:ln>
            <a:solidFill>
              <a:schemeClr val="tx2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5" name="矩形 64"/>
          <p:cNvSpPr/>
          <p:nvPr/>
        </p:nvSpPr>
        <p:spPr>
          <a:xfrm>
            <a:off x="385445" y="3596005"/>
            <a:ext cx="989330" cy="395605"/>
          </a:xfrm>
          <a:prstGeom prst="rect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l"/>
            <a:r>
              <a:rPr lang="zh-CN" sz="1400">
                <a:solidFill>
                  <a:srgbClr val="0070C0"/>
                </a:solidFill>
              </a:rPr>
              <a:t>槽钢</a:t>
            </a:r>
            <a:endParaRPr lang="zh-CN" sz="1400">
              <a:solidFill>
                <a:srgbClr val="0070C0"/>
              </a:solidFill>
            </a:endParaRPr>
          </a:p>
        </p:txBody>
      </p:sp>
      <p:sp>
        <p:nvSpPr>
          <p:cNvPr id="66" name="矩形 65"/>
          <p:cNvSpPr/>
          <p:nvPr/>
        </p:nvSpPr>
        <p:spPr>
          <a:xfrm>
            <a:off x="1731010" y="3596005"/>
            <a:ext cx="2334895" cy="395605"/>
          </a:xfrm>
          <a:prstGeom prst="rect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l"/>
            <a:r>
              <a:rPr lang="zh-CN" sz="1400"/>
              <a:t>槽钢横担、固定框下料</a:t>
            </a:r>
            <a:endParaRPr lang="zh-CN" sz="1400"/>
          </a:p>
        </p:txBody>
      </p:sp>
      <p:cxnSp>
        <p:nvCxnSpPr>
          <p:cNvPr id="67" name="直接箭头连接符 66"/>
          <p:cNvCxnSpPr>
            <a:endCxn id="66" idx="1"/>
          </p:cNvCxnSpPr>
          <p:nvPr/>
        </p:nvCxnSpPr>
        <p:spPr>
          <a:xfrm>
            <a:off x="1374775" y="3794125"/>
            <a:ext cx="356235" cy="0"/>
          </a:xfrm>
          <a:prstGeom prst="straightConnector1">
            <a:avLst/>
          </a:prstGeom>
          <a:ln>
            <a:solidFill>
              <a:schemeClr val="tx2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8" name="圆角矩形 67"/>
          <p:cNvSpPr/>
          <p:nvPr/>
        </p:nvSpPr>
        <p:spPr>
          <a:xfrm>
            <a:off x="1723390" y="4044950"/>
            <a:ext cx="1938020" cy="286385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solidFill>
                  <a:schemeClr val="tx2"/>
                </a:solidFill>
              </a:rPr>
              <a:t>光纤激光切割机</a:t>
            </a:r>
            <a:endParaRPr lang="zh-CN" altLang="en-US" sz="1200">
              <a:solidFill>
                <a:schemeClr val="tx2"/>
              </a:solidFill>
            </a:endParaRPr>
          </a:p>
        </p:txBody>
      </p:sp>
      <p:sp>
        <p:nvSpPr>
          <p:cNvPr id="69" name="矩形 68"/>
          <p:cNvSpPr/>
          <p:nvPr/>
        </p:nvSpPr>
        <p:spPr>
          <a:xfrm>
            <a:off x="400685" y="4402455"/>
            <a:ext cx="989330" cy="395605"/>
          </a:xfrm>
          <a:prstGeom prst="rect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l"/>
            <a:r>
              <a:rPr lang="zh-CN" sz="1400">
                <a:solidFill>
                  <a:srgbClr val="0070C0"/>
                </a:solidFill>
              </a:rPr>
              <a:t>钢板</a:t>
            </a:r>
            <a:endParaRPr lang="zh-CN" sz="1400">
              <a:solidFill>
                <a:srgbClr val="0070C0"/>
              </a:solidFill>
            </a:endParaRPr>
          </a:p>
        </p:txBody>
      </p:sp>
      <p:sp>
        <p:nvSpPr>
          <p:cNvPr id="70" name="矩形 69"/>
          <p:cNvSpPr/>
          <p:nvPr/>
        </p:nvSpPr>
        <p:spPr>
          <a:xfrm>
            <a:off x="1746250" y="4402455"/>
            <a:ext cx="1345565" cy="395605"/>
          </a:xfrm>
          <a:prstGeom prst="rect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l"/>
            <a:r>
              <a:rPr lang="zh-CN" sz="1400"/>
              <a:t>船仔板件下料</a:t>
            </a:r>
            <a:endParaRPr lang="zh-CN" sz="1400"/>
          </a:p>
        </p:txBody>
      </p:sp>
      <p:cxnSp>
        <p:nvCxnSpPr>
          <p:cNvPr id="71" name="直接箭头连接符 70"/>
          <p:cNvCxnSpPr>
            <a:endCxn id="70" idx="1"/>
          </p:cNvCxnSpPr>
          <p:nvPr/>
        </p:nvCxnSpPr>
        <p:spPr>
          <a:xfrm>
            <a:off x="1390015" y="4600575"/>
            <a:ext cx="356235" cy="0"/>
          </a:xfrm>
          <a:prstGeom prst="straightConnector1">
            <a:avLst/>
          </a:prstGeom>
          <a:ln>
            <a:solidFill>
              <a:schemeClr val="tx2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2" name="圆角矩形 71"/>
          <p:cNvSpPr/>
          <p:nvPr/>
        </p:nvSpPr>
        <p:spPr>
          <a:xfrm>
            <a:off x="1738630" y="4851400"/>
            <a:ext cx="1522730" cy="286385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solidFill>
                  <a:schemeClr val="tx2"/>
                </a:solidFill>
              </a:rPr>
              <a:t>光纤激光切割机</a:t>
            </a:r>
            <a:endParaRPr lang="zh-CN" altLang="en-US" sz="1200">
              <a:solidFill>
                <a:schemeClr val="tx2"/>
              </a:solidFill>
            </a:endParaRPr>
          </a:p>
        </p:txBody>
      </p:sp>
      <p:sp>
        <p:nvSpPr>
          <p:cNvPr id="73" name="矩形 72"/>
          <p:cNvSpPr/>
          <p:nvPr/>
        </p:nvSpPr>
        <p:spPr>
          <a:xfrm>
            <a:off x="385445" y="5248910"/>
            <a:ext cx="989330" cy="395605"/>
          </a:xfrm>
          <a:prstGeom prst="rect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l"/>
            <a:r>
              <a:rPr lang="zh-CN" sz="1400">
                <a:solidFill>
                  <a:srgbClr val="0070C0"/>
                </a:solidFill>
              </a:rPr>
              <a:t>钢板</a:t>
            </a:r>
            <a:endParaRPr lang="zh-CN" sz="1400">
              <a:solidFill>
                <a:srgbClr val="0070C0"/>
              </a:solidFill>
            </a:endParaRPr>
          </a:p>
        </p:txBody>
      </p:sp>
      <p:sp>
        <p:nvSpPr>
          <p:cNvPr id="74" name="矩形 73"/>
          <p:cNvSpPr/>
          <p:nvPr/>
        </p:nvSpPr>
        <p:spPr>
          <a:xfrm>
            <a:off x="1731010" y="5248910"/>
            <a:ext cx="2123440" cy="395605"/>
          </a:xfrm>
          <a:prstGeom prst="rect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l"/>
            <a:r>
              <a:rPr lang="zh-CN" sz="1400"/>
              <a:t>欧米伽码板件下料</a:t>
            </a:r>
            <a:endParaRPr lang="zh-CN" sz="1400"/>
          </a:p>
        </p:txBody>
      </p:sp>
      <p:cxnSp>
        <p:nvCxnSpPr>
          <p:cNvPr id="75" name="直接箭头连接符 74"/>
          <p:cNvCxnSpPr>
            <a:endCxn id="74" idx="1"/>
          </p:cNvCxnSpPr>
          <p:nvPr/>
        </p:nvCxnSpPr>
        <p:spPr>
          <a:xfrm>
            <a:off x="1374775" y="5447030"/>
            <a:ext cx="356235" cy="0"/>
          </a:xfrm>
          <a:prstGeom prst="straightConnector1">
            <a:avLst/>
          </a:prstGeom>
          <a:ln>
            <a:solidFill>
              <a:schemeClr val="tx2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6" name="圆角矩形 75"/>
          <p:cNvSpPr/>
          <p:nvPr/>
        </p:nvSpPr>
        <p:spPr>
          <a:xfrm>
            <a:off x="1723390" y="5697855"/>
            <a:ext cx="1938020" cy="286385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solidFill>
                  <a:schemeClr val="tx2"/>
                </a:solidFill>
              </a:rPr>
              <a:t>光纤激光切割机</a:t>
            </a:r>
            <a:endParaRPr lang="zh-CN" altLang="en-US" sz="1200">
              <a:solidFill>
                <a:schemeClr val="tx2"/>
              </a:solidFill>
            </a:endParaRPr>
          </a:p>
        </p:txBody>
      </p:sp>
      <p:sp>
        <p:nvSpPr>
          <p:cNvPr id="77" name="矩形 76"/>
          <p:cNvSpPr/>
          <p:nvPr/>
        </p:nvSpPr>
        <p:spPr>
          <a:xfrm>
            <a:off x="3442970" y="4402455"/>
            <a:ext cx="908050" cy="395605"/>
          </a:xfrm>
          <a:prstGeom prst="rect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l"/>
            <a:r>
              <a:rPr lang="zh-CN" sz="1400"/>
              <a:t>点焊定位</a:t>
            </a:r>
            <a:endParaRPr lang="zh-CN" sz="1400"/>
          </a:p>
        </p:txBody>
      </p:sp>
      <p:cxnSp>
        <p:nvCxnSpPr>
          <p:cNvPr id="78" name="直接箭头连接符 77"/>
          <p:cNvCxnSpPr>
            <a:endCxn id="77" idx="1"/>
          </p:cNvCxnSpPr>
          <p:nvPr/>
        </p:nvCxnSpPr>
        <p:spPr>
          <a:xfrm>
            <a:off x="3086735" y="4600575"/>
            <a:ext cx="356235" cy="0"/>
          </a:xfrm>
          <a:prstGeom prst="straightConnector1">
            <a:avLst/>
          </a:prstGeom>
          <a:ln>
            <a:solidFill>
              <a:schemeClr val="tx2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9" name="矩形 78"/>
          <p:cNvSpPr/>
          <p:nvPr/>
        </p:nvSpPr>
        <p:spPr>
          <a:xfrm>
            <a:off x="4702810" y="4402455"/>
            <a:ext cx="936625" cy="395605"/>
          </a:xfrm>
          <a:prstGeom prst="rect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l"/>
            <a:r>
              <a:rPr lang="zh-CN" sz="1400"/>
              <a:t>焊接成型</a:t>
            </a:r>
            <a:endParaRPr lang="zh-CN" sz="1400"/>
          </a:p>
        </p:txBody>
      </p:sp>
      <p:cxnSp>
        <p:nvCxnSpPr>
          <p:cNvPr id="80" name="直接箭头连接符 79"/>
          <p:cNvCxnSpPr>
            <a:endCxn id="79" idx="1"/>
          </p:cNvCxnSpPr>
          <p:nvPr/>
        </p:nvCxnSpPr>
        <p:spPr>
          <a:xfrm>
            <a:off x="4346575" y="4600575"/>
            <a:ext cx="356235" cy="0"/>
          </a:xfrm>
          <a:prstGeom prst="straightConnector1">
            <a:avLst/>
          </a:prstGeom>
          <a:ln>
            <a:solidFill>
              <a:schemeClr val="tx2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1" name="圆角矩形 80"/>
          <p:cNvSpPr/>
          <p:nvPr/>
        </p:nvSpPr>
        <p:spPr>
          <a:xfrm>
            <a:off x="4512310" y="4851400"/>
            <a:ext cx="1179195" cy="286385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solidFill>
                  <a:schemeClr val="tx2"/>
                </a:solidFill>
              </a:rPr>
              <a:t>焊接机器人</a:t>
            </a:r>
            <a:endParaRPr lang="zh-CN" altLang="en-US" sz="1200">
              <a:solidFill>
                <a:schemeClr val="tx2"/>
              </a:solidFill>
            </a:endParaRPr>
          </a:p>
        </p:txBody>
      </p:sp>
      <p:sp>
        <p:nvSpPr>
          <p:cNvPr id="82" name="矩形 81"/>
          <p:cNvSpPr/>
          <p:nvPr/>
        </p:nvSpPr>
        <p:spPr>
          <a:xfrm>
            <a:off x="10805795" y="5248910"/>
            <a:ext cx="989330" cy="39560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l"/>
            <a:r>
              <a:rPr lang="zh-CN" sz="1200"/>
              <a:t>半成品堆放区</a:t>
            </a:r>
            <a:endParaRPr lang="zh-CN" sz="1200"/>
          </a:p>
        </p:txBody>
      </p:sp>
      <p:sp>
        <p:nvSpPr>
          <p:cNvPr id="83" name="矩形 82"/>
          <p:cNvSpPr/>
          <p:nvPr/>
        </p:nvSpPr>
        <p:spPr>
          <a:xfrm>
            <a:off x="5951855" y="4402455"/>
            <a:ext cx="985520" cy="395605"/>
          </a:xfrm>
          <a:prstGeom prst="rect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l"/>
            <a:r>
              <a:rPr lang="zh-CN" sz="1400"/>
              <a:t>船仔、槽钢焊接</a:t>
            </a:r>
            <a:endParaRPr lang="zh-CN" sz="1400"/>
          </a:p>
        </p:txBody>
      </p:sp>
      <p:sp>
        <p:nvSpPr>
          <p:cNvPr id="85" name="圆角矩形 84"/>
          <p:cNvSpPr/>
          <p:nvPr/>
        </p:nvSpPr>
        <p:spPr>
          <a:xfrm>
            <a:off x="5758180" y="4851400"/>
            <a:ext cx="1179195" cy="286385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solidFill>
                  <a:schemeClr val="tx2"/>
                </a:solidFill>
              </a:rPr>
              <a:t>焊接机器人</a:t>
            </a:r>
            <a:endParaRPr lang="zh-CN" altLang="en-US" sz="1200">
              <a:solidFill>
                <a:schemeClr val="tx2"/>
              </a:solidFill>
            </a:endParaRPr>
          </a:p>
        </p:txBody>
      </p:sp>
      <p:sp>
        <p:nvSpPr>
          <p:cNvPr id="87" name="矩形 86"/>
          <p:cNvSpPr/>
          <p:nvPr/>
        </p:nvSpPr>
        <p:spPr>
          <a:xfrm>
            <a:off x="7298690" y="4402455"/>
            <a:ext cx="936625" cy="395605"/>
          </a:xfrm>
          <a:prstGeom prst="rect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l"/>
            <a:r>
              <a:rPr lang="zh-CN" sz="1400"/>
              <a:t>焊接检测</a:t>
            </a:r>
            <a:endParaRPr lang="zh-CN" sz="1400"/>
          </a:p>
        </p:txBody>
      </p:sp>
      <p:cxnSp>
        <p:nvCxnSpPr>
          <p:cNvPr id="88" name="直接箭头连接符 87"/>
          <p:cNvCxnSpPr>
            <a:endCxn id="87" idx="1"/>
          </p:cNvCxnSpPr>
          <p:nvPr/>
        </p:nvCxnSpPr>
        <p:spPr>
          <a:xfrm>
            <a:off x="6942455" y="4600575"/>
            <a:ext cx="356235" cy="0"/>
          </a:xfrm>
          <a:prstGeom prst="straightConnector1">
            <a:avLst/>
          </a:prstGeom>
          <a:ln>
            <a:solidFill>
              <a:schemeClr val="tx2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9" name="矩形 88"/>
          <p:cNvSpPr/>
          <p:nvPr/>
        </p:nvSpPr>
        <p:spPr>
          <a:xfrm>
            <a:off x="8604250" y="4402455"/>
            <a:ext cx="936625" cy="395605"/>
          </a:xfrm>
          <a:prstGeom prst="rect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l"/>
            <a:r>
              <a:rPr lang="zh-CN" sz="1400"/>
              <a:t>热浸锌</a:t>
            </a:r>
            <a:endParaRPr lang="zh-CN" sz="1400"/>
          </a:p>
        </p:txBody>
      </p:sp>
      <p:cxnSp>
        <p:nvCxnSpPr>
          <p:cNvPr id="90" name="直接箭头连接符 89"/>
          <p:cNvCxnSpPr>
            <a:endCxn id="89" idx="1"/>
          </p:cNvCxnSpPr>
          <p:nvPr/>
        </p:nvCxnSpPr>
        <p:spPr>
          <a:xfrm>
            <a:off x="8248015" y="4600575"/>
            <a:ext cx="356235" cy="0"/>
          </a:xfrm>
          <a:prstGeom prst="straightConnector1">
            <a:avLst/>
          </a:prstGeom>
          <a:ln>
            <a:solidFill>
              <a:schemeClr val="tx2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1" name="肘形连接符 90"/>
          <p:cNvCxnSpPr>
            <a:stCxn id="61" idx="3"/>
            <a:endCxn id="82" idx="0"/>
          </p:cNvCxnSpPr>
          <p:nvPr/>
        </p:nvCxnSpPr>
        <p:spPr>
          <a:xfrm>
            <a:off x="4081145" y="3020060"/>
            <a:ext cx="7219315" cy="2228850"/>
          </a:xfrm>
          <a:prstGeom prst="bentConnector2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2" name="矩形 91"/>
          <p:cNvSpPr/>
          <p:nvPr/>
        </p:nvSpPr>
        <p:spPr>
          <a:xfrm>
            <a:off x="5196840" y="3596005"/>
            <a:ext cx="989330" cy="39560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l"/>
            <a:r>
              <a:rPr lang="zh-CN" sz="1200"/>
              <a:t>半成品堆放区</a:t>
            </a:r>
            <a:endParaRPr lang="zh-CN" sz="1200"/>
          </a:p>
        </p:txBody>
      </p:sp>
      <p:cxnSp>
        <p:nvCxnSpPr>
          <p:cNvPr id="93" name="直接箭头连接符 92"/>
          <p:cNvCxnSpPr>
            <a:stCxn id="66" idx="3"/>
            <a:endCxn id="92" idx="1"/>
          </p:cNvCxnSpPr>
          <p:nvPr/>
        </p:nvCxnSpPr>
        <p:spPr>
          <a:xfrm>
            <a:off x="4065905" y="3794125"/>
            <a:ext cx="1130935" cy="0"/>
          </a:xfrm>
          <a:prstGeom prst="straightConnector1">
            <a:avLst/>
          </a:prstGeom>
          <a:ln>
            <a:solidFill>
              <a:schemeClr val="tx2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4" name="直接箭头连接符 93"/>
          <p:cNvCxnSpPr>
            <a:stCxn id="79" idx="0"/>
            <a:endCxn id="92" idx="2"/>
          </p:cNvCxnSpPr>
          <p:nvPr/>
        </p:nvCxnSpPr>
        <p:spPr>
          <a:xfrm flipV="1">
            <a:off x="5171440" y="3991610"/>
            <a:ext cx="520065" cy="410845"/>
          </a:xfrm>
          <a:prstGeom prst="straightConnector1">
            <a:avLst/>
          </a:prstGeom>
          <a:ln>
            <a:solidFill>
              <a:schemeClr val="tx2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5" name="肘形连接符 94"/>
          <p:cNvCxnSpPr>
            <a:stCxn id="92" idx="3"/>
            <a:endCxn id="83" idx="0"/>
          </p:cNvCxnSpPr>
          <p:nvPr/>
        </p:nvCxnSpPr>
        <p:spPr>
          <a:xfrm>
            <a:off x="6186170" y="3794125"/>
            <a:ext cx="258445" cy="608330"/>
          </a:xfrm>
          <a:prstGeom prst="bentConnector2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7" name="矩形 96"/>
          <p:cNvSpPr/>
          <p:nvPr/>
        </p:nvSpPr>
        <p:spPr>
          <a:xfrm>
            <a:off x="4234815" y="5248910"/>
            <a:ext cx="936625" cy="395605"/>
          </a:xfrm>
          <a:prstGeom prst="rect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l"/>
            <a:r>
              <a:rPr lang="zh-CN" sz="1400"/>
              <a:t>热浸锌</a:t>
            </a:r>
            <a:endParaRPr lang="zh-CN" sz="1400"/>
          </a:p>
        </p:txBody>
      </p:sp>
      <p:cxnSp>
        <p:nvCxnSpPr>
          <p:cNvPr id="98" name="直接箭头连接符 97"/>
          <p:cNvCxnSpPr>
            <a:endCxn id="97" idx="1"/>
          </p:cNvCxnSpPr>
          <p:nvPr/>
        </p:nvCxnSpPr>
        <p:spPr>
          <a:xfrm>
            <a:off x="3878580" y="5447030"/>
            <a:ext cx="356235" cy="0"/>
          </a:xfrm>
          <a:prstGeom prst="straightConnector1">
            <a:avLst/>
          </a:prstGeom>
          <a:ln>
            <a:solidFill>
              <a:schemeClr val="tx2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9" name="肘形连接符 98"/>
          <p:cNvCxnSpPr>
            <a:stCxn id="89" idx="3"/>
            <a:endCxn id="82" idx="0"/>
          </p:cNvCxnSpPr>
          <p:nvPr/>
        </p:nvCxnSpPr>
        <p:spPr>
          <a:xfrm>
            <a:off x="9540875" y="4600575"/>
            <a:ext cx="1759585" cy="648335"/>
          </a:xfrm>
          <a:prstGeom prst="bentConnector2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0" name="直接箭头连接符 99"/>
          <p:cNvCxnSpPr>
            <a:stCxn id="97" idx="3"/>
            <a:endCxn id="82" idx="1"/>
          </p:cNvCxnSpPr>
          <p:nvPr/>
        </p:nvCxnSpPr>
        <p:spPr>
          <a:xfrm>
            <a:off x="5171440" y="5447030"/>
            <a:ext cx="5634355" cy="0"/>
          </a:xfrm>
          <a:prstGeom prst="straightConnector1">
            <a:avLst/>
          </a:prstGeom>
          <a:ln>
            <a:solidFill>
              <a:schemeClr val="tx2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1" name="直接箭头连接符 100"/>
          <p:cNvCxnSpPr>
            <a:stCxn id="82" idx="2"/>
            <a:endCxn id="9" idx="0"/>
          </p:cNvCxnSpPr>
          <p:nvPr/>
        </p:nvCxnSpPr>
        <p:spPr>
          <a:xfrm flipH="1">
            <a:off x="11299825" y="5644515"/>
            <a:ext cx="635" cy="238125"/>
          </a:xfrm>
          <a:prstGeom prst="straightConnector1">
            <a:avLst/>
          </a:prstGeom>
          <a:ln>
            <a:solidFill>
              <a:schemeClr val="tx2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2" name="矩形 101"/>
          <p:cNvSpPr/>
          <p:nvPr/>
        </p:nvSpPr>
        <p:spPr>
          <a:xfrm>
            <a:off x="9540875" y="6369050"/>
            <a:ext cx="1123950" cy="395605"/>
          </a:xfrm>
          <a:prstGeom prst="rect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l"/>
            <a:r>
              <a:rPr lang="zh-CN" sz="1400">
                <a:solidFill>
                  <a:srgbClr val="0070C0"/>
                </a:solidFill>
              </a:rPr>
              <a:t>螺栓、螺母</a:t>
            </a:r>
            <a:endParaRPr lang="zh-CN" sz="1400">
              <a:solidFill>
                <a:srgbClr val="0070C0"/>
              </a:solidFill>
            </a:endParaRPr>
          </a:p>
        </p:txBody>
      </p:sp>
      <p:cxnSp>
        <p:nvCxnSpPr>
          <p:cNvPr id="103" name="肘形连接符 102"/>
          <p:cNvCxnSpPr>
            <a:stCxn id="102" idx="3"/>
            <a:endCxn id="9" idx="2"/>
          </p:cNvCxnSpPr>
          <p:nvPr/>
        </p:nvCxnSpPr>
        <p:spPr>
          <a:xfrm flipV="1">
            <a:off x="10664825" y="6278245"/>
            <a:ext cx="635000" cy="288925"/>
          </a:xfrm>
          <a:prstGeom prst="bentConnector2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4" name="圆角矩形 103"/>
          <p:cNvSpPr/>
          <p:nvPr/>
        </p:nvSpPr>
        <p:spPr>
          <a:xfrm>
            <a:off x="2138680" y="2456180"/>
            <a:ext cx="1522730" cy="286385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solidFill>
                  <a:schemeClr val="tx2"/>
                </a:solidFill>
              </a:rPr>
              <a:t>光纤激光切割机</a:t>
            </a:r>
            <a:endParaRPr lang="zh-CN" altLang="en-US" sz="1200">
              <a:solidFill>
                <a:schemeClr val="tx2"/>
              </a:solidFill>
            </a:endParaRPr>
          </a:p>
        </p:txBody>
      </p:sp>
      <p:sp>
        <p:nvSpPr>
          <p:cNvPr id="105" name="矩形 104"/>
          <p:cNvSpPr/>
          <p:nvPr/>
        </p:nvSpPr>
        <p:spPr>
          <a:xfrm>
            <a:off x="4438015" y="1989455"/>
            <a:ext cx="989330" cy="395605"/>
          </a:xfrm>
          <a:prstGeom prst="rect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l"/>
            <a:r>
              <a:rPr lang="zh-CN" sz="1400"/>
              <a:t>套筒焊接</a:t>
            </a:r>
            <a:endParaRPr lang="zh-CN" sz="1400"/>
          </a:p>
        </p:txBody>
      </p:sp>
      <p:cxnSp>
        <p:nvCxnSpPr>
          <p:cNvPr id="106" name="直接箭头连接符 105"/>
          <p:cNvCxnSpPr>
            <a:stCxn id="47" idx="3"/>
            <a:endCxn id="105" idx="1"/>
          </p:cNvCxnSpPr>
          <p:nvPr/>
        </p:nvCxnSpPr>
        <p:spPr>
          <a:xfrm>
            <a:off x="3442970" y="2187575"/>
            <a:ext cx="995045" cy="0"/>
          </a:xfrm>
          <a:prstGeom prst="straightConnector1">
            <a:avLst/>
          </a:prstGeom>
          <a:ln>
            <a:solidFill>
              <a:schemeClr val="tx2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8" name="肘形连接符 17"/>
          <p:cNvCxnSpPr>
            <a:stCxn id="92" idx="3"/>
            <a:endCxn id="82" idx="0"/>
          </p:cNvCxnSpPr>
          <p:nvPr/>
        </p:nvCxnSpPr>
        <p:spPr>
          <a:xfrm>
            <a:off x="6186170" y="3794125"/>
            <a:ext cx="5114290" cy="1454785"/>
          </a:xfrm>
          <a:prstGeom prst="bentConnector2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0" y="0"/>
            <a:ext cx="299085" cy="97536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1892915" y="5882640"/>
            <a:ext cx="299085" cy="97536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408940" y="257810"/>
            <a:ext cx="29324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zh-CN" sz="240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01.PPM</a:t>
            </a:r>
            <a:r>
              <a:rPr lang="zh-CN" altLang="en-US" sz="240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任务分类</a:t>
            </a:r>
            <a:endParaRPr lang="zh-CN" altLang="en-US" sz="2400">
              <a:solidFill>
                <a:schemeClr val="accent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044575" y="975360"/>
            <a:ext cx="8674100" cy="52685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457200">
              <a:lnSpc>
                <a:spcPct val="170000"/>
              </a:lnSpc>
            </a:pPr>
            <a:r>
              <a:rPr lang="en-US" altLang="zh-CN"/>
              <a:t>PPM</a:t>
            </a:r>
            <a:r>
              <a:rPr lang="zh-CN" altLang="en-US"/>
              <a:t>的任务主要包括三个：</a:t>
            </a:r>
            <a:endParaRPr lang="zh-CN" altLang="en-US"/>
          </a:p>
          <a:p>
            <a:pPr indent="457200">
              <a:lnSpc>
                <a:spcPct val="170000"/>
              </a:lnSpc>
            </a:pPr>
            <a:r>
              <a:rPr lang="en-US" altLang="zh-CN" strike="sngStrike">
                <a:solidFill>
                  <a:schemeClr val="tx1">
                    <a:lumMod val="50000"/>
                    <a:lumOff val="50000"/>
                  </a:schemeClr>
                </a:solidFill>
              </a:rPr>
              <a:t>1. </a:t>
            </a:r>
            <a:r>
              <a:rPr lang="zh-CN" altLang="en-US" strike="sngStrike">
                <a:solidFill>
                  <a:schemeClr val="tx1">
                    <a:lumMod val="50000"/>
                    <a:lumOff val="50000"/>
                  </a:schemeClr>
                </a:solidFill>
              </a:rPr>
              <a:t>剩余时间预测</a:t>
            </a:r>
            <a:r>
              <a:rPr lang="en-US" altLang="zh-CN" strike="sngStrike">
                <a:solidFill>
                  <a:schemeClr val="tx1">
                    <a:lumMod val="50000"/>
                    <a:lumOff val="50000"/>
                  </a:schemeClr>
                </a:solidFill>
              </a:rPr>
              <a:t>(remaining time prediction) </a:t>
            </a:r>
            <a:endParaRPr lang="en-US" altLang="zh-CN" strike="sngStrike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indent="457200">
              <a:lnSpc>
                <a:spcPct val="170000"/>
              </a:lnSpc>
            </a:pPr>
            <a:r>
              <a:rPr lang="en-US" altLang="zh-CN"/>
              <a:t>2. </a:t>
            </a:r>
            <a:r>
              <a:rPr lang="zh-CN" altLang="en-US">
                <a:highlight>
                  <a:srgbClr val="FFFF00"/>
                </a:highlight>
                <a:sym typeface="+mn-ea"/>
              </a:rPr>
              <a:t>结果预测</a:t>
            </a:r>
            <a:r>
              <a:rPr lang="en-US" altLang="zh-CN">
                <a:highlight>
                  <a:srgbClr val="FFFF00"/>
                </a:highlight>
                <a:sym typeface="+mn-ea"/>
              </a:rPr>
              <a:t>(</a:t>
            </a:r>
            <a:r>
              <a:rPr lang="en-US" altLang="zh-CN">
                <a:highlight>
                  <a:srgbClr val="FFFF00"/>
                </a:highlight>
              </a:rPr>
              <a:t>outcome pediction)</a:t>
            </a:r>
            <a:r>
              <a:rPr lang="zh-CN" altLang="en-US"/>
              <a:t>，基于生产数据的异常检测和风险预警</a:t>
            </a:r>
            <a:r>
              <a:rPr lang="en-US" altLang="zh-CN"/>
              <a:t>(risk alarm)</a:t>
            </a:r>
            <a:r>
              <a:rPr lang="zh-CN" altLang="en-US"/>
              <a:t>，这个任务初期为序列</a:t>
            </a:r>
            <a:r>
              <a:rPr lang="en-US" altLang="zh-CN"/>
              <a:t>→</a:t>
            </a:r>
            <a:r>
              <a:rPr lang="zh-CN" altLang="en-US"/>
              <a:t>标签的二元分类任务，单纯预测结果为产品合格</a:t>
            </a:r>
            <a:r>
              <a:rPr lang="en-US" altLang="zh-CN"/>
              <a:t>/</a:t>
            </a:r>
            <a:r>
              <a:rPr lang="zh-CN" altLang="en-US"/>
              <a:t>不合格，订单超时</a:t>
            </a:r>
            <a:r>
              <a:rPr lang="en-US" altLang="zh-CN"/>
              <a:t>/</a:t>
            </a:r>
            <a:r>
              <a:rPr lang="zh-CN" altLang="en-US"/>
              <a:t>按时完成。</a:t>
            </a:r>
            <a:endParaRPr lang="zh-CN" altLang="en-US"/>
          </a:p>
          <a:p>
            <a:pPr indent="457200">
              <a:lnSpc>
                <a:spcPct val="170000"/>
              </a:lnSpc>
            </a:pPr>
            <a:r>
              <a:rPr lang="zh-CN" altLang="en-US"/>
              <a:t>目前已经有通过</a:t>
            </a:r>
            <a:r>
              <a:rPr lang="zh-CN" altLang="en-US">
                <a:highlight>
                  <a:srgbClr val="FFFF00"/>
                </a:highlight>
              </a:rPr>
              <a:t>可解释性大模型</a:t>
            </a:r>
            <a:r>
              <a:rPr lang="zh-CN" altLang="en-US"/>
              <a:t>的方法来进行</a:t>
            </a:r>
            <a:r>
              <a:rPr lang="zh-CN" altLang="en-US">
                <a:highlight>
                  <a:srgbClr val="FFFF00"/>
                </a:highlight>
              </a:rPr>
              <a:t>更细粒度的动态的产线瓶颈预测</a:t>
            </a:r>
            <a:r>
              <a:rPr lang="zh-CN" altLang="en-US"/>
              <a:t>，可以发现：</a:t>
            </a:r>
            <a:endParaRPr lang="zh-CN" altLang="en-US"/>
          </a:p>
          <a:p>
            <a:pPr marL="1200150" lvl="2" indent="-285750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zh-CN" altLang="en-US"/>
              <a:t>哪些活动组合或设备状态常导致延误或不合格</a:t>
            </a:r>
            <a:endParaRPr lang="zh-CN" altLang="en-US"/>
          </a:p>
          <a:p>
            <a:pPr marL="1200150" lvl="2" indent="-285750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zh-CN" altLang="en-US"/>
              <a:t>未来</a:t>
            </a:r>
            <a:r>
              <a:rPr lang="en-US" altLang="zh-CN"/>
              <a:t>x</a:t>
            </a:r>
            <a:r>
              <a:rPr lang="zh-CN" altLang="en-US"/>
              <a:t>分钟内，工位</a:t>
            </a:r>
            <a:r>
              <a:rPr lang="en-US" altLang="zh-CN"/>
              <a:t>x</a:t>
            </a:r>
            <a:r>
              <a:rPr lang="zh-CN"/>
              <a:t>有</a:t>
            </a:r>
            <a:r>
              <a:rPr lang="en-US" altLang="zh-CN"/>
              <a:t>x%</a:t>
            </a:r>
            <a:r>
              <a:rPr lang="zh-CN" altLang="en-US"/>
              <a:t>的概率出现阻塞</a:t>
            </a:r>
            <a:endParaRPr lang="zh-CN" altLang="en-US"/>
          </a:p>
          <a:p>
            <a:pPr indent="457200">
              <a:lnSpc>
                <a:spcPct val="170000"/>
              </a:lnSpc>
            </a:pPr>
            <a:r>
              <a:rPr lang="en-US" altLang="zh-CN">
                <a:solidFill>
                  <a:schemeClr val="tx1">
                    <a:lumMod val="50000"/>
                    <a:lumOff val="50000"/>
                  </a:schemeClr>
                </a:solidFill>
              </a:rPr>
              <a:t>3. </a:t>
            </a:r>
            <a:r>
              <a:rPr lang="zh-CN" altLang="en-US">
                <a:solidFill>
                  <a:schemeClr val="tx1">
                    <a:lumMod val="50000"/>
                    <a:lumOff val="50000"/>
                  </a:schemeClr>
                </a:solidFill>
                <a:sym typeface="+mn-ea"/>
              </a:rPr>
              <a:t>下一活动预测</a:t>
            </a:r>
            <a:r>
              <a:rPr lang="en-US" altLang="zh-CN">
                <a:solidFill>
                  <a:schemeClr val="tx1">
                    <a:lumMod val="50000"/>
                    <a:lumOff val="50000"/>
                  </a:schemeClr>
                </a:solidFill>
                <a:sym typeface="+mn-ea"/>
              </a:rPr>
              <a:t>(</a:t>
            </a:r>
            <a:r>
              <a:rPr lang="en-US" altLang="zh-CN">
                <a:solidFill>
                  <a:schemeClr val="tx1">
                    <a:lumMod val="50000"/>
                    <a:lumOff val="50000"/>
                  </a:schemeClr>
                </a:solidFill>
              </a:rPr>
              <a:t>next event prediction)</a:t>
            </a:r>
            <a:r>
              <a:rPr lang="zh-CN" altLang="en-US">
                <a:solidFill>
                  <a:schemeClr val="tx1">
                    <a:lumMod val="50000"/>
                    <a:lumOff val="50000"/>
                  </a:schemeClr>
                </a:solidFill>
              </a:rPr>
              <a:t>，</a:t>
            </a:r>
            <a:r>
              <a:rPr lang="zh-CN" altLang="en-US" b="1">
                <a:solidFill>
                  <a:schemeClr val="tx1">
                    <a:lumMod val="50000"/>
                    <a:lumOff val="50000"/>
                  </a:schemeClr>
                </a:solidFill>
              </a:rPr>
              <a:t>在制造业里不适用</a:t>
            </a:r>
            <a:r>
              <a:rPr lang="zh-CN" altLang="en-US">
                <a:solidFill>
                  <a:schemeClr val="tx1">
                    <a:lumMod val="50000"/>
                    <a:lumOff val="50000"/>
                  </a:schemeClr>
                </a:solidFill>
              </a:rPr>
              <a:t>，因为制造业的工艺流程一般是固定的，不涉及条件分支之类的灵活流程</a:t>
            </a:r>
            <a:endParaRPr lang="zh-CN" alt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" name="椭圆 2"/>
          <p:cNvSpPr/>
          <p:nvPr/>
        </p:nvSpPr>
        <p:spPr>
          <a:xfrm>
            <a:off x="7086600" y="121285"/>
            <a:ext cx="4495800" cy="1891665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7264400" y="88265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PPM</a:t>
            </a:r>
            <a:endParaRPr lang="en-US" altLang="zh-CN"/>
          </a:p>
        </p:txBody>
      </p:sp>
      <p:sp>
        <p:nvSpPr>
          <p:cNvPr id="7" name="椭圆 6"/>
          <p:cNvSpPr/>
          <p:nvPr/>
        </p:nvSpPr>
        <p:spPr>
          <a:xfrm>
            <a:off x="8108950" y="258445"/>
            <a:ext cx="3219450" cy="1659890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8343900" y="60706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结果预测</a:t>
            </a:r>
            <a:endParaRPr lang="zh-CN" altLang="en-US"/>
          </a:p>
        </p:txBody>
      </p:sp>
      <p:sp>
        <p:nvSpPr>
          <p:cNvPr id="9" name="椭圆 8"/>
          <p:cNvSpPr/>
          <p:nvPr/>
        </p:nvSpPr>
        <p:spPr>
          <a:xfrm>
            <a:off x="8895715" y="889635"/>
            <a:ext cx="2165985" cy="80645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9264650" y="110871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动态瓶颈预测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0" y="0"/>
            <a:ext cx="299085" cy="97536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1892915" y="5882640"/>
            <a:ext cx="299085" cy="97536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408940" y="257810"/>
            <a:ext cx="91478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zh-CN" sz="240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02.</a:t>
            </a:r>
            <a:r>
              <a:rPr lang="zh-CN" altLang="en-US" sz="240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动态瓶颈预测</a:t>
            </a:r>
            <a:r>
              <a:rPr lang="en-US" altLang="zh-CN" sz="240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400">
                <a:solidFill>
                  <a:schemeClr val="accent1">
                    <a:lumMod val="50000"/>
                  </a:schemeClr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dynamic bottleneck prediction</a:t>
            </a:r>
            <a:r>
              <a:rPr lang="en-US" altLang="zh-CN" sz="240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lang="zh-CN" altLang="en-US" sz="240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研究背景</a:t>
            </a:r>
            <a:endParaRPr lang="zh-CN" altLang="en-US" sz="2400">
              <a:solidFill>
                <a:schemeClr val="accent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044575" y="1122680"/>
            <a:ext cx="8674100" cy="46615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457200">
              <a:lnSpc>
                <a:spcPct val="150000"/>
              </a:lnSpc>
            </a:pPr>
            <a:r>
              <a:rPr lang="zh-CN" altLang="en-US"/>
              <a:t>首先需要明确</a:t>
            </a:r>
            <a:r>
              <a:rPr lang="en-US" altLang="zh-CN"/>
              <a:t>“</a:t>
            </a:r>
            <a:r>
              <a:rPr lang="zh-CN" altLang="en-US"/>
              <a:t>瓶颈</a:t>
            </a:r>
            <a:r>
              <a:rPr lang="en-US" altLang="zh-CN"/>
              <a:t>”</a:t>
            </a:r>
            <a:r>
              <a:rPr lang="zh-CN" altLang="en-US"/>
              <a:t>的</a:t>
            </a:r>
            <a:r>
              <a:rPr lang="zh-CN" altLang="en-US" b="1"/>
              <a:t>概念</a:t>
            </a:r>
            <a:r>
              <a:rPr lang="zh-CN" altLang="en-US"/>
              <a:t>，瓶颈（</a:t>
            </a:r>
            <a:r>
              <a:rPr lang="en-US" altLang="zh-CN"/>
              <a:t>Bottleneck</a:t>
            </a:r>
            <a:r>
              <a:rPr lang="zh-CN" altLang="en-US"/>
              <a:t>）是在任一时刻限制系统整体吞吐量（</a:t>
            </a:r>
            <a:r>
              <a:rPr lang="en-US" altLang="zh-CN"/>
              <a:t>Throughput</a:t>
            </a:r>
            <a:r>
              <a:rPr lang="zh-CN" altLang="en-US"/>
              <a:t>）的资源或工序，通常表现为：</a:t>
            </a:r>
            <a:endParaRPr lang="en-US" altLang="zh-CN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/>
              <a:t>加工速率（</a:t>
            </a:r>
            <a:r>
              <a:rPr lang="en-US" altLang="zh-CN"/>
              <a:t>Processing rate</a:t>
            </a:r>
            <a:r>
              <a:rPr lang="zh-CN" altLang="en-US"/>
              <a:t>）低于相邻工位；</a:t>
            </a:r>
            <a:endParaRPr lang="en-US" altLang="zh-CN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/>
              <a:t>在制品在该工位前积压；</a:t>
            </a:r>
            <a:endParaRPr lang="zh-CN" altLang="en-US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/>
              <a:t>该工位利用率接近或超过</a:t>
            </a:r>
            <a:r>
              <a:rPr lang="en-US" altLang="zh-CN"/>
              <a:t> 90%</a:t>
            </a:r>
            <a:r>
              <a:rPr lang="zh-CN" altLang="en-US"/>
              <a:t>。</a:t>
            </a:r>
            <a:endParaRPr lang="zh-CN" altLang="en-US"/>
          </a:p>
          <a:p>
            <a:pPr indent="457200">
              <a:lnSpc>
                <a:spcPct val="150000"/>
              </a:lnSpc>
            </a:pPr>
            <a:r>
              <a:rPr lang="zh-CN" altLang="en-US"/>
              <a:t>这意味着瓶颈不是固定位置，而是</a:t>
            </a:r>
            <a:r>
              <a:rPr lang="zh-CN" altLang="en-US">
                <a:highlight>
                  <a:srgbClr val="FFFF00"/>
                </a:highlight>
              </a:rPr>
              <a:t>动态迁移的系统属性</a:t>
            </a:r>
            <a:r>
              <a:rPr lang="zh-CN" altLang="en-US"/>
              <a:t>，每个时刻都可能有变化</a:t>
            </a:r>
            <a:endParaRPr lang="zh-CN" altLang="en-US"/>
          </a:p>
          <a:p>
            <a:pPr indent="457200">
              <a:lnSpc>
                <a:spcPct val="150000"/>
              </a:lnSpc>
            </a:pPr>
            <a:endParaRPr lang="zh-CN" altLang="en-US"/>
          </a:p>
          <a:p>
            <a:pPr indent="457200">
              <a:lnSpc>
                <a:spcPct val="150000"/>
              </a:lnSpc>
            </a:pPr>
            <a:r>
              <a:rPr lang="zh-CN" altLang="en-US"/>
              <a:t>瓶颈的</a:t>
            </a:r>
            <a:r>
              <a:rPr lang="zh-CN" altLang="en-US" b="1"/>
              <a:t>成因</a:t>
            </a:r>
            <a:r>
              <a:rPr lang="zh-CN" altLang="en-US"/>
              <a:t>有三方面：</a:t>
            </a:r>
            <a:endParaRPr lang="zh-CN" altLang="en-US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/>
              <a:t>结构性因素：工人</a:t>
            </a:r>
            <a:r>
              <a:rPr lang="en-US" altLang="zh-CN"/>
              <a:t>/</a:t>
            </a:r>
            <a:r>
              <a:rPr lang="zh-CN" altLang="en-US"/>
              <a:t>设备能力不均、布局与缓冲区容量不匹配</a:t>
            </a:r>
            <a:endParaRPr lang="zh-CN" altLang="en-US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/>
              <a:t>动态运行因素：产品组合变化、机器随机故障、人员迟滞、能耗或生产物料约束</a:t>
            </a:r>
            <a:endParaRPr lang="zh-CN" altLang="en-US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/>
              <a:t>管理与信息因素：调度滞后、监控信息延迟、人员未及时干预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0" y="0"/>
            <a:ext cx="299085" cy="97536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1892915" y="5882640"/>
            <a:ext cx="299085" cy="97536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408940" y="257810"/>
            <a:ext cx="91478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zh-CN" sz="240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02.</a:t>
            </a:r>
            <a:r>
              <a:rPr lang="zh-CN" altLang="en-US" sz="240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动态瓶颈预测</a:t>
            </a:r>
            <a:r>
              <a:rPr lang="en-US" altLang="zh-CN" sz="240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400">
                <a:solidFill>
                  <a:schemeClr val="accent1">
                    <a:lumMod val="50000"/>
                  </a:schemeClr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dynamic bottleneck prediction</a:t>
            </a:r>
            <a:r>
              <a:rPr lang="en-US" altLang="zh-CN" sz="240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lang="zh-CN" altLang="en-US" sz="240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研究意义</a:t>
            </a:r>
            <a:endParaRPr lang="zh-CN" altLang="en-US" sz="2400">
              <a:solidFill>
                <a:schemeClr val="accent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044575" y="975360"/>
            <a:ext cx="8674100" cy="1337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457200">
              <a:lnSpc>
                <a:spcPct val="150000"/>
              </a:lnSpc>
            </a:pPr>
            <a:r>
              <a:rPr lang="zh-CN" altLang="en-US"/>
              <a:t>当我们用大模型（如</a:t>
            </a:r>
            <a:r>
              <a:rPr lang="en-US" altLang="zh-CN"/>
              <a:t>GNN+GRU</a:t>
            </a:r>
            <a:r>
              <a:rPr lang="zh-CN" altLang="en-US"/>
              <a:t>、时空注意力网络）来学习动态瓶颈时，它要捕捉的不是一个或几个离散变量的异常，而是一种</a:t>
            </a:r>
            <a:r>
              <a:rPr lang="zh-CN" altLang="en-US">
                <a:highlight>
                  <a:srgbClr val="FFFF00"/>
                </a:highlight>
              </a:rPr>
              <a:t>行为模式</a:t>
            </a:r>
            <a:r>
              <a:rPr lang="zh-CN" altLang="en-US"/>
              <a:t>：什么样的行为序列组合会导致瓶颈的出现。</a:t>
            </a:r>
            <a:endParaRPr lang="zh-CN" altLang="en-US"/>
          </a:p>
        </p:txBody>
      </p:sp>
      <p:graphicFrame>
        <p:nvGraphicFramePr>
          <p:cNvPr id="3" name="表格 2"/>
          <p:cNvGraphicFramePr/>
          <p:nvPr>
            <p:custDataLst>
              <p:tags r:id="rId1"/>
            </p:custDataLst>
          </p:nvPr>
        </p:nvGraphicFramePr>
        <p:xfrm>
          <a:off x="1045210" y="2537460"/>
          <a:ext cx="9222740" cy="3796030"/>
        </p:xfrm>
        <a:graphic>
          <a:graphicData uri="http://schemas.openxmlformats.org/drawingml/2006/table">
            <a:tbl>
              <a:tblPr firstRow="1">
                <a:tableStyleId>{7227A9F7-67A7-4936-831B-3F443564F0C6}</a:tableStyleId>
              </a:tblPr>
              <a:tblGrid>
                <a:gridCol w="1441450"/>
                <a:gridCol w="5244465"/>
                <a:gridCol w="2536825"/>
              </a:tblGrid>
              <a:tr h="684530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zh-CN" altLang="en-US" sz="1800" spc="130"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层次</a:t>
                      </a:r>
                      <a:endParaRPr lang="zh-CN" altLang="en-US" sz="1800" spc="130"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marL="254000" marR="254000" marT="177800" marB="177800" anchor="ctr" anchorCtr="0"/>
                </a:tc>
                <a:tc>
                  <a:txBody>
                    <a:bodyPr/>
                    <a:p>
                      <a:pPr algn="l">
                        <a:lnSpc>
                          <a:spcPct val="120000"/>
                        </a:lnSpc>
                      </a:pPr>
                      <a:r>
                        <a:rPr lang="zh-CN" altLang="en-US" sz="1800" spc="130"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模型学习内容</a:t>
                      </a:r>
                      <a:endParaRPr lang="zh-CN" altLang="en-US" sz="1800" spc="130"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marL="254000" marR="254000" marT="177800" marB="177800" anchor="ctr" anchorCtr="0"/>
                </a:tc>
                <a:tc>
                  <a:txBody>
                    <a:bodyPr/>
                    <a:p>
                      <a:pPr algn="l">
                        <a:lnSpc>
                          <a:spcPct val="120000"/>
                        </a:lnSpc>
                      </a:pPr>
                      <a:r>
                        <a:rPr lang="zh-CN" altLang="en-US" sz="1800" spc="130"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现象举例</a:t>
                      </a:r>
                      <a:endParaRPr lang="zh-CN" altLang="en-US" sz="1800" spc="130"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marL="254000" marR="254000" marT="177800" marB="177800" anchor="ctr" anchorCtr="0"/>
                </a:tc>
              </a:tr>
              <a:tr h="939800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zh-CN" altLang="en-US" sz="1600"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时间维度</a:t>
                      </a:r>
                      <a:endParaRPr lang="zh-CN" altLang="en-US" sz="1600"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marL="254000" marR="254000" marT="177800" marB="177800" anchor="ctr" anchorCtr="0"/>
                </a:tc>
                <a:tc>
                  <a:txBody>
                    <a:bodyPr/>
                    <a:p>
                      <a:pPr algn="l">
                        <a:lnSpc>
                          <a:spcPct val="120000"/>
                        </a:lnSpc>
                      </a:pPr>
                      <a:r>
                        <a:rPr lang="zh-CN" altLang="en-US" sz="1600"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学习不同工位特征随时间的变化轨迹（节拍、利用率、等待时间）</a:t>
                      </a:r>
                      <a:endParaRPr lang="zh-CN" altLang="en-US" sz="1600"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marL="254000" marR="254000" marT="177800" marB="177800" anchor="ctr" anchorCtr="0"/>
                </a:tc>
                <a:tc>
                  <a:txBody>
                    <a:bodyPr/>
                    <a:p>
                      <a:pPr algn="l">
                        <a:lnSpc>
                          <a:spcPct val="120000"/>
                        </a:lnSpc>
                      </a:pPr>
                      <a:r>
                        <a:rPr lang="zh-CN" altLang="en-US" sz="1600"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“某工位在某时间段开始表现出负荷积累”</a:t>
                      </a:r>
                      <a:endParaRPr lang="zh-CN" altLang="en-US" sz="1600"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marL="254000" marR="254000" marT="177800" marB="177800" anchor="ctr" anchorCtr="0"/>
                </a:tc>
              </a:tr>
              <a:tr h="939800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zh-CN" altLang="en-US" sz="1600"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空间维度</a:t>
                      </a:r>
                      <a:endParaRPr lang="zh-CN" altLang="en-US" sz="1600"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marL="254000" marR="254000" marT="177800" marB="177800" anchor="ctr" anchorCtr="0"/>
                </a:tc>
                <a:tc>
                  <a:txBody>
                    <a:bodyPr/>
                    <a:p>
                      <a:pPr algn="l">
                        <a:lnSpc>
                          <a:spcPct val="120000"/>
                        </a:lnSpc>
                      </a:pPr>
                      <a:r>
                        <a:rPr lang="zh-CN" altLang="en-US" sz="1600"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学习工位之间的依赖与反馈（如缓冲区、物料流）</a:t>
                      </a:r>
                      <a:endParaRPr lang="zh-CN" altLang="en-US" sz="1600"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marL="254000" marR="254000" marT="177800" marB="177800" anchor="ctr" anchorCtr="0"/>
                </a:tc>
                <a:tc>
                  <a:txBody>
                    <a:bodyPr/>
                    <a:p>
                      <a:pPr algn="l">
                        <a:lnSpc>
                          <a:spcPct val="120000"/>
                        </a:lnSpc>
                      </a:pPr>
                      <a:r>
                        <a:rPr lang="zh-CN" altLang="en-US" sz="1600"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“上游故障如何传播到下游导致延迟”</a:t>
                      </a:r>
                      <a:endParaRPr lang="zh-CN" altLang="en-US" sz="1600"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marL="254000" marR="254000" marT="177800" marB="177800" anchor="ctr" anchorCtr="0"/>
                </a:tc>
              </a:tr>
              <a:tr h="1231900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zh-CN" altLang="en-US" sz="1600"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模式层</a:t>
                      </a:r>
                      <a:endParaRPr lang="zh-CN" altLang="en-US" sz="1600"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marL="254000" marR="254000" marT="177800" marB="177800" anchor="ctr" anchorCtr="0"/>
                </a:tc>
                <a:tc>
                  <a:txBody>
                    <a:bodyPr/>
                    <a:p>
                      <a:pPr algn="l">
                        <a:lnSpc>
                          <a:spcPct val="120000"/>
                        </a:lnSpc>
                      </a:pPr>
                      <a:r>
                        <a:rPr lang="zh-CN" altLang="en-US" sz="1600"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识别跨时间和空间的“共现模式”</a:t>
                      </a:r>
                      <a:r>
                        <a:rPr lang="en-US" altLang="zh-CN" sz="1600"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——</a:t>
                      </a:r>
                      <a:r>
                        <a:rPr lang="zh-CN" altLang="en-US" sz="1600"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即哪些行为组合经常伴随瓶颈出现</a:t>
                      </a:r>
                      <a:endParaRPr lang="zh-CN" altLang="en-US" sz="1600"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marL="254000" marR="254000" marT="177800" marB="177800" anchor="ctr" anchorCtr="0"/>
                </a:tc>
                <a:tc>
                  <a:txBody>
                    <a:bodyPr/>
                    <a:p>
                      <a:pPr algn="l">
                        <a:lnSpc>
                          <a:spcPct val="120000"/>
                        </a:lnSpc>
                      </a:pPr>
                      <a:r>
                        <a:rPr lang="en-US" altLang="zh-CN" sz="1600"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“A→B→C </a:t>
                      </a:r>
                      <a:r>
                        <a:rPr lang="zh-CN" altLang="en-US" sz="1600"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这一序列的出现，高概率导致系统阻塞”</a:t>
                      </a:r>
                      <a:endParaRPr lang="zh-CN" altLang="en-US" sz="1600"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marL="254000" marR="254000" marT="177800" marB="177800" anchor="ctr" anchorCtr="0"/>
                </a:tc>
              </a:tr>
            </a:tbl>
          </a:graphicData>
        </a:graphic>
      </p:graphicFrame>
    </p:spTree>
    <p:custDataLst>
      <p:tags r:id="rId2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0" y="0"/>
            <a:ext cx="299085" cy="97536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1892915" y="5882640"/>
            <a:ext cx="299085" cy="97536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408940" y="257810"/>
            <a:ext cx="91478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zh-CN" sz="240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02.</a:t>
            </a:r>
            <a:r>
              <a:rPr lang="zh-CN" altLang="en-US" sz="240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动态瓶颈预测</a:t>
            </a:r>
            <a:r>
              <a:rPr lang="en-US" altLang="zh-CN" sz="240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400">
                <a:solidFill>
                  <a:schemeClr val="accent1">
                    <a:lumMod val="50000"/>
                  </a:schemeClr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dynamic bottleneck prediction</a:t>
            </a:r>
            <a:r>
              <a:rPr lang="en-US" altLang="zh-CN" sz="240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lang="zh-CN" altLang="en-US" sz="240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研究意义</a:t>
            </a:r>
            <a:endParaRPr lang="zh-CN" altLang="en-US" sz="2400">
              <a:solidFill>
                <a:schemeClr val="accent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044575" y="1122680"/>
            <a:ext cx="8674100" cy="3830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457200">
              <a:lnSpc>
                <a:spcPct val="150000"/>
              </a:lnSpc>
            </a:pPr>
            <a:r>
              <a:rPr lang="zh-CN" altLang="en-US"/>
              <a:t>模型不仅输出</a:t>
            </a:r>
            <a:r>
              <a:rPr lang="en-US" altLang="zh-CN"/>
              <a:t>“</a:t>
            </a:r>
            <a:r>
              <a:rPr lang="zh-CN" altLang="en-US">
                <a:highlight>
                  <a:srgbClr val="FFFF00"/>
                </a:highlight>
              </a:rPr>
              <a:t>哪个工位会在未来的</a:t>
            </a:r>
            <a:r>
              <a:rPr lang="en-US" altLang="zh-CN">
                <a:highlight>
                  <a:srgbClr val="FFFF00"/>
                </a:highlight>
              </a:rPr>
              <a:t>x</a:t>
            </a:r>
            <a:r>
              <a:rPr lang="zh-CN" altLang="en-US">
                <a:highlight>
                  <a:srgbClr val="FFFF00"/>
                </a:highlight>
              </a:rPr>
              <a:t>分钟出问题</a:t>
            </a:r>
            <a:r>
              <a:rPr lang="en-US" altLang="zh-CN"/>
              <a:t>”</a:t>
            </a:r>
            <a:r>
              <a:rPr lang="zh-CN" altLang="en-US"/>
              <a:t>，还给出阻塞的持续时间、能耗峰值、风险等级等参数，可直接驱动系统优化。</a:t>
            </a:r>
            <a:endParaRPr lang="zh-CN" altLang="en-US"/>
          </a:p>
          <a:p>
            <a:pPr indent="457200">
              <a:lnSpc>
                <a:spcPct val="150000"/>
              </a:lnSpc>
            </a:pPr>
            <a:endParaRPr lang="zh-CN" altLang="en-US"/>
          </a:p>
          <a:p>
            <a:pPr indent="457200">
              <a:lnSpc>
                <a:spcPct val="150000"/>
              </a:lnSpc>
            </a:pPr>
            <a:r>
              <a:rPr lang="zh-CN" altLang="en-US"/>
              <a:t>预测结果能直接用于：</a:t>
            </a:r>
            <a:endParaRPr lang="en-US" altLang="zh-CN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/>
              <a:t>提前分配人力与物料</a:t>
            </a:r>
            <a:endParaRPr lang="en-US" altLang="zh-CN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/>
              <a:t>优化生产流水线的排程</a:t>
            </a:r>
            <a:endParaRPr lang="zh-CN" altLang="en-US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/>
              <a:t>提前维护易出现瓶颈问题的设备</a:t>
            </a:r>
            <a:endParaRPr lang="zh-CN" altLang="en-US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/>
              <a:t>减少能源浪费</a:t>
            </a:r>
            <a:endParaRPr lang="zh-CN" altLang="en-US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/>
              <a:t>解释并可视化系统风险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0" y="0"/>
            <a:ext cx="299085" cy="97536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1892915" y="5882640"/>
            <a:ext cx="299085" cy="97536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408940" y="257810"/>
            <a:ext cx="91478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zh-CN" sz="240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03.</a:t>
            </a:r>
            <a:r>
              <a:rPr lang="zh-CN" altLang="en-US" sz="240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动态瓶颈预测结合</a:t>
            </a:r>
            <a:r>
              <a:rPr lang="zh-CN" sz="2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可解释性</a:t>
            </a:r>
            <a:r>
              <a:rPr lang="en-US" altLang="zh-CN" sz="2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AI(XAI)</a:t>
            </a:r>
            <a:r>
              <a:rPr lang="zh-CN" altLang="en-US" sz="240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的必要性</a:t>
            </a:r>
            <a:endParaRPr lang="zh-CN" altLang="en-US" sz="2400">
              <a:solidFill>
                <a:schemeClr val="accent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939165" y="2014855"/>
            <a:ext cx="10300970" cy="46615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457200">
              <a:lnSpc>
                <a:spcPct val="150000"/>
              </a:lnSpc>
            </a:pPr>
            <a:r>
              <a:rPr lang="zh-CN" altLang="en-US"/>
              <a:t>之前的研究只关注预测精度，而忽视了预测结果的可解释性（</a:t>
            </a:r>
            <a:r>
              <a:rPr lang="en-US" altLang="zh-CN"/>
              <a:t>Interpretability</a:t>
            </a:r>
            <a:r>
              <a:rPr lang="zh-CN" altLang="en-US"/>
              <a:t>）与可信度（</a:t>
            </a:r>
            <a:r>
              <a:rPr lang="en-US" altLang="zh-CN"/>
              <a:t>Faithfulness</a:t>
            </a:r>
            <a:r>
              <a:rPr lang="zh-CN" altLang="en-US"/>
              <a:t>），这导致模型虽能预测结果，却难以说明</a:t>
            </a:r>
            <a:r>
              <a:rPr lang="en-US" altLang="zh-CN"/>
              <a:t>“</a:t>
            </a:r>
            <a:r>
              <a:rPr lang="zh-CN" altLang="en-US"/>
              <a:t>为什么</a:t>
            </a:r>
            <a:r>
              <a:rPr lang="en-US" altLang="zh-CN"/>
              <a:t>”</a:t>
            </a:r>
            <a:r>
              <a:rPr lang="zh-CN" altLang="en-US"/>
              <a:t>或</a:t>
            </a:r>
            <a:r>
              <a:rPr lang="en-US" altLang="zh-CN"/>
              <a:t>“</a:t>
            </a:r>
            <a:r>
              <a:rPr lang="zh-CN" altLang="en-US"/>
              <a:t>如何</a:t>
            </a:r>
            <a:r>
              <a:rPr lang="en-US" altLang="zh-CN"/>
              <a:t>”</a:t>
            </a:r>
            <a:r>
              <a:rPr lang="zh-CN" altLang="en-US"/>
              <a:t>得出该结论，这样得出的结论并不足够指导决策者下一步的决策。</a:t>
            </a:r>
            <a:endParaRPr lang="zh-CN" altLang="en-US"/>
          </a:p>
          <a:p>
            <a:pPr indent="457200">
              <a:lnSpc>
                <a:spcPct val="150000"/>
              </a:lnSpc>
            </a:pPr>
            <a:endParaRPr lang="zh-CN" altLang="en-US"/>
          </a:p>
          <a:p>
            <a:pPr indent="457200">
              <a:lnSpc>
                <a:spcPct val="150000"/>
              </a:lnSpc>
            </a:pPr>
            <a:r>
              <a:rPr lang="zh-CN" altLang="en-US"/>
              <a:t>论文提出了模型的解释性度量体系，从事件、案例、控制流三维度定义解释指标：</a:t>
            </a:r>
            <a:endParaRPr lang="en-US" altLang="zh-CN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/>
              <a:t>Parsimony</a:t>
            </a:r>
            <a:r>
              <a:rPr lang="zh-CN" altLang="en-US"/>
              <a:t>（简约性）</a:t>
            </a:r>
            <a:endParaRPr lang="en-US" altLang="zh-CN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/>
              <a:t>Functional Complexity</a:t>
            </a:r>
            <a:r>
              <a:rPr lang="zh-CN" altLang="en-US"/>
              <a:t>（功能复杂度）</a:t>
            </a:r>
            <a:endParaRPr lang="en-US" altLang="zh-CN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/>
              <a:t>Importance Ranking Correlation</a:t>
            </a:r>
            <a:r>
              <a:rPr lang="zh-CN" altLang="en-US"/>
              <a:t>（特征一致性）</a:t>
            </a:r>
            <a:endParaRPr lang="en-US" altLang="zh-CN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b="1">
                <a:highlight>
                  <a:srgbClr val="FFFF00"/>
                </a:highlight>
              </a:rPr>
              <a:t>Level of Disagreement (LOD@10)</a:t>
            </a:r>
            <a:r>
              <a:rPr lang="zh-CN" altLang="en-US" b="1">
                <a:highlight>
                  <a:srgbClr val="FFFF00"/>
                </a:highlight>
              </a:rPr>
              <a:t>（前</a:t>
            </a:r>
            <a:r>
              <a:rPr lang="en-US" altLang="zh-CN" b="1">
                <a:highlight>
                  <a:srgbClr val="FFFF00"/>
                </a:highlight>
              </a:rPr>
              <a:t>10</a:t>
            </a:r>
            <a:r>
              <a:rPr lang="zh-CN" altLang="en-US" b="1">
                <a:highlight>
                  <a:srgbClr val="FFFF00"/>
                </a:highlight>
              </a:rPr>
              <a:t>重要特征解释差异）</a:t>
            </a:r>
            <a:endParaRPr lang="zh-CN" altLang="en-US" b="1">
              <a:highlight>
                <a:srgbClr val="FFFF00"/>
              </a:highlight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zh-CN" altLang="en-US" b="1"/>
          </a:p>
          <a:p>
            <a:pPr indent="45720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/>
              <a:t>该研究让动态瓶颈预测问题从黑盒模型转变为透明模型，可以为下一步决策提供参考的价值</a:t>
            </a:r>
            <a:endParaRPr lang="zh-CN" altLang="en-US"/>
          </a:p>
        </p:txBody>
      </p:sp>
      <p:sp>
        <p:nvSpPr>
          <p:cNvPr id="7" name="圆角矩形 6"/>
          <p:cNvSpPr/>
          <p:nvPr/>
        </p:nvSpPr>
        <p:spPr>
          <a:xfrm>
            <a:off x="939165" y="975360"/>
            <a:ext cx="10300335" cy="782320"/>
          </a:xfrm>
          <a:prstGeom prst="roundRect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indent="457200">
              <a:lnSpc>
                <a:spcPct val="150000"/>
              </a:lnSpc>
            </a:pPr>
            <a:r>
              <a:rPr lang="en-US" altLang="zh-CN">
                <a:solidFill>
                  <a:schemeClr val="tx1"/>
                </a:solidFill>
                <a:sym typeface="+mn-ea"/>
              </a:rPr>
              <a:t>Stevens &amp; De Smedt (2024) 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的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 </a:t>
            </a:r>
            <a:r>
              <a:rPr lang="en-US" altLang="zh-CN" i="1">
                <a:solidFill>
                  <a:schemeClr val="tx1"/>
                </a:solidFill>
                <a:sym typeface="+mn-ea"/>
              </a:rPr>
              <a:t>Explainability in Process Outcome Prediction: Guidelines to Obtain Interpretable and Faithful Models</a:t>
            </a:r>
            <a:endParaRPr lang="en-US" altLang="zh-CN" i="1">
              <a:solidFill>
                <a:schemeClr val="tx1"/>
              </a:solidFill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0" y="0"/>
            <a:ext cx="299085" cy="97536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1892915" y="5882640"/>
            <a:ext cx="299085" cy="97536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408940" y="257810"/>
            <a:ext cx="91103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zh-CN" sz="240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04.</a:t>
            </a:r>
            <a:r>
              <a:rPr lang="zh-CN" altLang="en-US" sz="240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难点</a:t>
            </a:r>
            <a:r>
              <a:rPr lang="en-US" altLang="zh-CN" sz="240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40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：系统复杂性</a:t>
            </a:r>
            <a:endParaRPr lang="zh-CN" altLang="en-US" sz="2400">
              <a:solidFill>
                <a:schemeClr val="accent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2" name="表格 1"/>
          <p:cNvGraphicFramePr/>
          <p:nvPr>
            <p:custDataLst>
              <p:tags r:id="rId1"/>
            </p:custDataLst>
          </p:nvPr>
        </p:nvGraphicFramePr>
        <p:xfrm>
          <a:off x="914400" y="2281555"/>
          <a:ext cx="10325100" cy="4217670"/>
        </p:xfrm>
        <a:graphic>
          <a:graphicData uri="http://schemas.openxmlformats.org/drawingml/2006/table">
            <a:tbl>
              <a:tblPr firstRow="1">
                <a:tableStyleId>{759FEBA5-3E03-44AB-B62B-991D9CFF69BF}</a:tableStyleId>
              </a:tblPr>
              <a:tblGrid>
                <a:gridCol w="3787775"/>
                <a:gridCol w="6537325"/>
              </a:tblGrid>
              <a:tr h="760095">
                <a:tc>
                  <a:txBody>
                    <a:bodyPr/>
                    <a:p>
                      <a:pPr algn="l">
                        <a:lnSpc>
                          <a:spcPct val="120000"/>
                        </a:lnSpc>
                      </a:pPr>
                      <a:r>
                        <a:rPr lang="zh-CN" altLang="en-US" sz="1800" spc="130"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技术</a:t>
                      </a:r>
                      <a:endParaRPr lang="zh-CN" altLang="en-US" sz="1800" spc="130"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marL="254000" marR="254000" marT="177800" marB="177800" anchor="ctr" anchorCtr="0"/>
                </a:tc>
                <a:tc>
                  <a:txBody>
                    <a:bodyPr/>
                    <a:p>
                      <a:pPr algn="l">
                        <a:lnSpc>
                          <a:spcPct val="120000"/>
                        </a:lnSpc>
                      </a:pPr>
                      <a:r>
                        <a:rPr lang="zh-CN" altLang="en-US" sz="1800" spc="130"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解释</a:t>
                      </a:r>
                      <a:endParaRPr lang="zh-CN" altLang="en-US" sz="1800" spc="130"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marL="254000" marR="254000" marT="177800" marB="177800" anchor="ctr" anchorCtr="0"/>
                </a:tc>
              </a:tr>
              <a:tr h="1369060">
                <a:tc>
                  <a:txBody>
                    <a:bodyPr/>
                    <a:p>
                      <a:pPr algn="l">
                        <a:lnSpc>
                          <a:spcPct val="120000"/>
                        </a:lnSpc>
                      </a:pPr>
                      <a:r>
                        <a:rPr lang="zh-CN" altLang="en-US" sz="1600"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图神经网络（</a:t>
                      </a:r>
                      <a:r>
                        <a:rPr lang="en-US" altLang="zh-CN" sz="1600"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GNN</a:t>
                      </a:r>
                      <a:r>
                        <a:rPr lang="zh-CN" altLang="en-US" sz="1600"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）</a:t>
                      </a:r>
                      <a:r>
                        <a:rPr lang="en-US" altLang="zh-CN" sz="1600"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+</a:t>
                      </a:r>
                      <a:r>
                        <a:rPr lang="zh-CN" altLang="en-US" sz="1600"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注意力机制（</a:t>
                      </a:r>
                      <a:r>
                        <a:rPr lang="en-US" altLang="zh-CN" sz="1600"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Lai 2023</a:t>
                      </a:r>
                      <a:r>
                        <a:rPr lang="zh-CN" altLang="en-US" sz="1600"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）</a:t>
                      </a:r>
                      <a:endParaRPr lang="zh-CN" altLang="en-US" sz="1600"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marL="254000" marR="254000" marT="177800" marB="177800" anchor="ctr" anchorCtr="0"/>
                </a:tc>
                <a:tc>
                  <a:txBody>
                    <a:bodyPr/>
                    <a:p>
                      <a:pPr algn="l">
                        <a:lnSpc>
                          <a:spcPct val="120000"/>
                        </a:lnSpc>
                      </a:pPr>
                      <a:r>
                        <a:rPr lang="zh-CN" altLang="en-US" sz="1600"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将生产线转化为加权无向图，节点为工位、边权为缓冲区容量，通过 </a:t>
                      </a:r>
                      <a:r>
                        <a:rPr lang="en-US" altLang="zh-CN" sz="1600"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Graph Attention Network (GAT) </a:t>
                      </a:r>
                      <a:r>
                        <a:rPr lang="zh-CN" altLang="en-US" sz="1600"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建模工位交互，同时用 </a:t>
                      </a:r>
                      <a:r>
                        <a:rPr lang="en-US" altLang="zh-CN" sz="1600"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GRU </a:t>
                      </a:r>
                      <a:r>
                        <a:rPr lang="zh-CN" altLang="en-US" sz="1600"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捕捉时间演化，实现</a:t>
                      </a:r>
                      <a:r>
                        <a:rPr lang="zh-CN" altLang="en-US" sz="1600" b="1"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空间</a:t>
                      </a:r>
                      <a:r>
                        <a:rPr lang="en-US" altLang="zh-CN" sz="1600" b="1"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-</a:t>
                      </a:r>
                      <a:r>
                        <a:rPr lang="zh-CN" altLang="en-US" sz="1600" b="1"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时间联合建模</a:t>
                      </a:r>
                      <a:r>
                        <a:rPr lang="zh-CN" altLang="en-US" sz="1600"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。</a:t>
                      </a:r>
                      <a:endParaRPr lang="zh-CN" altLang="en-US" sz="1600"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marL="254000" marR="254000" marT="177800" marB="177800" anchor="ctr" anchorCtr="0"/>
                </a:tc>
              </a:tr>
              <a:tr h="1044575">
                <a:tc>
                  <a:txBody>
                    <a:bodyPr/>
                    <a:p>
                      <a:pPr algn="l">
                        <a:lnSpc>
                          <a:spcPct val="120000"/>
                        </a:lnSpc>
                      </a:pPr>
                      <a:r>
                        <a:rPr lang="zh-CN" altLang="en-US" sz="1600"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空间双向 </a:t>
                      </a:r>
                      <a:r>
                        <a:rPr lang="en-US" altLang="zh-CN" sz="1600"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LSTM</a:t>
                      </a:r>
                      <a:r>
                        <a:rPr lang="zh-CN" altLang="en-US" sz="1600"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（</a:t>
                      </a:r>
                      <a:r>
                        <a:rPr lang="en-US" altLang="zh-CN" sz="1600"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TUSB-LSTM</a:t>
                      </a:r>
                      <a:r>
                        <a:rPr lang="zh-CN" altLang="en-US" sz="1600"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）（</a:t>
                      </a:r>
                      <a:r>
                        <a:rPr lang="en-US" altLang="zh-CN" sz="1600"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Ma 2023</a:t>
                      </a:r>
                      <a:r>
                        <a:rPr lang="zh-CN" altLang="en-US" sz="1600"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）</a:t>
                      </a:r>
                      <a:endParaRPr lang="zh-CN" altLang="en-US" sz="1600"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marL="254000" marR="254000" marT="177800" marB="177800" anchor="ctr" anchorCtr="0"/>
                </a:tc>
                <a:tc>
                  <a:txBody>
                    <a:bodyPr/>
                    <a:p>
                      <a:pPr algn="l">
                        <a:lnSpc>
                          <a:spcPct val="120000"/>
                        </a:lnSpc>
                      </a:pPr>
                      <a:r>
                        <a:rPr lang="zh-CN" altLang="en-US" sz="1600"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在时间步内并行提取空间特征（</a:t>
                      </a:r>
                      <a:r>
                        <a:rPr lang="en-US" altLang="zh-CN" sz="1600"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BiLSTM</a:t>
                      </a:r>
                      <a:r>
                        <a:rPr lang="zh-CN" altLang="en-US" sz="1600"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），再与时间特征融合，解决传统堆叠网络时序与空间信息割裂问题。</a:t>
                      </a:r>
                      <a:endParaRPr lang="zh-CN" altLang="en-US" sz="1600"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marL="254000" marR="254000" marT="177800" marB="177800" anchor="ctr" anchorCtr="0"/>
                </a:tc>
              </a:tr>
              <a:tr h="1043940">
                <a:tc>
                  <a:txBody>
                    <a:bodyPr/>
                    <a:p>
                      <a:pPr algn="l">
                        <a:lnSpc>
                          <a:spcPct val="120000"/>
                        </a:lnSpc>
                      </a:pPr>
                      <a:r>
                        <a:rPr lang="zh-CN" altLang="en-US" sz="1600">
                          <a:highlight>
                            <a:srgbClr val="FFFF00"/>
                          </a:highlight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双通道 </a:t>
                      </a:r>
                      <a:r>
                        <a:rPr lang="en-US" altLang="zh-CN" sz="1600">
                          <a:highlight>
                            <a:srgbClr val="FFFF00"/>
                          </a:highlight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STNN</a:t>
                      </a:r>
                      <a:r>
                        <a:rPr lang="zh-CN" altLang="en-US" sz="1600">
                          <a:highlight>
                            <a:srgbClr val="FFFF00"/>
                          </a:highlight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（</a:t>
                      </a:r>
                      <a:r>
                        <a:rPr lang="en-US" altLang="zh-CN" sz="1600">
                          <a:highlight>
                            <a:srgbClr val="FFFF00"/>
                          </a:highlight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DSTNN</a:t>
                      </a:r>
                      <a:r>
                        <a:rPr lang="zh-CN" altLang="en-US" sz="1600">
                          <a:highlight>
                            <a:srgbClr val="FFFF00"/>
                          </a:highlight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）（</a:t>
                      </a:r>
                      <a:r>
                        <a:rPr lang="en-US" altLang="zh-CN" sz="1600">
                          <a:highlight>
                            <a:srgbClr val="FFFF00"/>
                          </a:highlight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Cen 2025</a:t>
                      </a:r>
                      <a:r>
                        <a:rPr lang="zh-CN" altLang="en-US" sz="1600">
                          <a:highlight>
                            <a:srgbClr val="FFFF00"/>
                          </a:highlight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）</a:t>
                      </a:r>
                      <a:endParaRPr lang="zh-CN" altLang="en-US" sz="1600">
                        <a:highlight>
                          <a:srgbClr val="FFFF00"/>
                        </a:highlight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marL="254000" marR="254000" marT="177800" marB="177800" anchor="ctr" anchorCtr="0"/>
                </a:tc>
                <a:tc>
                  <a:txBody>
                    <a:bodyPr/>
                    <a:p>
                      <a:pPr algn="l">
                        <a:lnSpc>
                          <a:spcPct val="120000"/>
                        </a:lnSpc>
                      </a:pPr>
                      <a:r>
                        <a:rPr lang="zh-CN" altLang="en-US" sz="1600"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空间分支 </a:t>
                      </a:r>
                      <a:r>
                        <a:rPr lang="en-US" altLang="zh-CN" sz="1600"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GAT </a:t>
                      </a:r>
                      <a:r>
                        <a:rPr lang="zh-CN" altLang="en-US" sz="1600"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建模拓扑依赖，时间分支 </a:t>
                      </a:r>
                      <a:r>
                        <a:rPr lang="en-US" altLang="zh-CN" sz="1600"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Bi-LSTM </a:t>
                      </a:r>
                      <a:r>
                        <a:rPr lang="zh-CN" altLang="en-US" sz="1600"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建模动态趋势，</a:t>
                      </a:r>
                      <a:r>
                        <a:rPr lang="en-US" altLang="zh-CN" sz="1600"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Cross-Attention </a:t>
                      </a:r>
                      <a:r>
                        <a:rPr lang="zh-CN" altLang="en-US" sz="1600"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动态融合两分支输出，增强特征表示能力。</a:t>
                      </a:r>
                      <a:endParaRPr lang="zh-CN" altLang="en-US" sz="1600"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marL="254000" marR="254000" marT="177800" marB="177800" anchor="ctr" anchorCtr="0"/>
                </a:tc>
              </a:tr>
            </a:tbl>
          </a:graphicData>
        </a:graphic>
      </p:graphicFrame>
      <p:sp>
        <p:nvSpPr>
          <p:cNvPr id="3" name="圆角矩形 2"/>
          <p:cNvSpPr/>
          <p:nvPr/>
        </p:nvSpPr>
        <p:spPr>
          <a:xfrm>
            <a:off x="939165" y="975360"/>
            <a:ext cx="10300335" cy="782320"/>
          </a:xfrm>
          <a:prstGeom prst="roundRect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indent="457200">
              <a:lnSpc>
                <a:spcPct val="150000"/>
              </a:lnSpc>
            </a:pPr>
            <a:r>
              <a:rPr lang="zh-CN">
                <a:solidFill>
                  <a:schemeClr val="tx1"/>
                </a:solidFill>
                <a:sym typeface="+mn-ea"/>
              </a:rPr>
              <a:t>同时考虑并平衡时序依赖、站间交互、工序上下游耦合性等复杂因素</a:t>
            </a:r>
            <a:endParaRPr lang="zh-CN" i="1">
              <a:solidFill>
                <a:schemeClr val="tx1"/>
              </a:solidFill>
              <a:sym typeface="+mn-ea"/>
            </a:endParaRPr>
          </a:p>
        </p:txBody>
      </p:sp>
      <p:sp>
        <p:nvSpPr>
          <p:cNvPr id="9" name="左大括号 8"/>
          <p:cNvSpPr/>
          <p:nvPr/>
        </p:nvSpPr>
        <p:spPr>
          <a:xfrm>
            <a:off x="628650" y="3568700"/>
            <a:ext cx="412115" cy="1485900"/>
          </a:xfrm>
          <a:prstGeom prst="leftBrace">
            <a:avLst/>
          </a:prstGeom>
          <a:ln w="28575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2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0" y="0"/>
            <a:ext cx="299085" cy="97536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1892915" y="5882640"/>
            <a:ext cx="299085" cy="97536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408940" y="257810"/>
            <a:ext cx="91103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zh-CN" sz="240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04.</a:t>
            </a:r>
            <a:r>
              <a:rPr lang="zh-CN" altLang="en-US" sz="240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难点</a:t>
            </a:r>
            <a:r>
              <a:rPr lang="en-US" altLang="zh-CN" sz="240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40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：数据与知识稀疏问题</a:t>
            </a:r>
            <a:endParaRPr lang="zh-CN" altLang="en-US" sz="2400">
              <a:solidFill>
                <a:schemeClr val="accent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圆角矩形 2"/>
          <p:cNvSpPr/>
          <p:nvPr/>
        </p:nvSpPr>
        <p:spPr>
          <a:xfrm>
            <a:off x="939165" y="975360"/>
            <a:ext cx="10300335" cy="782320"/>
          </a:xfrm>
          <a:prstGeom prst="roundRect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indent="457200">
              <a:lnSpc>
                <a:spcPct val="150000"/>
              </a:lnSpc>
            </a:pPr>
            <a:r>
              <a:rPr lang="zh-CN">
                <a:solidFill>
                  <a:schemeClr val="tx1"/>
                </a:solidFill>
                <a:sym typeface="+mn-ea"/>
              </a:rPr>
              <a:t>多模态异质数据难以融合、对齐，缺失数据、领域知识不足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→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如何最大化利用现有数据</a:t>
            </a:r>
            <a:endParaRPr lang="zh-CN" altLang="en-US" i="1">
              <a:solidFill>
                <a:schemeClr val="tx1"/>
              </a:solidFill>
              <a:sym typeface="+mn-ea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32300" y="1957705"/>
            <a:ext cx="7080250" cy="373507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939165" y="2014855"/>
            <a:ext cx="3373120" cy="3677920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 rtlCol="0">
            <a:noAutofit/>
          </a:bodyPr>
          <a:p>
            <a:pPr indent="457200">
              <a:lnSpc>
                <a:spcPct val="150000"/>
              </a:lnSpc>
            </a:pPr>
            <a:r>
              <a:rPr lang="zh-CN" altLang="en-US"/>
              <a:t>知识图谱</a:t>
            </a:r>
            <a:r>
              <a:rPr lang="en-US" altLang="zh-CN"/>
              <a:t> + </a:t>
            </a:r>
            <a:r>
              <a:rPr lang="zh-CN" altLang="en-US"/>
              <a:t>跨模态融合模块</a:t>
            </a:r>
            <a:r>
              <a:rPr lang="en-US" altLang="zh-CN"/>
              <a:t> (KCF-Module) (Wu 2025)</a:t>
            </a:r>
            <a:r>
              <a:rPr lang="zh-CN" altLang="en-US"/>
              <a:t>：构建可持续生产知识图谱</a:t>
            </a:r>
            <a:r>
              <a:rPr lang="en-US" altLang="zh-CN"/>
              <a:t> (PKG) </a:t>
            </a:r>
            <a:r>
              <a:rPr lang="zh-CN" altLang="en-US"/>
              <a:t>表示工位状态与外部因素的关系，融合外部知识与时空特征，提升预测精度与空间可解释性</a:t>
            </a:r>
            <a:endParaRPr lang="zh-CN" altLang="en-US"/>
          </a:p>
        </p:txBody>
      </p:sp>
    </p:spTree>
    <p:custDataLst>
      <p:tags r:id="rId2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0" y="0"/>
            <a:ext cx="299085" cy="97536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1892915" y="5882640"/>
            <a:ext cx="299085" cy="97536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408940" y="257810"/>
            <a:ext cx="91103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zh-CN" sz="240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04.</a:t>
            </a:r>
            <a:r>
              <a:rPr lang="zh-CN" altLang="en-US" sz="240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难点</a:t>
            </a:r>
            <a:r>
              <a:rPr lang="en-US" altLang="zh-CN" sz="240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240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：可解释性</a:t>
            </a:r>
            <a:endParaRPr lang="zh-CN" altLang="en-US" sz="2400">
              <a:solidFill>
                <a:schemeClr val="accent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2" name="表格 1"/>
          <p:cNvGraphicFramePr/>
          <p:nvPr>
            <p:custDataLst>
              <p:tags r:id="rId1"/>
            </p:custDataLst>
          </p:nvPr>
        </p:nvGraphicFramePr>
        <p:xfrm>
          <a:off x="299085" y="975360"/>
          <a:ext cx="5568950" cy="5652770"/>
        </p:xfrm>
        <a:graphic>
          <a:graphicData uri="http://schemas.openxmlformats.org/drawingml/2006/table">
            <a:tbl>
              <a:tblPr firstRow="1">
                <a:tableStyleId>{B40429B2-CAA9-4A98-86B0-2C2749250F02}</a:tableStyleId>
              </a:tblPr>
              <a:tblGrid>
                <a:gridCol w="2056130"/>
                <a:gridCol w="3512820"/>
              </a:tblGrid>
              <a:tr h="647700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zh-CN" altLang="en-US" sz="1600" spc="120"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难点</a:t>
                      </a:r>
                      <a:endParaRPr lang="zh-CN" altLang="en-US" sz="1600" spc="120"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marL="254000" marR="254000" marT="177800" marB="177800" anchor="ctr" anchorCtr="0"/>
                </a:tc>
                <a:tc>
                  <a:txBody>
                    <a:bodyPr/>
                    <a:p>
                      <a:pPr algn="l">
                        <a:lnSpc>
                          <a:spcPct val="120000"/>
                        </a:lnSpc>
                      </a:pPr>
                      <a:r>
                        <a:rPr lang="zh-CN" altLang="en-US" sz="1600" spc="120"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解释</a:t>
                      </a:r>
                      <a:endParaRPr lang="zh-CN" altLang="en-US" sz="1600" spc="120"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marL="254000" marR="254000" marT="177800" marB="177800" anchor="ctr" anchorCtr="0"/>
                </a:tc>
              </a:tr>
              <a:tr h="867410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zh-CN" altLang="en-US" sz="1400"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黑箱模型</a:t>
                      </a:r>
                      <a:endParaRPr lang="zh-CN" altLang="en-US" sz="1400"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marL="254000" marR="254000" marT="177800" marB="177800" anchor="ctr" anchorCtr="0"/>
                </a:tc>
                <a:tc>
                  <a:txBody>
                    <a:bodyPr/>
                    <a:p>
                      <a:pPr algn="l">
                        <a:lnSpc>
                          <a:spcPct val="120000"/>
                        </a:lnSpc>
                      </a:pPr>
                      <a:r>
                        <a:rPr lang="zh-CN" altLang="en-US" sz="1400"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深度学习模型缺乏可解释结构。传统 </a:t>
                      </a:r>
                      <a:r>
                        <a:rPr lang="en-US" altLang="zh-CN" sz="1400"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LSTM/Transformer </a:t>
                      </a:r>
                      <a:r>
                        <a:rPr lang="zh-CN" altLang="en-US" sz="1400"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仅输出结果概率，无法说明哪些事件或特征导致预测结果。</a:t>
                      </a:r>
                      <a:endParaRPr lang="zh-CN" altLang="en-US" sz="1400"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marL="254000" marR="254000" marT="177800" marB="177800" anchor="ctr" anchorCtr="0"/>
                </a:tc>
              </a:tr>
              <a:tr h="867410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zh-CN" altLang="en-US" sz="1400"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解释方法不一致</a:t>
                      </a:r>
                      <a:endParaRPr lang="zh-CN" altLang="en-US" sz="1400"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marL="254000" marR="254000" marT="177800" marB="177800" anchor="ctr" anchorCtr="0"/>
                </a:tc>
                <a:tc>
                  <a:txBody>
                    <a:bodyPr/>
                    <a:p>
                      <a:pPr algn="l">
                        <a:lnSpc>
                          <a:spcPct val="120000"/>
                        </a:lnSpc>
                      </a:pPr>
                      <a:r>
                        <a:rPr lang="zh-CN" altLang="en-US" sz="1400"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现有 </a:t>
                      </a:r>
                      <a:r>
                        <a:rPr lang="en-US" altLang="zh-CN" sz="1400"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XAI </a:t>
                      </a:r>
                      <a:r>
                        <a:rPr lang="zh-CN" altLang="en-US" sz="1400"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方法（</a:t>
                      </a:r>
                      <a:r>
                        <a:rPr lang="en-US" altLang="zh-CN" sz="1400"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SHAP</a:t>
                      </a:r>
                      <a:r>
                        <a:rPr lang="zh-CN" altLang="en-US" sz="1400"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、</a:t>
                      </a:r>
                      <a:r>
                        <a:rPr lang="en-US" altLang="zh-CN" sz="1400"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LIME</a:t>
                      </a:r>
                      <a:r>
                        <a:rPr lang="zh-CN" altLang="en-US" sz="1400"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、</a:t>
                      </a:r>
                      <a:r>
                        <a:rPr lang="en-US" altLang="zh-CN" sz="1400"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Integrated Gradients</a:t>
                      </a:r>
                      <a:r>
                        <a:rPr lang="zh-CN" altLang="en-US" sz="1400"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、</a:t>
                      </a:r>
                      <a:r>
                        <a:rPr lang="en-US" altLang="zh-CN" sz="1400"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Attention Map </a:t>
                      </a:r>
                      <a:r>
                        <a:rPr lang="zh-CN" altLang="en-US" sz="1400"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等）产生的解释结果不一致，甚至互相矛盾。</a:t>
                      </a:r>
                      <a:endParaRPr lang="zh-CN" altLang="en-US" sz="1400"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marL="254000" marR="254000" marT="177800" marB="177800" anchor="ctr" anchorCtr="0"/>
                </a:tc>
              </a:tr>
              <a:tr h="867410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zh-CN" altLang="en-US" sz="1400"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缺乏定量指标</a:t>
                      </a:r>
                      <a:endParaRPr lang="zh-CN" altLang="en-US" sz="1400"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marL="254000" marR="254000" marT="177800" marB="177800" anchor="ctr" anchorCtr="0"/>
                </a:tc>
                <a:tc>
                  <a:txBody>
                    <a:bodyPr/>
                    <a:p>
                      <a:pPr algn="l">
                        <a:lnSpc>
                          <a:spcPct val="120000"/>
                        </a:lnSpc>
                      </a:pPr>
                      <a:r>
                        <a:rPr lang="zh-CN" altLang="en-US" sz="1400"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可解释性常以“主观好坏”或可视化展示为主，没有可比较的客观指标体系来评估不同模型解释的优劣。</a:t>
                      </a:r>
                      <a:endParaRPr lang="zh-CN" altLang="en-US" sz="1400"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marL="254000" marR="254000" marT="177800" marB="177800" anchor="ctr" anchorCtr="0"/>
                </a:tc>
              </a:tr>
              <a:tr h="867410">
                <a:tc>
                  <a:txBody>
                    <a:bodyPr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zh-CN" altLang="en-US" sz="1400"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性能</a:t>
                      </a:r>
                      <a:r>
                        <a:rPr lang="en-US" altLang="zh-CN" sz="1400"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-</a:t>
                      </a:r>
                      <a:r>
                        <a:rPr lang="zh-CN" altLang="en-US" sz="1400"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解释性权衡 </a:t>
                      </a:r>
                      <a:r>
                        <a:rPr lang="en-US" altLang="zh-CN" sz="1400"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(Performance–Interpretability Trade-off)</a:t>
                      </a:r>
                      <a:endParaRPr lang="en-US" altLang="zh-CN" sz="1400"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marL="254000" marR="254000" marT="177800" marB="177800" anchor="ctr" anchorCtr="0"/>
                </a:tc>
                <a:tc>
                  <a:txBody>
                    <a:bodyPr/>
                    <a:p>
                      <a:pPr algn="l">
                        <a:lnSpc>
                          <a:spcPct val="120000"/>
                        </a:lnSpc>
                      </a:pPr>
                      <a:r>
                        <a:rPr lang="zh-CN" altLang="en-US" sz="1400"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高性能模型往往最难解释；而可解释模型（如决策树）预测精度偏低，缺乏兼顾两者的系统优化流程。</a:t>
                      </a:r>
                      <a:endParaRPr lang="zh-CN" altLang="en-US" sz="1400"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marL="254000" marR="254000" marT="177800" marB="177800" anchor="ctr" anchorCtr="0"/>
                </a:tc>
              </a:tr>
            </a:tbl>
          </a:graphicData>
        </a:graphic>
      </p:graphicFrame>
      <p:sp>
        <p:nvSpPr>
          <p:cNvPr id="13" name="文本框 12"/>
          <p:cNvSpPr txBox="1"/>
          <p:nvPr/>
        </p:nvSpPr>
        <p:spPr>
          <a:xfrm>
            <a:off x="6184265" y="975360"/>
            <a:ext cx="5551170" cy="5652135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 rtlCol="0">
            <a:noAutofit/>
          </a:bodyPr>
          <a:p>
            <a:pPr indent="457200">
              <a:lnSpc>
                <a:spcPct val="160000"/>
              </a:lnSpc>
            </a:pPr>
            <a:r>
              <a:rPr lang="en-US" altLang="zh-CN"/>
              <a:t>Sivakumar (2023)</a:t>
            </a:r>
            <a:r>
              <a:rPr lang="zh-CN" altLang="en-US"/>
              <a:t>《</a:t>
            </a:r>
            <a:r>
              <a:rPr lang="en-US" altLang="zh-CN" i="1"/>
              <a:t>Performance Bottleneck Detection and Root Cause Analysis Using Explainable AI</a:t>
            </a:r>
            <a:r>
              <a:rPr lang="zh-CN" altLang="en-US"/>
              <a:t>》：</a:t>
            </a:r>
            <a:endParaRPr lang="zh-CN" altLang="en-US"/>
          </a:p>
          <a:p>
            <a:pPr indent="457200">
              <a:lnSpc>
                <a:spcPct val="160000"/>
              </a:lnSpc>
            </a:pPr>
            <a:r>
              <a:rPr lang="zh-CN" altLang="en-US"/>
              <a:t>引入可解释</a:t>
            </a:r>
            <a:r>
              <a:rPr lang="en-US" altLang="zh-CN"/>
              <a:t>AI (XAI) </a:t>
            </a:r>
            <a:r>
              <a:rPr lang="zh-CN" altLang="en-US"/>
              <a:t>层，两种模型解释方法：</a:t>
            </a:r>
            <a:endParaRPr lang="zh-CN" altLang="en-US"/>
          </a:p>
          <a:p>
            <a:pPr marL="285750" indent="-28575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altLang="zh-CN"/>
              <a:t>SHAP (SHapley Additive exPlanations)</a:t>
            </a:r>
            <a:r>
              <a:rPr lang="zh-CN" altLang="en-US"/>
              <a:t>：基于博弈论，为每个特征计算其对</a:t>
            </a:r>
            <a:r>
              <a:rPr lang="zh-CN" altLang="en-US" b="1"/>
              <a:t>整个模型</a:t>
            </a:r>
            <a:r>
              <a:rPr lang="zh-CN" altLang="en-US"/>
              <a:t>输出的边际贡献</a:t>
            </a:r>
            <a:endParaRPr lang="zh-CN" altLang="en-US"/>
          </a:p>
          <a:p>
            <a:pPr marL="285750" indent="-28575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altLang="zh-CN"/>
              <a:t>LIME (Local Interpretable Model-agnostic Explanations)</a:t>
            </a:r>
            <a:r>
              <a:rPr lang="zh-CN" altLang="en-US"/>
              <a:t>：通过对样本附近的扰动生成线性模型近似局部决策边界，在</a:t>
            </a:r>
            <a:r>
              <a:rPr lang="zh-CN" altLang="en-US" b="1"/>
              <a:t>局部范围内</a:t>
            </a:r>
            <a:r>
              <a:rPr lang="zh-CN" altLang="en-US"/>
              <a:t>解释</a:t>
            </a:r>
            <a:r>
              <a:rPr lang="en-US" altLang="zh-CN"/>
              <a:t>“</a:t>
            </a:r>
            <a:r>
              <a:rPr lang="zh-CN" altLang="en-US"/>
              <a:t>为什么该时刻被判断为瓶颈</a:t>
            </a:r>
            <a:r>
              <a:rPr lang="en-US" altLang="zh-CN"/>
              <a:t>”</a:t>
            </a:r>
            <a:endParaRPr lang="en-US" altLang="zh-CN"/>
          </a:p>
          <a:p>
            <a:pPr indent="457200">
              <a:lnSpc>
                <a:spcPct val="160000"/>
              </a:lnSpc>
              <a:buFont typeface="Arial" panose="020B0604020202020204" pitchFamily="34" charset="0"/>
              <a:buNone/>
            </a:pPr>
            <a:endParaRPr lang="zh-CN" altLang="en-US"/>
          </a:p>
        </p:txBody>
      </p:sp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4.xml><?xml version="1.0" encoding="utf-8"?>
<p:tagLst xmlns:p="http://schemas.openxmlformats.org/presentationml/2006/main">
  <p:tag name="KSO_WM_DIAGRAM_VIRTUALLY_FRAME" val="{&quot;height&quot;:171.2,&quot;left&quot;:73.45,&quot;top&quot;:27.5,&quot;width&quot;:244.45}"/>
</p:tagLst>
</file>

<file path=ppt/tags/tag65.xml><?xml version="1.0" encoding="utf-8"?>
<p:tagLst xmlns:p="http://schemas.openxmlformats.org/presentationml/2006/main">
  <p:tag name="KSO_WM_DIAGRAM_VIRTUALLY_FRAME" val="{&quot;height&quot;:171.2,&quot;left&quot;:73.45,&quot;top&quot;:27.5,&quot;width&quot;:244.45}"/>
</p:tagLst>
</file>

<file path=ppt/tags/tag66.xml><?xml version="1.0" encoding="utf-8"?>
<p:tagLst xmlns:p="http://schemas.openxmlformats.org/presentationml/2006/main">
  <p:tag name="KSO_WM_DIAGRAM_VIRTUALLY_FRAME" val="{&quot;height&quot;:171.2,&quot;left&quot;:73.45,&quot;top&quot;:27.5,&quot;width&quot;:244.45}"/>
</p:tagLst>
</file>

<file path=ppt/tags/tag67.xml><?xml version="1.0" encoding="utf-8"?>
<p:tagLst xmlns:p="http://schemas.openxmlformats.org/presentationml/2006/main">
  <p:tag name="KSO_WM_DIAGRAM_VIRTUALLY_FRAME" val="{&quot;height&quot;:171.2,&quot;left&quot;:73.45,&quot;top&quot;:27.5,&quot;width&quot;:244.45}"/>
</p:tagLst>
</file>

<file path=ppt/tags/tag68.xml><?xml version="1.0" encoding="utf-8"?>
<p:tagLst xmlns:p="http://schemas.openxmlformats.org/presentationml/2006/main">
  <p:tag name="KSO_WM_DIAGRAM_VIRTUALLY_FRAME" val="{&quot;height&quot;:171.2,&quot;left&quot;:73.45,&quot;top&quot;:27.5,&quot;width&quot;:244.45}"/>
</p:tagLst>
</file>

<file path=ppt/tags/tag69.xml><?xml version="1.0" encoding="utf-8"?>
<p:tagLst xmlns:p="http://schemas.openxmlformats.org/presentationml/2006/main">
  <p:tag name="KSO_WM_DIAGRAM_VIRTUALLY_FRAME" val="{&quot;height&quot;:171.2,&quot;left&quot;:73.45,&quot;top&quot;:27.5,&quot;width&quot;:244.45}"/>
</p:tagLst>
</file>

<file path=ppt/tags/tag70.xml><?xml version="1.0" encoding="utf-8"?>
<p:tagLst xmlns:p="http://schemas.openxmlformats.org/presentationml/2006/main">
  <p:tag name="KSO_WM_DIAGRAM_VIRTUALLY_FRAME" val="{&quot;height&quot;:171.2,&quot;left&quot;:73.45,&quot;top&quot;:27.5,&quot;width&quot;:244.45}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8.xml><?xml version="1.0" encoding="utf-8"?>
<p:tagLst xmlns:p="http://schemas.openxmlformats.org/presentationml/2006/main">
  <p:tag name="TABLE_ENDDRAG_ORIGIN_RECT" val="726*283"/>
  <p:tag name="TABLE_ENDDRAG_RECT" val="82*215*726*283"/>
</p:tagLst>
</file>

<file path=ppt/tags/tag7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resource_record_key" val="{&quot;29&quot;:[50053246],&quot;65&quot;:[20205081]}"/>
</p:tagLst>
</file>

<file path=ppt/tags/tag8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resource_record_key" val="{&quot;29&quot;:[50053246],&quot;65&quot;:[20205081]}"/>
</p:tagLst>
</file>

<file path=ppt/tags/tag8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2.xml><?xml version="1.0" encoding="utf-8"?>
<p:tagLst xmlns:p="http://schemas.openxmlformats.org/presentationml/2006/main">
  <p:tag name="TABLE_ENDDRAG_ORIGIN_RECT" val="840*332"/>
  <p:tag name="TABLE_ENDDRAG_RECT" val="44*179*840*332"/>
</p:tagLst>
</file>

<file path=ppt/tags/tag8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resource_record_key" val="{&quot;29&quot;:[50053008,50053246],&quot;65&quot;:[20205081]}"/>
</p:tagLst>
</file>

<file path=ppt/tags/tag8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resource_record_key" val="{&quot;29&quot;:[50053008,50053246],&quot;65&quot;:[20205081]}"/>
</p:tagLst>
</file>

<file path=ppt/tags/tag85.xml><?xml version="1.0" encoding="utf-8"?>
<p:tagLst xmlns:p="http://schemas.openxmlformats.org/presentationml/2006/main">
  <p:tag name="TABLE_ENDDRAG_ORIGIN_RECT" val="728*324"/>
  <p:tag name="TABLE_ENDDRAG_RECT" val="158*165*728*324"/>
</p:tagLst>
</file>

<file path=ppt/tags/tag8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resource_record_key" val="{&quot;29&quot;:[50053008,50053246],&quot;65&quot;:[20205081]}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5200</Words>
  <Application>WPS 演示</Application>
  <PresentationFormat>宽屏</PresentationFormat>
  <Paragraphs>401</Paragraphs>
  <Slides>15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3" baseType="lpstr">
      <vt:lpstr>Arial</vt:lpstr>
      <vt:lpstr>宋体</vt:lpstr>
      <vt:lpstr>Wingdings</vt:lpstr>
      <vt:lpstr>微软雅黑</vt:lpstr>
      <vt:lpstr>Times New Roman</vt:lpstr>
      <vt:lpstr>Arial Unicode MS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田宇潇</cp:lastModifiedBy>
  <cp:revision>294</cp:revision>
  <dcterms:created xsi:type="dcterms:W3CDTF">1900-01-01T00:00:00Z</dcterms:created>
  <dcterms:modified xsi:type="dcterms:W3CDTF">2026-05-21T09:19:53Z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KSOTemplateUUID">
    <vt:lpwstr>v1.0_mb_oaqRPzRuAOvHhw7le7LihQ==</vt:lpwstr>
  </property>
  <property fmtid="{D5CDD505-2E9C-101B-9397-08002B2CF9AE}" pid="4" name="ICV">
    <vt:lpwstr>5F8F8BFD8E8A44C0A87415AFB300A7AF_13</vt:lpwstr>
  </property>
</Properties>
</file>